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10.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780c2902d414bcd" /><Relationship Type="http://schemas.openxmlformats.org/officeDocument/2006/relationships/extended-properties" Target="/docProps/app.xml" Id="R4e69aa499f034204" /><Relationship Type="http://schemas.openxmlformats.org/officeDocument/2006/relationships/officeDocument" Target="/ppt/presentation.xml" Id="R1cd460c0ee6c41df" /></Relationships>
</file>

<file path=ppt/presentation.xml><?xml version="1.0" encoding="utf-8"?>
<p:presentation xmlns:p="http://schemas.openxmlformats.org/presentationml/2006/main">
  <p:sldMasterIdLst>
    <p:sldMasterId xmlns:r="http://schemas.openxmlformats.org/officeDocument/2006/relationships" id="2147483648" r:id="R815deb886ad34c22"/>
  </p:sldMasterIdLst>
  <p:notesMasterIdLst>
    <p:notesMasterId xmlns:r="http://schemas.openxmlformats.org/officeDocument/2006/relationships" r:id="R082c46a08e05402e"/>
  </p:notesMasterIdLst>
  <p:sldIdLst>
    <p:sldId xmlns:r="http://schemas.openxmlformats.org/officeDocument/2006/relationships" id="256" r:id="Re6d4ea4b60f44ebf"/>
    <p:sldId xmlns:r="http://schemas.openxmlformats.org/officeDocument/2006/relationships" id="257" r:id="R29b63c59846349cc"/>
    <p:sldId xmlns:r="http://schemas.openxmlformats.org/officeDocument/2006/relationships" id="258" r:id="Rfe83cc96f1794701"/>
    <p:sldId xmlns:r="http://schemas.openxmlformats.org/officeDocument/2006/relationships" id="259" r:id="Rbb2ee04041bd407e"/>
    <p:sldId xmlns:r="http://schemas.openxmlformats.org/officeDocument/2006/relationships" id="260" r:id="R8381adf049e84011"/>
    <p:sldId xmlns:r="http://schemas.openxmlformats.org/officeDocument/2006/relationships" id="261" r:id="Rcce43479611e4b88"/>
    <p:sldId xmlns:r="http://schemas.openxmlformats.org/officeDocument/2006/relationships" id="262" r:id="R79c39c4cfa094226"/>
    <p:sldId xmlns:r="http://schemas.openxmlformats.org/officeDocument/2006/relationships" id="263" r:id="R4ea28094a2fa4681"/>
    <p:sldId xmlns:r="http://schemas.openxmlformats.org/officeDocument/2006/relationships" id="264" r:id="R4801a439a1b14e94"/>
    <p:sldId xmlns:r="http://schemas.openxmlformats.org/officeDocument/2006/relationships" id="265" r:id="Reb7d197752b94c11"/>
    <p:sldId xmlns:r="http://schemas.openxmlformats.org/officeDocument/2006/relationships" id="266" r:id="R655a1afce8d74223"/>
    <p:sldId xmlns:r="http://schemas.openxmlformats.org/officeDocument/2006/relationships" id="267" r:id="R3d34b22204f14eb6"/>
    <p:sldId xmlns:r="http://schemas.openxmlformats.org/officeDocument/2006/relationships" id="268" r:id="R6c9ddb8d2dd248f5"/>
    <p:sldId xmlns:r="http://schemas.openxmlformats.org/officeDocument/2006/relationships" id="269" r:id="R2efa590a9b2d4e2e"/>
    <p:sldId xmlns:r="http://schemas.openxmlformats.org/officeDocument/2006/relationships" id="270" r:id="R40be487ceb3341d6"/>
    <p:sldId xmlns:r="http://schemas.openxmlformats.org/officeDocument/2006/relationships" id="271" r:id="Re0a77b37b8aa404b"/>
    <p:sldId xmlns:r="http://schemas.openxmlformats.org/officeDocument/2006/relationships" id="272" r:id="Rbec37046d0d24811"/>
    <p:sldId xmlns:r="http://schemas.openxmlformats.org/officeDocument/2006/relationships" id="273" r:id="Rcc6a25f33e6b4dab"/>
    <p:sldId xmlns:r="http://schemas.openxmlformats.org/officeDocument/2006/relationships" id="274" r:id="R31dfcff294504c19"/>
    <p:sldId xmlns:r="http://schemas.openxmlformats.org/officeDocument/2006/relationships" id="275" r:id="R1401572b27f84c66"/>
    <p:sldId xmlns:r="http://schemas.openxmlformats.org/officeDocument/2006/relationships" id="276" r:id="Ra0a7e7b8fee3457b"/>
    <p:sldId xmlns:r="http://schemas.openxmlformats.org/officeDocument/2006/relationships" id="277" r:id="R3e6b8f2a214e4087"/>
    <p:sldId xmlns:r="http://schemas.openxmlformats.org/officeDocument/2006/relationships" id="278" r:id="R7828946b5ab642ff"/>
    <p:sldId xmlns:r="http://schemas.openxmlformats.org/officeDocument/2006/relationships" id="279" r:id="R860bfd4c445b40f6"/>
    <p:sldId xmlns:r="http://schemas.openxmlformats.org/officeDocument/2006/relationships" id="280" r:id="R02f65a218ec14267"/>
    <p:sldId xmlns:r="http://schemas.openxmlformats.org/officeDocument/2006/relationships" id="281" r:id="R7b4d87ba22af4b37"/>
    <p:sldId xmlns:r="http://schemas.openxmlformats.org/officeDocument/2006/relationships" id="282" r:id="Re7c967f0ed8746dd"/>
    <p:sldId xmlns:r="http://schemas.openxmlformats.org/officeDocument/2006/relationships" id="283" r:id="Rc3729593a0f74091"/>
    <p:sldId xmlns:r="http://schemas.openxmlformats.org/officeDocument/2006/relationships" id="284" r:id="R7e45a4da16c34075"/>
    <p:sldId xmlns:r="http://schemas.openxmlformats.org/officeDocument/2006/relationships" id="285" r:id="Reeb2e3f0de254ac0"/>
    <p:sldId xmlns:r="http://schemas.openxmlformats.org/officeDocument/2006/relationships" id="286" r:id="Re595fa2b42c34800"/>
    <p:sldId xmlns:r="http://schemas.openxmlformats.org/officeDocument/2006/relationships" id="287" r:id="R3660f355f54c4ef0"/>
    <p:sldId xmlns:r="http://schemas.openxmlformats.org/officeDocument/2006/relationships" id="288" r:id="Rd2826b8886154a6d"/>
    <p:sldId xmlns:r="http://schemas.openxmlformats.org/officeDocument/2006/relationships" id="289" r:id="R09607f498daf4590"/>
    <p:sldId xmlns:r="http://schemas.openxmlformats.org/officeDocument/2006/relationships" id="290" r:id="R1d4bba0a26b842da"/>
    <p:sldId xmlns:r="http://schemas.openxmlformats.org/officeDocument/2006/relationships" id="291" r:id="R41bb0978b8524e44"/>
  </p:sldIdLst>
  <p:sldSz cx="1219167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a32e2bc9944a99" /><Relationship Type="http://schemas.openxmlformats.org/officeDocument/2006/relationships/slideMaster" Target="/ppt/slideMasters/slideMaster1.xml" Id="R815deb886ad34c22" /><Relationship Type="http://schemas.openxmlformats.org/officeDocument/2006/relationships/notesMaster" Target="/ppt/notesMasters/notesMaster1.xml" Id="R082c46a08e05402e" /><Relationship Type="http://schemas.openxmlformats.org/officeDocument/2006/relationships/presProps" Target="/ppt/presProps.xml" Id="Rc5b047f33dc546e4" /><Relationship Type="http://schemas.openxmlformats.org/officeDocument/2006/relationships/tableStyles" Target="/ppt/tableStyles.xml" Id="Rafe2f4e5d15f4089" /><Relationship Type="http://schemas.openxmlformats.org/officeDocument/2006/relationships/slide" Target="/ppt/slides/slide1.xml" Id="Re6d4ea4b60f44ebf" /><Relationship Type="http://schemas.openxmlformats.org/officeDocument/2006/relationships/slide" Target="/ppt/slides/slide2.xml" Id="R29b63c59846349cc" /><Relationship Type="http://schemas.openxmlformats.org/officeDocument/2006/relationships/slide" Target="/ppt/slides/slide3.xml" Id="Rfe83cc96f1794701" /><Relationship Type="http://schemas.openxmlformats.org/officeDocument/2006/relationships/slide" Target="/ppt/slides/slide4.xml" Id="Rbb2ee04041bd407e" /><Relationship Type="http://schemas.openxmlformats.org/officeDocument/2006/relationships/slide" Target="/ppt/slides/slide5.xml" Id="R8381adf049e84011" /><Relationship Type="http://schemas.openxmlformats.org/officeDocument/2006/relationships/slide" Target="/ppt/slides/slide6.xml" Id="Rcce43479611e4b88" /><Relationship Type="http://schemas.openxmlformats.org/officeDocument/2006/relationships/slide" Target="/ppt/slides/slide7.xml" Id="R79c39c4cfa094226" /><Relationship Type="http://schemas.openxmlformats.org/officeDocument/2006/relationships/slide" Target="/ppt/slides/slide8.xml" Id="R4ea28094a2fa4681" /><Relationship Type="http://schemas.openxmlformats.org/officeDocument/2006/relationships/slide" Target="/ppt/slides/slide9.xml" Id="R4801a439a1b14e94" /><Relationship Type="http://schemas.openxmlformats.org/officeDocument/2006/relationships/slide" Target="/ppt/slides/slide10.xml" Id="Reb7d197752b94c11" /><Relationship Type="http://schemas.openxmlformats.org/officeDocument/2006/relationships/slide" Target="/ppt/slides/slide11.xml" Id="R655a1afce8d74223" /><Relationship Type="http://schemas.openxmlformats.org/officeDocument/2006/relationships/slide" Target="/ppt/slides/slide12.xml" Id="R3d34b22204f14eb6" /><Relationship Type="http://schemas.openxmlformats.org/officeDocument/2006/relationships/slide" Target="/ppt/slides/slide13.xml" Id="R6c9ddb8d2dd248f5" /><Relationship Type="http://schemas.openxmlformats.org/officeDocument/2006/relationships/slide" Target="/ppt/slides/slide14.xml" Id="R2efa590a9b2d4e2e" /><Relationship Type="http://schemas.openxmlformats.org/officeDocument/2006/relationships/slide" Target="/ppt/slides/slide15.xml" Id="R40be487ceb3341d6" /><Relationship Type="http://schemas.openxmlformats.org/officeDocument/2006/relationships/slide" Target="/ppt/slides/slide16.xml" Id="Re0a77b37b8aa404b" /><Relationship Type="http://schemas.openxmlformats.org/officeDocument/2006/relationships/slide" Target="/ppt/slides/slide17.xml" Id="Rbec37046d0d24811" /><Relationship Type="http://schemas.openxmlformats.org/officeDocument/2006/relationships/slide" Target="/ppt/slides/slide18.xml" Id="Rcc6a25f33e6b4dab" /><Relationship Type="http://schemas.openxmlformats.org/officeDocument/2006/relationships/slide" Target="/ppt/slides/slide19.xml" Id="R31dfcff294504c19" /><Relationship Type="http://schemas.openxmlformats.org/officeDocument/2006/relationships/slide" Target="/ppt/slides/slide20.xml" Id="R1401572b27f84c66" /><Relationship Type="http://schemas.openxmlformats.org/officeDocument/2006/relationships/slide" Target="/ppt/slides/slide21.xml" Id="Ra0a7e7b8fee3457b" /><Relationship Type="http://schemas.openxmlformats.org/officeDocument/2006/relationships/slide" Target="/ppt/slides/slide22.xml" Id="R3e6b8f2a214e4087" /><Relationship Type="http://schemas.openxmlformats.org/officeDocument/2006/relationships/slide" Target="/ppt/slides/slide23.xml" Id="R7828946b5ab642ff" /><Relationship Type="http://schemas.openxmlformats.org/officeDocument/2006/relationships/slide" Target="/ppt/slides/slide24.xml" Id="R860bfd4c445b40f6" /><Relationship Type="http://schemas.openxmlformats.org/officeDocument/2006/relationships/slide" Target="/ppt/slides/slide25.xml" Id="R02f65a218ec14267" /><Relationship Type="http://schemas.openxmlformats.org/officeDocument/2006/relationships/slide" Target="/ppt/slides/slide26.xml" Id="R7b4d87ba22af4b37" /><Relationship Type="http://schemas.openxmlformats.org/officeDocument/2006/relationships/slide" Target="/ppt/slides/slide27.xml" Id="Re7c967f0ed8746dd" /><Relationship Type="http://schemas.openxmlformats.org/officeDocument/2006/relationships/slide" Target="/ppt/slides/slide28.xml" Id="Rc3729593a0f74091" /><Relationship Type="http://schemas.openxmlformats.org/officeDocument/2006/relationships/slide" Target="/ppt/slides/slide29.xml" Id="R7e45a4da16c34075" /><Relationship Type="http://schemas.openxmlformats.org/officeDocument/2006/relationships/slide" Target="/ppt/slides/slide30.xml" Id="Reeb2e3f0de254ac0" /><Relationship Type="http://schemas.openxmlformats.org/officeDocument/2006/relationships/slide" Target="/ppt/slides/slide31.xml" Id="Re595fa2b42c34800" /><Relationship Type="http://schemas.openxmlformats.org/officeDocument/2006/relationships/slide" Target="/ppt/slides/slide32.xml" Id="R3660f355f54c4ef0" /><Relationship Type="http://schemas.openxmlformats.org/officeDocument/2006/relationships/slide" Target="/ppt/slides/slide33.xml" Id="Rd2826b8886154a6d" /><Relationship Type="http://schemas.openxmlformats.org/officeDocument/2006/relationships/slide" Target="/ppt/slides/slide34.xml" Id="R09607f498daf4590" /><Relationship Type="http://schemas.openxmlformats.org/officeDocument/2006/relationships/slide" Target="/ppt/slides/slide35.xml" Id="R1d4bba0a26b842da" /><Relationship Type="http://schemas.openxmlformats.org/officeDocument/2006/relationships/slide" Target="/ppt/slides/slide36.xml" Id="R41bb0978b8524e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4e6530b7034a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b329fda00f4645" /><Relationship Type="http://schemas.openxmlformats.org/officeDocument/2006/relationships/notesMaster" Target="/ppt/notesMasters/notesMaster1.xml" Id="R69ff64387bc847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d9177b1a83466e" /><Relationship Type="http://schemas.openxmlformats.org/officeDocument/2006/relationships/notesMaster" Target="/ppt/notesMasters/notesMaster1.xml" Id="Rb0c0a339199e4a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69a073be6f4560" /><Relationship Type="http://schemas.openxmlformats.org/officeDocument/2006/relationships/notesMaster" Target="/ppt/notesMasters/notesMaster1.xml" Id="Rf8a03847064048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205774f815454e" /><Relationship Type="http://schemas.openxmlformats.org/officeDocument/2006/relationships/notesMaster" Target="/ppt/notesMasters/notesMaster1.xml" Id="Rfe214fd48a964b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7ba23e3bf840d1" /><Relationship Type="http://schemas.openxmlformats.org/officeDocument/2006/relationships/notesMaster" Target="/ppt/notesMasters/notesMaster1.xml" Id="R91bbc2789deb44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b2092162144f80" /><Relationship Type="http://schemas.openxmlformats.org/officeDocument/2006/relationships/notesMaster" Target="/ppt/notesMasters/notesMaster1.xml" Id="R73b8a6a12b6f40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c3b81386ff4c8c" /><Relationship Type="http://schemas.openxmlformats.org/officeDocument/2006/relationships/notesMaster" Target="/ppt/notesMasters/notesMaster1.xml" Id="R55270d3027e64a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cb3b3a16464fe0" /><Relationship Type="http://schemas.openxmlformats.org/officeDocument/2006/relationships/notesMaster" Target="/ppt/notesMasters/notesMaster1.xml" Id="R2f97510ca6804a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322081ca094f42" /><Relationship Type="http://schemas.openxmlformats.org/officeDocument/2006/relationships/notesMaster" Target="/ppt/notesMasters/notesMaster1.xml" Id="Re875cca0e10a47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75fdbd35e64422" /><Relationship Type="http://schemas.openxmlformats.org/officeDocument/2006/relationships/notesMaster" Target="/ppt/notesMasters/notesMaster1.xml" Id="R43093d538ed048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4421fed871427a" /><Relationship Type="http://schemas.openxmlformats.org/officeDocument/2006/relationships/notesMaster" Target="/ppt/notesMasters/notesMaster1.xml" Id="Rd2a943df49884b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2985cff3ae4653" /><Relationship Type="http://schemas.openxmlformats.org/officeDocument/2006/relationships/notesMaster" Target="/ppt/notesMasters/notesMaster1.xml" Id="R87375605d6fa4ac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928c93c4474626" /><Relationship Type="http://schemas.openxmlformats.org/officeDocument/2006/relationships/notesMaster" Target="/ppt/notesMasters/notesMaster1.xml" Id="Re82313ebc31a45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197cb2e7cf4b7f" /><Relationship Type="http://schemas.openxmlformats.org/officeDocument/2006/relationships/notesMaster" Target="/ppt/notesMasters/notesMaster1.xml" Id="Rd02358ad56814f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1eaafb3b974a07" /><Relationship Type="http://schemas.openxmlformats.org/officeDocument/2006/relationships/notesMaster" Target="/ppt/notesMasters/notesMaster1.xml" Id="R1a1fe601185e40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d05031362884baa" /><Relationship Type="http://schemas.openxmlformats.org/officeDocument/2006/relationships/notesMaster" Target="/ppt/notesMasters/notesMaster1.xml" Id="Rc3d47c0acb334d6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7ad6b114e74468c" /><Relationship Type="http://schemas.openxmlformats.org/officeDocument/2006/relationships/notesMaster" Target="/ppt/notesMasters/notesMaster1.xml" Id="Re91fe10044fc47a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dc302f70e34070" /><Relationship Type="http://schemas.openxmlformats.org/officeDocument/2006/relationships/notesMaster" Target="/ppt/notesMasters/notesMaster1.xml" Id="Rbdf769753a084f9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639df535f9340a0" /><Relationship Type="http://schemas.openxmlformats.org/officeDocument/2006/relationships/notesMaster" Target="/ppt/notesMasters/notesMaster1.xml" Id="Rac1dc23edce3460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8a6303e6d0467c" /><Relationship Type="http://schemas.openxmlformats.org/officeDocument/2006/relationships/notesMaster" Target="/ppt/notesMasters/notesMaster1.xml" Id="R1ce3b3219e3a476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13cce5124e344ad" /><Relationship Type="http://schemas.openxmlformats.org/officeDocument/2006/relationships/notesMaster" Target="/ppt/notesMasters/notesMaster1.xml" Id="Rf75550777756463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bb8824408e54159" /><Relationship Type="http://schemas.openxmlformats.org/officeDocument/2006/relationships/notesMaster" Target="/ppt/notesMasters/notesMaster1.xml" Id="Rb81a41108ad64e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a6c0836fb3c4fde" /><Relationship Type="http://schemas.openxmlformats.org/officeDocument/2006/relationships/notesMaster" Target="/ppt/notesMasters/notesMaster1.xml" Id="R86034ba26fcf4ae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b10474b7fe34e4a" /><Relationship Type="http://schemas.openxmlformats.org/officeDocument/2006/relationships/notesMaster" Target="/ppt/notesMasters/notesMaster1.xml" Id="R7c564a921f0a47a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2ba24da36744152" /><Relationship Type="http://schemas.openxmlformats.org/officeDocument/2006/relationships/notesMaster" Target="/ppt/notesMasters/notesMaster1.xml" Id="R5ce187956c004ff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2056dd6b6fd4d6a" /><Relationship Type="http://schemas.openxmlformats.org/officeDocument/2006/relationships/notesMaster" Target="/ppt/notesMasters/notesMaster1.xml" Id="R549f04fbc89646f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3f586d93daa454a" /><Relationship Type="http://schemas.openxmlformats.org/officeDocument/2006/relationships/notesMaster" Target="/ppt/notesMasters/notesMaster1.xml" Id="R71dc6e63d7534d3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eb194410e5c4c46" /><Relationship Type="http://schemas.openxmlformats.org/officeDocument/2006/relationships/notesMaster" Target="/ppt/notesMasters/notesMaster1.xml" Id="R877feaca8774464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a01bcd93a954a2c" /><Relationship Type="http://schemas.openxmlformats.org/officeDocument/2006/relationships/notesMaster" Target="/ppt/notesMasters/notesMaster1.xml" Id="Rf55fc5deb9a542f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8afa3269c434551" /><Relationship Type="http://schemas.openxmlformats.org/officeDocument/2006/relationships/notesMaster" Target="/ppt/notesMasters/notesMaster1.xml" Id="R62738b7ddd134c7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8a1ade41eba4d45" /><Relationship Type="http://schemas.openxmlformats.org/officeDocument/2006/relationships/notesMaster" Target="/ppt/notesMasters/notesMaster1.xml" Id="R5106b1022e7e455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96e8ff5afc24cc2" /><Relationship Type="http://schemas.openxmlformats.org/officeDocument/2006/relationships/notesMaster" Target="/ppt/notesMasters/notesMaster1.xml" Id="R5fded11a07174b7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42df3e6900c4145" /><Relationship Type="http://schemas.openxmlformats.org/officeDocument/2006/relationships/notesMaster" Target="/ppt/notesMasters/notesMaster1.xml" Id="R6747714c3fb84d6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3abb28b7c9e4345" /><Relationship Type="http://schemas.openxmlformats.org/officeDocument/2006/relationships/notesMaster" Target="/ppt/notesMasters/notesMaster1.xml" Id="R16a60ff7af934c4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69a78443db84455" /><Relationship Type="http://schemas.openxmlformats.org/officeDocument/2006/relationships/notesMaster" Target="/ppt/notesMasters/notesMaster1.xml" Id="Rfe2686a032f64ef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a9b3fd2051747fa" /><Relationship Type="http://schemas.openxmlformats.org/officeDocument/2006/relationships/notesMaster" Target="/ppt/notesMasters/notesMaster1.xml" Id="R344dd0832a2640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Two-week project. Each student delivers a working website that uses an MLP to identify sentence aspects and sentiments, then aggregates them into review-level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summary of the constructed reviews. This motivates the application; it is not a measured speed improvement or model result. Keep evidence accessible so users can inspect the original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counts from the supplied files. The 2,000 sentences were sampled one per original review, 1,000 from each source whole-review polarity. This does not balance aspect labels. The source contains historical Ctrip text and also some hotel replies. There are no hotel identifiers or structured dates.</a:t>
            </a:r>
          </a:p>
          <a:p xmlns:a="http://schemas.openxmlformats.org/drawingml/2006/main">
            <a:r>
              <a:t/>
            </a:r>
          </a:p>
          <a:p xmlns:a="http://schemas.openxmlformats.org/drawingml/2006/main">
            <a:r>
              <a:t>Sources</a:t>
            </a:r>
          </a:p>
          <a:p xmlns:a="http://schemas.openxmlformats.org/drawingml/2006/main">
            <a:r>
              <a:t>https://github.com/SophonPlus/ChineseNlpCorpus/blob/master/datasets/ChnSentiCorp_htl_all/intro.ipynb</a:t>
            </a:r>
          </a:p>
          <a:p xmlns:a="http://schemas.openxmlformats.org/drawingml/2006/main">
            <a:r>
              <a:t>https://help.aliyun.com/zh/model-studio/text-embedding-synchronous-api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are regex keyword hits in all 2,000 unfiltered sentences. One sentence may match several groups. These are exploratory cues, not human aspect labels or estimates of true prevalence. Pattern definitions are recorded in exploration_results.json. They differ from the earlier dataset manifest because this exploration tests a new eight-aspect taxonomy.</a:t>
            </a:r>
          </a:p>
          <a:p xmlns:a="http://schemas.openxmlformats.org/drawingml/2006/main">
            <a:r>
              <a:t/>
            </a:r>
          </a:p>
          <a:p xmlns:a="http://schemas.openxmlformats.org/drawingml/2006/main">
            <a:r>
              <a:t>Sources</a:t>
            </a:r>
          </a:p>
          <a:p xmlns:a="http://schemas.openxmlformats.org/drawingml/2006/main">
            <a:r>
              <a:t>https://github.com/SophonPlus/ChineseNlpCorpus/blob/master/datasets/ChnSentiCorp_htl_all/intro.ipynb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aspect list is a project proposal based on keyword exploration and reading cluster-central and random examples. It is not inferred ground truth. Aspect order is fixed throughout the project. General hotel praise without a specific aspect is not forced into a category.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on this page are constructed to explain the proposed annotation convention. Facilities concerns equipment or its condition. Comfort concerns space, beds and temperature. Sound insulation &amp; noise concerns acoustic conditions. A sentence can receive both labels when both claims are explicit. Nearby dining access is Location, hotel dining quality is Food.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 embeddings are pretrained fixed features. The 256 coordinates are jointly learned numerical features; no individual dimension has a predefined aspect meaning. A classifier must learn the mapping to the new project labels.</a:t>
            </a:r>
          </a:p>
          <a:p xmlns:a="http://schemas.openxmlformats.org/drawingml/2006/main">
            <a:r>
              <a:t/>
            </a:r>
          </a:p>
          <a:p xmlns:a="http://schemas.openxmlformats.org/drawingml/2006/main">
            <a:r>
              <a:t>Sources</a:t>
            </a:r>
          </a:p>
          <a:p xmlns:a="http://schemas.openxmlformats.org/drawingml/2006/main">
            <a:r>
              <a:t>https://help.aliyun.com/zh/model-studio/text-embedding-synchronous-api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Cosine similarities calculated from the existing 256-dimensional vectors. The vectors have unit L2 norm within float32 precision. Query HTL_S0980; neighbors HTL_S1012, HTL_S1521, HTL_S1979. Similarity is not a probability of matching sentiment.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KMeans uses all 2,000 original 256-dimensional vectors, k=8, n_init=20, random_state=42. Each panel displays one cluster on identical PCA axes, both ranging from -0.6 to 0.6. PCA is only for display and explains 11.76% of variance. All 2,000 sentences appear once across the panels. The sample cosine silhouette is 0.0505. Cluster groups overlap and are not aspect labels.</a:t>
            </a:r>
          </a:p>
          <a:p xmlns:a="http://schemas.openxmlformats.org/drawingml/2006/main">
            <a:r>
              <a:t/>
            </a:r>
          </a:p>
          <a:p xmlns:a="http://schemas.openxmlformats.org/drawingml/2006/main">
            <a:r>
              <a:t>Sources</a:t>
            </a:r>
          </a:p>
          <a:p xmlns:a="http://schemas.openxmlformats.org/drawingml/2006/main">
            <a:r>
              <a:t>https://scikit-learn.org/stable/modules/generated/sklearn.cluster.KMeans.html</a:t>
            </a:r>
          </a:p>
          <a:p xmlns:a="http://schemas.openxmlformats.org/drawingml/2006/main">
            <a:r>
              <a:t>https://scikit-learn.org/stable/modules/generated/sklearn.decomposition.PCA.html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Descriptions are human interpretations of central examples and random examples. Counts are exact KMeans cluster sizes. Cluster 3 also includes hotel replies. This table does not assert that every member matches the 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narrow phrase screen flagged 27 candidate hotel-response records, including pure management replies and mixed guest/reply text. These are flags, not an exhaustive count of invalid records. Original sentence IDs and vectors are retained. Do not reuse an old embedding after changing text. Examples: HTL_S1015 and HTL_S0165.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label convention. State 0=absent, 1=negative, 2=neutral, 3=positive, 4=mixed. Mixed requires positive and negative evaluation of the same aspect within the target sentence. Annotation workflow status is separate from these prediction states. A completed sentence has eight states.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sentence HTL_S1826. The labels on this page are the proposed project interpretation, not pre-existing ground truth. Aspect order: cleanliness, service, location, facilities, room comfort, sound insulation &amp; noise, food,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Constructed examples illustrate the project convention. 一般 without explicit positive/negative modifiers is neutral under this codebook. This is an operational choice; record disagreements during the pilot and freeze the convention before evaluating models. Context may clarify a referent, but labels describe claims in the target sentence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UI, not a screenshot of an implemented application. The target is HTL_S1826. Selected cells correspond to the proposed label vector [3,0,0,0,0,1,0,1]. Each aspect uses a single-choice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LLM-assisted labeling is allowed. Do not present suggestions as verified gold labels. Store prompt version, labeling model, suggestion, final label, reviewer and timestamp. Require evidence substrings from the target sentence. The MLP remains the classifier used at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shared MLP produces 40 raw logits. Reshape them into 8 groups of 5, one per aspect. Apply softmax within each group for probabilities, and argmax for the state. Do not apply a single softmax across all 40 logits. CrossEntropyLoss consumes raw logits. The fixed Qwen encoder is not fine-tuned.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PyTorch CrossEntropyLoss accepts raw unnormalized logits and integer class indices. For N sentences and 8 aspects, reshape logits to (8N,5) and targets to (8N). Default reduction averages all sentence-aspect losses. Class weights or masking can be explored if defined using training data only.</a:t>
            </a:r>
          </a:p>
          <a:p xmlns:a="http://schemas.openxmlformats.org/drawingml/2006/main">
            <a:r>
              <a:t/>
            </a:r>
          </a:p>
          <a:p xmlns:a="http://schemas.openxmlformats.org/drawingml/2006/main">
            <a:r>
              <a:t>Sources</a:t>
            </a:r>
          </a:p>
          <a:p xmlns:a="http://schemas.openxmlformats.org/drawingml/2006/main">
            <a:r>
              <a:t>https://docs.pytorch.org/docs/stable/generated/torch.nn.CrossEntropyLoss.html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end-to-end F1, encode the 8 aspects × 4 mentioned states (negative, neutral, positive, mixed) as 32 binary labels. An absent prediction activates none for that aspect. A wrong sentiment creates a false positive and false negative. Compute micro/macro F1 and report support and zero-division handling. Mention detection collapses state codes 1–4 to present. Excluded/unreviewed records do not enter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explicit project scoring convention, not a calibrated hotel rating. For each aspect, collect only sentences predicted to mention it. Map positive to +1, negative to -1, neutral and mixed to 0, average and multiply by 100. For no mentions, output null and display Not mentioned. Store state counts so neutral, mixed and cancellation remain distinguishable.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Constructed demonstration sentences. Values are illustrative target states, not outputs from a trained MLP. The example uses two positive service sentences and one negative sentence. Equal sentence weighting gives 100×(1+1−1)/3 = 33.333...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editable interface illustration, not a working application or measured model output. The seven constructed sentences produce cleanliness +100 (one positive), service +33.3 (two positive and one negative), location +100 (one positive), facilities -100 (one negative), room comfort +100 (one positive), sound insulation -100 (one negative), food and value not mentioned. Bar values are derived from the stated aggregation convention.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provided embeddings support offline model training. A new website input requires a new embedding from the same encoder and dimensionality. Save architecture, weights, aspect order, state mapping and any training-fitted preprocessing together. Do not use an LLM to replace the trained MLP classifier at deployment.</a:t>
            </a:r>
          </a:p>
          <a:p xmlns:a="http://schemas.openxmlformats.org/drawingml/2006/main">
            <a:r>
              <a:t/>
            </a:r>
          </a:p>
          <a:p xmlns:a="http://schemas.openxmlformats.org/drawingml/2006/main">
            <a:r>
              <a:t>Sources</a:t>
            </a:r>
          </a:p>
          <a:p xmlns:a="http://schemas.openxmlformats.org/drawingml/2006/main">
            <a:r>
              <a:t>https://help.aliyun.com/zh/model-studio/text-embedding-synchronous-api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project milestones, not fixed calendar deadlines. A group may share the reviewed dataset, but each student must deploy a website and explain their own model experiment. The classifier restriction is MLP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90-minute plan using AI coding. A pilot of 20–50 reviewed sentences proves that the pipeline works; it is too small for a reliable performance claim. The first page may run locally. Login, a publicly accessible teacher URL, full review aggregation, more data and credible evaluation remain final project requirements. New text needs the same 256-dimensional embedding encoder used for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030667ba9248f9"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b46b560c2a41e0" /><Relationship Type="http://schemas.openxmlformats.org/officeDocument/2006/relationships/slideLayout" Target="/ppt/slideLayouts/slideLayout1.xml" Id="Re65e05eaa6f64aa4"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65e05eaa6f64aa4"/>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4a33e3112a4369" /><Relationship Type="http://schemas.openxmlformats.org/officeDocument/2006/relationships/image" Target="/ppt/media/image.jpeg" Id="Re74d047823044310" /><Relationship Type="http://schemas.openxmlformats.org/officeDocument/2006/relationships/image" Target="/ppt/media/image.png" Id="R7ded27e975a94ad5" /><Relationship Type="http://schemas.openxmlformats.org/officeDocument/2006/relationships/notesSlide" Target="/ppt/notesSlides/notesSlide1.xml" Id="R08b457af5c7e41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eeac3360b241a5" /><Relationship Type="http://schemas.openxmlformats.org/officeDocument/2006/relationships/notesSlide" Target="/ppt/notesSlides/notesSlide2.xml" Id="Rf7fd7571960e45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7cc4b7e54644ae" /><Relationship Type="http://schemas.openxmlformats.org/officeDocument/2006/relationships/notesSlide" Target="/ppt/notesSlides/notesSlide3.xml" Id="Ra2188de3b12740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b23a5db4d3451a" /><Relationship Type="http://schemas.openxmlformats.org/officeDocument/2006/relationships/notesSlide" Target="/ppt/notesSlides/notesSlide4.xml" Id="R29c3c9ef89c24c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ddfe19849c4702" /><Relationship Type="http://schemas.openxmlformats.org/officeDocument/2006/relationships/notesSlide" Target="/ppt/notesSlides/notesSlide5.xml" Id="R878ac0ec93384e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8ec407981e4030" /><Relationship Type="http://schemas.openxmlformats.org/officeDocument/2006/relationships/chart" Target="/ppt/slides/charts/chart1.xml" Id="Rb0550c7696204b86" /><Relationship Type="http://schemas.openxmlformats.org/officeDocument/2006/relationships/notesSlide" Target="/ppt/notesSlides/notesSlide6.xml" Id="R48caa52a396340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aff5647f854600" /><Relationship Type="http://schemas.openxmlformats.org/officeDocument/2006/relationships/notesSlide" Target="/ppt/notesSlides/notesSlide7.xml" Id="R84ddca3108cd45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ea0e23eccf4872" /><Relationship Type="http://schemas.openxmlformats.org/officeDocument/2006/relationships/notesSlide" Target="/ppt/notesSlides/notesSlide8.xml" Id="R220231c71f004a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db2eb3d6f28443d" /><Relationship Type="http://schemas.openxmlformats.org/officeDocument/2006/relationships/notesSlide" Target="/ppt/notesSlides/notesSlide9.xml" Id="R2972835c926041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7c2d691a86a47ac" /><Relationship Type="http://schemas.openxmlformats.org/officeDocument/2006/relationships/notesSlide" Target="/ppt/notesSlides/notesSlide10.xml" Id="R10bc23b4febd4b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52ea9ce47884e4a" /><Relationship Type="http://schemas.openxmlformats.org/officeDocument/2006/relationships/notesSlide" Target="/ppt/notesSlides/notesSlide11.xml" Id="R502fefa30a9c48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9dfe2780efd4e1c" /><Relationship Type="http://schemas.openxmlformats.org/officeDocument/2006/relationships/chart" Target="/ppt/slides/charts/chart2.xml" Id="R7e7273ce4a824add" /><Relationship Type="http://schemas.openxmlformats.org/officeDocument/2006/relationships/chart" Target="/ppt/slides/charts/chart3.xml" Id="R4771b135eb3248f0" /><Relationship Type="http://schemas.openxmlformats.org/officeDocument/2006/relationships/chart" Target="/ppt/slides/charts/chart4.xml" Id="Reacfc5be21b149df" /><Relationship Type="http://schemas.openxmlformats.org/officeDocument/2006/relationships/chart" Target="/ppt/slides/charts/chart5.xml" Id="R44b63cfc4e74412a" /><Relationship Type="http://schemas.openxmlformats.org/officeDocument/2006/relationships/chart" Target="/ppt/slides/charts/chart6.xml" Id="R5b5c46a4d5e74ad9" /><Relationship Type="http://schemas.openxmlformats.org/officeDocument/2006/relationships/chart" Target="/ppt/slides/charts/chart7.xml" Id="Rf58049b15d1b4ec1" /><Relationship Type="http://schemas.openxmlformats.org/officeDocument/2006/relationships/chart" Target="/ppt/slides/charts/chart8.xml" Id="Rdf6df8f0578f4930" /><Relationship Type="http://schemas.openxmlformats.org/officeDocument/2006/relationships/chart" Target="/ppt/slides/charts/chart9.xml" Id="Rf4df29da381f419f" /><Relationship Type="http://schemas.openxmlformats.org/officeDocument/2006/relationships/notesSlide" Target="/ppt/notesSlides/notesSlide12.xml" Id="R02f22f37d90e45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f559a7a96914fcf" /><Relationship Type="http://schemas.openxmlformats.org/officeDocument/2006/relationships/notesSlide" Target="/ppt/notesSlides/notesSlide13.xml" Id="Rdaabeef94a6849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b70dfcfd794f54" /><Relationship Type="http://schemas.openxmlformats.org/officeDocument/2006/relationships/notesSlide" Target="/ppt/notesSlides/notesSlide14.xml" Id="R8b6236c25b634c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54061d4164f4916" /><Relationship Type="http://schemas.openxmlformats.org/officeDocument/2006/relationships/notesSlide" Target="/ppt/notesSlides/notesSlide15.xml" Id="R707e457e233040d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098475b7acf4084" /><Relationship Type="http://schemas.openxmlformats.org/officeDocument/2006/relationships/notesSlide" Target="/ppt/notesSlides/notesSlide16.xml" Id="Rf39c6772d49243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401069358eb4a6e" /><Relationship Type="http://schemas.openxmlformats.org/officeDocument/2006/relationships/notesSlide" Target="/ppt/notesSlides/notesSlide17.xml" Id="R788c50b98c074bd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570fa4c22db4525" /><Relationship Type="http://schemas.openxmlformats.org/officeDocument/2006/relationships/notesSlide" Target="/ppt/notesSlides/notesSlide18.xml" Id="Rbcdd6f518052427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dfc6b7e78a040a9" /><Relationship Type="http://schemas.openxmlformats.org/officeDocument/2006/relationships/notesSlide" Target="/ppt/notesSlides/notesSlide19.xml" Id="R190327996389442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c404098f1fb4987" /><Relationship Type="http://schemas.openxmlformats.org/officeDocument/2006/relationships/notesSlide" Target="/ppt/notesSlides/notesSlide20.xml" Id="R102dcd333c0b4f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cfc87a9172940ca" /><Relationship Type="http://schemas.openxmlformats.org/officeDocument/2006/relationships/notesSlide" Target="/ppt/notesSlides/notesSlide21.xml" Id="Rcb93abea5eba4eb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d4765508e9b41c9" /><Relationship Type="http://schemas.openxmlformats.org/officeDocument/2006/relationships/notesSlide" Target="/ppt/notesSlides/notesSlide22.xml" Id="Rf7b7443a344c4c1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172048e4a6f476d" /><Relationship Type="http://schemas.openxmlformats.org/officeDocument/2006/relationships/notesSlide" Target="/ppt/notesSlides/notesSlide23.xml" Id="Re9fe7b55a2e0418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5a3120bb78d4271" /><Relationship Type="http://schemas.openxmlformats.org/officeDocument/2006/relationships/notesSlide" Target="/ppt/notesSlides/notesSlide24.xml" Id="Rd86b513115fa404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65b519c37194bca" /><Relationship Type="http://schemas.openxmlformats.org/officeDocument/2006/relationships/notesSlide" Target="/ppt/notesSlides/notesSlide25.xml" Id="Rd7d23ab4dc504b6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7b086d8e1344b21" /><Relationship Type="http://schemas.openxmlformats.org/officeDocument/2006/relationships/notesSlide" Target="/ppt/notesSlides/notesSlide26.xml" Id="R4ae930c74f66488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1e06be25f6b405f" /><Relationship Type="http://schemas.openxmlformats.org/officeDocument/2006/relationships/notesSlide" Target="/ppt/notesSlides/notesSlide27.xml" Id="R0db24d21a8fe427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1dda69b656a4728" /><Relationship Type="http://schemas.openxmlformats.org/officeDocument/2006/relationships/notesSlide" Target="/ppt/notesSlides/notesSlide28.xml" Id="R0749fbf839c34f5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8e75aafea9945ef" /><Relationship Type="http://schemas.openxmlformats.org/officeDocument/2006/relationships/notesSlide" Target="/ppt/notesSlides/notesSlide29.xml" Id="Rc690603e8cea4f2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5724897cc08469e" /><Relationship Type="http://schemas.openxmlformats.org/officeDocument/2006/relationships/notesSlide" Target="/ppt/notesSlides/notesSlide30.xml" Id="R757b979f65964bf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bfba3f1898444fe" /><Relationship Type="http://schemas.openxmlformats.org/officeDocument/2006/relationships/notesSlide" Target="/ppt/notesSlides/notesSlide31.xml" Id="Rf9423044d2b5406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67dec3ea96c4c03" /><Relationship Type="http://schemas.openxmlformats.org/officeDocument/2006/relationships/chart" Target="/ppt/slides/charts/chart10.xml" Id="Rb4ab6116063348fd" /><Relationship Type="http://schemas.openxmlformats.org/officeDocument/2006/relationships/notesSlide" Target="/ppt/notesSlides/notesSlide32.xml" Id="R5a1f55a92634436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05e3d1f823d4064" /><Relationship Type="http://schemas.openxmlformats.org/officeDocument/2006/relationships/notesSlide" Target="/ppt/notesSlides/notesSlide33.xml" Id="R53b2451c30fc454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dd3cb8d8b714609" /><Relationship Type="http://schemas.openxmlformats.org/officeDocument/2006/relationships/notesSlide" Target="/ppt/notesSlides/notesSlide34.xml" Id="Raefd9227860743e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34b0a97154444ce" /><Relationship Type="http://schemas.openxmlformats.org/officeDocument/2006/relationships/notesSlide" Target="/ppt/notesSlides/notesSlide35.xml" Id="R9a6b80ab7acd428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d2f5329c1ea45cc" /><Relationship Type="http://schemas.openxmlformats.org/officeDocument/2006/relationships/notesSlide" Target="/ppt/notesSlides/notesSlide36.xml" Id="Re8d86fcb30214fe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Sentences with keyword cues</c:v>
          </c:tx>
          <c:spPr>
            <a:solidFill xmlns:a="http://schemas.openxmlformats.org/drawingml/2006/main">
              <a:srgbClr val="2861FF"/>
            </a:solidFill>
          </c:spPr>
          <c:cat>
            <c:strRef>
              <c:f>'Chart Data'!$A$2:$A$9</c:f>
              <c:strCache>
                <c:ptCount val="8"/>
                <c:pt idx="0">
                  <c:v>Service</c:v>
                </c:pt>
                <c:pt idx="1">
                  <c:v>Facilities</c:v>
                </c:pt>
                <c:pt idx="2">
                  <c:v>Value</c:v>
                </c:pt>
                <c:pt idx="3">
                  <c:v>Location</c:v>
                </c:pt>
                <c:pt idx="4">
                  <c:v>Cleanliness</c:v>
                </c:pt>
                <c:pt idx="5">
                  <c:v>Food</c:v>
                </c:pt>
                <c:pt idx="6">
                  <c:v>Room comfort</c:v>
                </c:pt>
                <c:pt idx="7">
                  <c:v>Sound insulation</c:v>
                </c:pt>
              </c:strCache>
            </c:strRef>
          </c:cat>
          <c:val>
            <c:numRef>
              <c:f>'Chart Data'!$B$2:$B$9</c:f>
              <c:numCache>
                <c:formatCode>0</c:formatCode>
                <c:ptCount val="8"/>
                <c:pt idx="0">
                  <c:v>640</c:v>
                </c:pt>
                <c:pt idx="1">
                  <c:v>375</c:v>
                </c:pt>
                <c:pt idx="2">
                  <c:v>273</c:v>
                </c:pt>
                <c:pt idx="3">
                  <c:v>257</c:v>
                </c:pt>
                <c:pt idx="4">
                  <c:v>223</c:v>
                </c:pt>
                <c:pt idx="5">
                  <c:v>212</c:v>
                </c:pt>
                <c:pt idx="6">
                  <c:v>210</c:v>
                </c:pt>
                <c:pt idx="7">
                  <c:v>152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11111"/>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700"/>
          <c:min val="0"/>
        </c:scaling>
        <c:delete val="0"/>
        <c:axPos val="b"/>
        <c:majorGridlines>
          <c:spPr>
            <a:ln xmlns:a="http://schemas.openxmlformats.org/drawingml/2006/main" w="5715">
              <a:solidFill>
                <a:srgbClr val="E3E6EA"/>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20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b="1">
                <a:solidFill>
                  <a:srgbClr val="E30613"/>
                </a:solidFill>
                <a:latin typeface="Arial"/>
                <a:ea typeface="Arial"/>
                <a:cs typeface="Arial"/>
              </a:rPr>
              <a:t>C0  (n = 146)</a:t>
            </a:r>
          </a:p>
        </c:rich>
      </c:tx>
      <c:overlay val="0"/>
      <c:txPr>
        <a:bodyPr xmlns:a="http://schemas.openxmlformats.org/drawingml/2006/main" anchorCtr="1"/>
        <a:lstStyle xmlns:a="http://schemas.openxmlformats.org/drawingml/2006/main"/>
        <a:p xmlns:a="http://schemas.openxmlformats.org/drawingml/2006/main">
          <a:pPr>
            <a:defRPr sz="1500" b="1">
              <a:solidFill>
                <a:srgbClr val="E30613"/>
              </a:solidFill>
              <a:latin typeface="Arial"/>
              <a:ea typeface="Arial"/>
              <a:cs typeface="Arial"/>
            </a:defRPr>
          </a:pPr>
        </a:p>
      </c:txPr>
    </c:title>
    <c:plotArea>
      <c:scatterChart>
        <c:scatterStyle val="marker"/>
        <c:ser>
          <c:idx val="0"/>
          <c:order val="0"/>
          <c:tx>
            <c:v>C0</c:v>
          </c:tx>
          <c:spPr>
            <a:solidFill xmlns:a="http://schemas.openxmlformats.org/drawingml/2006/main">
              <a:srgbClr val="E30613"/>
            </a:solidFill>
            <a:ln xmlns:a="http://schemas.openxmlformats.org/drawingml/2006/main" w="0">
              <a:noFill/>
            </a:ln>
          </c:spPr>
          <c:marker>
            <c:symbol val="circle"/>
            <c:size val="3"/>
            <c:spPr>
              <ns0:solidFill xmlns:ns0="http://schemas.openxmlformats.org/drawingml/2006/main">
                <ns0:srgbClr val="E30613"/>
              </ns0:solidFill>
              <ns1:ln xmlns:ns1="http://schemas.openxmlformats.org/drawingml/2006/main" w="0">
                <ns1:noFill/>
              </ns1:ln>
            </c:spPr>
          </c:marker>
          <c:xVal>
            <c:numRef>
              <c:f>'Chart Data'!$A$2:$A$147</c:f>
              <c:numCache>
                <c:formatCode>General</c:formatCode>
                <c:ptCount val="146"/>
                <c:pt idx="0">
                  <c:v>-0.091314</c:v>
                </c:pt>
                <c:pt idx="1">
                  <c:v>0.087291</c:v>
                </c:pt>
                <c:pt idx="2">
                  <c:v>-0.060082</c:v>
                </c:pt>
                <c:pt idx="3">
                  <c:v>-0.104411</c:v>
                </c:pt>
                <c:pt idx="4">
                  <c:v>-0.252115</c:v>
                </c:pt>
                <c:pt idx="5">
                  <c:v>-0.165321</c:v>
                </c:pt>
                <c:pt idx="6">
                  <c:v>-0.029767</c:v>
                </c:pt>
                <c:pt idx="7">
                  <c:v>-0.209537</c:v>
                </c:pt>
                <c:pt idx="8">
                  <c:v>0.029879</c:v>
                </c:pt>
                <c:pt idx="9">
                  <c:v>-0.004675</c:v>
                </c:pt>
                <c:pt idx="10">
                  <c:v>-0.167236</c:v>
                </c:pt>
                <c:pt idx="11">
                  <c:v>-0.353427</c:v>
                </c:pt>
                <c:pt idx="12">
                  <c:v>-0.150594</c:v>
                </c:pt>
                <c:pt idx="13">
                  <c:v>-0.077989</c:v>
                </c:pt>
                <c:pt idx="14">
                  <c:v>-0.051307</c:v>
                </c:pt>
                <c:pt idx="15">
                  <c:v>0.042499</c:v>
                </c:pt>
                <c:pt idx="16">
                  <c:v>-0.12036</c:v>
                </c:pt>
                <c:pt idx="17">
                  <c:v>0.021332</c:v>
                </c:pt>
                <c:pt idx="18">
                  <c:v>-0.166321</c:v>
                </c:pt>
                <c:pt idx="19">
                  <c:v>-0.17488</c:v>
                </c:pt>
                <c:pt idx="20">
                  <c:v>0.046238</c:v>
                </c:pt>
                <c:pt idx="21">
                  <c:v>0.100034</c:v>
                </c:pt>
                <c:pt idx="22">
                  <c:v>-0.035882</c:v>
                </c:pt>
                <c:pt idx="23">
                  <c:v>-0.197012</c:v>
                </c:pt>
                <c:pt idx="24">
                  <c:v>-0.224168</c:v>
                </c:pt>
                <c:pt idx="25">
                  <c:v>-0.143562</c:v>
                </c:pt>
                <c:pt idx="26">
                  <c:v>0.017667</c:v>
                </c:pt>
                <c:pt idx="27">
                  <c:v>-0.300457</c:v>
                </c:pt>
                <c:pt idx="28">
                  <c:v>-0.246136</c:v>
                </c:pt>
                <c:pt idx="29">
                  <c:v>-0.036285</c:v>
                </c:pt>
                <c:pt idx="30">
                  <c:v>0.093265</c:v>
                </c:pt>
                <c:pt idx="31">
                  <c:v>-0.107646</c:v>
                </c:pt>
                <c:pt idx="32">
                  <c:v>-0.126876</c:v>
                </c:pt>
                <c:pt idx="33">
                  <c:v>0.127489</c:v>
                </c:pt>
                <c:pt idx="34">
                  <c:v>-0.177725</c:v>
                </c:pt>
                <c:pt idx="35">
                  <c:v>-0.120371</c:v>
                </c:pt>
                <c:pt idx="36">
                  <c:v>-0.08249</c:v>
                </c:pt>
                <c:pt idx="37">
                  <c:v>0.012486</c:v>
                </c:pt>
                <c:pt idx="38">
                  <c:v>-0.161436</c:v>
                </c:pt>
                <c:pt idx="39">
                  <c:v>-0.138354</c:v>
                </c:pt>
                <c:pt idx="40">
                  <c:v>0.013868</c:v>
                </c:pt>
                <c:pt idx="41">
                  <c:v>-0.039633</c:v>
                </c:pt>
                <c:pt idx="42">
                  <c:v>-0.071655</c:v>
                </c:pt>
                <c:pt idx="43">
                  <c:v>-0.09922</c:v>
                </c:pt>
                <c:pt idx="44">
                  <c:v>-0.131461</c:v>
                </c:pt>
                <c:pt idx="45">
                  <c:v>-0.133591</c:v>
                </c:pt>
                <c:pt idx="46">
                  <c:v>-0.148097</c:v>
                </c:pt>
                <c:pt idx="47">
                  <c:v>-0.00493</c:v>
                </c:pt>
                <c:pt idx="48">
                  <c:v>-0.124933</c:v>
                </c:pt>
                <c:pt idx="49">
                  <c:v>0.021745</c:v>
                </c:pt>
                <c:pt idx="50">
                  <c:v>0.100393</c:v>
                </c:pt>
                <c:pt idx="51">
                  <c:v>-0.181904</c:v>
                </c:pt>
                <c:pt idx="52">
                  <c:v>0.009407</c:v>
                </c:pt>
                <c:pt idx="53">
                  <c:v>0.084061</c:v>
                </c:pt>
                <c:pt idx="54">
                  <c:v>-0.058087</c:v>
                </c:pt>
                <c:pt idx="55">
                  <c:v>0.124736</c:v>
                </c:pt>
                <c:pt idx="56">
                  <c:v>-0.028718</c:v>
                </c:pt>
                <c:pt idx="57">
                  <c:v>-0.043826</c:v>
                </c:pt>
                <c:pt idx="58">
                  <c:v>-0.174331</c:v>
                </c:pt>
                <c:pt idx="59">
                  <c:v>-0.31327</c:v>
                </c:pt>
                <c:pt idx="60">
                  <c:v>-0.133565</c:v>
                </c:pt>
                <c:pt idx="61">
                  <c:v>0.280272</c:v>
                </c:pt>
                <c:pt idx="62">
                  <c:v>-0.12128</c:v>
                </c:pt>
                <c:pt idx="63">
                  <c:v>-0.007095</c:v>
                </c:pt>
                <c:pt idx="64">
                  <c:v>-0.096898</c:v>
                </c:pt>
                <c:pt idx="65">
                  <c:v>0.141143</c:v>
                </c:pt>
                <c:pt idx="66">
                  <c:v>0.048247</c:v>
                </c:pt>
                <c:pt idx="67">
                  <c:v>-0.023706</c:v>
                </c:pt>
                <c:pt idx="68">
                  <c:v>-0.086904</c:v>
                </c:pt>
                <c:pt idx="69">
                  <c:v>-0.074064</c:v>
                </c:pt>
                <c:pt idx="70">
                  <c:v>-0.013988</c:v>
                </c:pt>
                <c:pt idx="71">
                  <c:v>0.006453</c:v>
                </c:pt>
                <c:pt idx="72">
                  <c:v>-0.137452</c:v>
                </c:pt>
                <c:pt idx="73">
                  <c:v>-0.106787</c:v>
                </c:pt>
                <c:pt idx="74">
                  <c:v>0.096699</c:v>
                </c:pt>
                <c:pt idx="75">
                  <c:v>0.087879</c:v>
                </c:pt>
                <c:pt idx="76">
                  <c:v>-0.17345</c:v>
                </c:pt>
                <c:pt idx="77">
                  <c:v>-0.016177</c:v>
                </c:pt>
                <c:pt idx="78">
                  <c:v>0.049076</c:v>
                </c:pt>
                <c:pt idx="79">
                  <c:v>-0.055175</c:v>
                </c:pt>
                <c:pt idx="80">
                  <c:v>0.080525</c:v>
                </c:pt>
                <c:pt idx="81">
                  <c:v>0.112943</c:v>
                </c:pt>
                <c:pt idx="82">
                  <c:v>-0.201091</c:v>
                </c:pt>
                <c:pt idx="83">
                  <c:v>0.02507</c:v>
                </c:pt>
                <c:pt idx="84">
                  <c:v>0.050473</c:v>
                </c:pt>
                <c:pt idx="85">
                  <c:v>-0.058018</c:v>
                </c:pt>
                <c:pt idx="86">
                  <c:v>0.069693</c:v>
                </c:pt>
                <c:pt idx="87">
                  <c:v>-0.07137</c:v>
                </c:pt>
                <c:pt idx="88">
                  <c:v>-0.093804</c:v>
                </c:pt>
                <c:pt idx="89">
                  <c:v>-0.045526</c:v>
                </c:pt>
                <c:pt idx="90">
                  <c:v>-0.016954</c:v>
                </c:pt>
                <c:pt idx="91">
                  <c:v>0.131924</c:v>
                </c:pt>
                <c:pt idx="92">
                  <c:v>0.007414</c:v>
                </c:pt>
                <c:pt idx="93">
                  <c:v>-0.010778</c:v>
                </c:pt>
                <c:pt idx="94">
                  <c:v>-0.158155</c:v>
                </c:pt>
                <c:pt idx="95">
                  <c:v>0.039223</c:v>
                </c:pt>
                <c:pt idx="96">
                  <c:v>0.078398</c:v>
                </c:pt>
                <c:pt idx="97">
                  <c:v>-0.007544</c:v>
                </c:pt>
                <c:pt idx="98">
                  <c:v>0.042057</c:v>
                </c:pt>
                <c:pt idx="99">
                  <c:v>0.04269</c:v>
                </c:pt>
                <c:pt idx="100">
                  <c:v>0.008948</c:v>
                </c:pt>
                <c:pt idx="101">
                  <c:v>-0.064992</c:v>
                </c:pt>
                <c:pt idx="102">
                  <c:v>-0.339332</c:v>
                </c:pt>
                <c:pt idx="103">
                  <c:v>-0.104283</c:v>
                </c:pt>
                <c:pt idx="104">
                  <c:v>0.001508</c:v>
                </c:pt>
                <c:pt idx="105">
                  <c:v>0.070699</c:v>
                </c:pt>
                <c:pt idx="106">
                  <c:v>-0.221931</c:v>
                </c:pt>
                <c:pt idx="107">
                  <c:v>-0.014709</c:v>
                </c:pt>
                <c:pt idx="108">
                  <c:v>0.051465</c:v>
                </c:pt>
                <c:pt idx="109">
                  <c:v>-0.125412</c:v>
                </c:pt>
                <c:pt idx="110">
                  <c:v>-0.282445</c:v>
                </c:pt>
                <c:pt idx="111">
                  <c:v>-0.164245</c:v>
                </c:pt>
                <c:pt idx="112">
                  <c:v>0.074477</c:v>
                </c:pt>
                <c:pt idx="113">
                  <c:v>0.09197</c:v>
                </c:pt>
                <c:pt idx="114">
                  <c:v>-0.126377</c:v>
                </c:pt>
                <c:pt idx="115">
                  <c:v>-0.141493</c:v>
                </c:pt>
                <c:pt idx="116">
                  <c:v>0.025767</c:v>
                </c:pt>
                <c:pt idx="117">
                  <c:v>-0.081834</c:v>
                </c:pt>
                <c:pt idx="118">
                  <c:v>0.096829</c:v>
                </c:pt>
                <c:pt idx="119">
                  <c:v>0.205462</c:v>
                </c:pt>
                <c:pt idx="120">
                  <c:v>-0.133498</c:v>
                </c:pt>
                <c:pt idx="121">
                  <c:v>-0.080168</c:v>
                </c:pt>
                <c:pt idx="122">
                  <c:v>-0.218065</c:v>
                </c:pt>
                <c:pt idx="123">
                  <c:v>-0.278671</c:v>
                </c:pt>
                <c:pt idx="124">
                  <c:v>-0.103187</c:v>
                </c:pt>
                <c:pt idx="125">
                  <c:v>-0.187557</c:v>
                </c:pt>
                <c:pt idx="126">
                  <c:v>0.028239</c:v>
                </c:pt>
                <c:pt idx="127">
                  <c:v>-0.156751</c:v>
                </c:pt>
                <c:pt idx="128">
                  <c:v>-0.123053</c:v>
                </c:pt>
                <c:pt idx="129">
                  <c:v>0.154206</c:v>
                </c:pt>
                <c:pt idx="130">
                  <c:v>0.135179</c:v>
                </c:pt>
                <c:pt idx="131">
                  <c:v>-0.192844</c:v>
                </c:pt>
                <c:pt idx="132">
                  <c:v>0.108674</c:v>
                </c:pt>
                <c:pt idx="133">
                  <c:v>-0.054958</c:v>
                </c:pt>
                <c:pt idx="134">
                  <c:v>-0.056918</c:v>
                </c:pt>
                <c:pt idx="135">
                  <c:v>-0.245328</c:v>
                </c:pt>
                <c:pt idx="136">
                  <c:v>-0.031609</c:v>
                </c:pt>
                <c:pt idx="137">
                  <c:v>-0.098254</c:v>
                </c:pt>
                <c:pt idx="138">
                  <c:v>0.109804</c:v>
                </c:pt>
                <c:pt idx="139">
                  <c:v>-0.248474</c:v>
                </c:pt>
                <c:pt idx="140">
                  <c:v>-0.211737</c:v>
                </c:pt>
                <c:pt idx="141">
                  <c:v>-0.155507</c:v>
                </c:pt>
                <c:pt idx="142">
                  <c:v>-0.03025</c:v>
                </c:pt>
                <c:pt idx="143">
                  <c:v>0.03101</c:v>
                </c:pt>
                <c:pt idx="144">
                  <c:v>-0.227831</c:v>
                </c:pt>
                <c:pt idx="145">
                  <c:v>-0.315525</c:v>
                </c:pt>
              </c:numCache>
            </c:numRef>
          </c:xVal>
          <c:yVal>
            <c:numRef>
              <c:f>'Chart Data'!$B$2:$B$147</c:f>
              <c:numCache>
                <c:formatCode>0.0</c:formatCode>
                <c:ptCount val="146"/>
                <c:pt idx="0">
                  <c:v>-0.141593</c:v>
                </c:pt>
                <c:pt idx="1">
                  <c:v>-0.313477</c:v>
                </c:pt>
                <c:pt idx="2">
                  <c:v>-0.012383</c:v>
                </c:pt>
                <c:pt idx="3">
                  <c:v>0.007564</c:v>
                </c:pt>
                <c:pt idx="4">
                  <c:v>-0.06988</c:v>
                </c:pt>
                <c:pt idx="5">
                  <c:v>-0.122355</c:v>
                </c:pt>
                <c:pt idx="6">
                  <c:v>0.064841</c:v>
                </c:pt>
                <c:pt idx="7">
                  <c:v>-0.025957</c:v>
                </c:pt>
                <c:pt idx="8">
                  <c:v>-0.111747</c:v>
                </c:pt>
                <c:pt idx="9">
                  <c:v>0.197161</c:v>
                </c:pt>
                <c:pt idx="10">
                  <c:v>-0.180623</c:v>
                </c:pt>
                <c:pt idx="11">
                  <c:v>-0.17481</c:v>
                </c:pt>
                <c:pt idx="12">
                  <c:v>-0.047875</c:v>
                </c:pt>
                <c:pt idx="13">
                  <c:v>-0.277236</c:v>
                </c:pt>
                <c:pt idx="14">
                  <c:v>-0.048953</c:v>
                </c:pt>
                <c:pt idx="15">
                  <c:v>-0.081017</c:v>
                </c:pt>
                <c:pt idx="16">
                  <c:v>-0.068457</c:v>
                </c:pt>
                <c:pt idx="17">
                  <c:v>0.116951</c:v>
                </c:pt>
                <c:pt idx="18">
                  <c:v>-0.22055</c:v>
                </c:pt>
                <c:pt idx="19">
                  <c:v>-0.050088</c:v>
                </c:pt>
                <c:pt idx="20">
                  <c:v>-0.311657</c:v>
                </c:pt>
                <c:pt idx="21">
                  <c:v>-0.218351</c:v>
                </c:pt>
                <c:pt idx="22">
                  <c:v>-0.0665</c:v>
                </c:pt>
                <c:pt idx="23">
                  <c:v>-0.427457</c:v>
                </c:pt>
                <c:pt idx="24">
                  <c:v>-0.263291</c:v>
                </c:pt>
                <c:pt idx="25">
                  <c:v>-0.167198</c:v>
                </c:pt>
                <c:pt idx="26">
                  <c:v>-0.191789</c:v>
                </c:pt>
                <c:pt idx="27">
                  <c:v>-0.229885</c:v>
                </c:pt>
                <c:pt idx="28">
                  <c:v>-0.15459</c:v>
                </c:pt>
                <c:pt idx="29">
                  <c:v>-0.009022</c:v>
                </c:pt>
                <c:pt idx="30">
                  <c:v>0.03037</c:v>
                </c:pt>
                <c:pt idx="31">
                  <c:v>0.036103</c:v>
                </c:pt>
                <c:pt idx="32">
                  <c:v>0.107973</c:v>
                </c:pt>
                <c:pt idx="33">
                  <c:v>0.066896</c:v>
                </c:pt>
                <c:pt idx="34">
                  <c:v>0.211479</c:v>
                </c:pt>
                <c:pt idx="35">
                  <c:v>0.008131</c:v>
                </c:pt>
                <c:pt idx="36">
                  <c:v>0.18644</c:v>
                </c:pt>
                <c:pt idx="37">
                  <c:v>0.140371</c:v>
                </c:pt>
                <c:pt idx="38">
                  <c:v>-0.084467</c:v>
                </c:pt>
                <c:pt idx="39">
                  <c:v>-0.27958</c:v>
                </c:pt>
                <c:pt idx="40">
                  <c:v>0.00641</c:v>
                </c:pt>
                <c:pt idx="41">
                  <c:v>0.040102</c:v>
                </c:pt>
                <c:pt idx="42">
                  <c:v>-0.009727</c:v>
                </c:pt>
                <c:pt idx="43">
                  <c:v>0.130441</c:v>
                </c:pt>
                <c:pt idx="44">
                  <c:v>0.019423</c:v>
                </c:pt>
                <c:pt idx="45">
                  <c:v>0.062213</c:v>
                </c:pt>
                <c:pt idx="46">
                  <c:v>0.034852</c:v>
                </c:pt>
                <c:pt idx="47">
                  <c:v>-0.162346</c:v>
                </c:pt>
                <c:pt idx="48">
                  <c:v>-0.028238</c:v>
                </c:pt>
                <c:pt idx="49">
                  <c:v>-0.050132</c:v>
                </c:pt>
                <c:pt idx="50">
                  <c:v>0.055892</c:v>
                </c:pt>
                <c:pt idx="51">
                  <c:v>-0.058725</c:v>
                </c:pt>
                <c:pt idx="52">
                  <c:v>0.017791</c:v>
                </c:pt>
                <c:pt idx="53">
                  <c:v>-0.315309</c:v>
                </c:pt>
                <c:pt idx="54">
                  <c:v>-0.147721</c:v>
                </c:pt>
                <c:pt idx="55">
                  <c:v>0.14363</c:v>
                </c:pt>
                <c:pt idx="56">
                  <c:v>-0.167723</c:v>
                </c:pt>
                <c:pt idx="57">
                  <c:v>-0.175025</c:v>
                </c:pt>
                <c:pt idx="58">
                  <c:v>0.100268</c:v>
                </c:pt>
                <c:pt idx="59">
                  <c:v>-0.099467</c:v>
                </c:pt>
                <c:pt idx="60">
                  <c:v>-0.175399</c:v>
                </c:pt>
                <c:pt idx="61">
                  <c:v>0.052735</c:v>
                </c:pt>
                <c:pt idx="62">
                  <c:v>-0.098552</c:v>
                </c:pt>
                <c:pt idx="63">
                  <c:v>-0.179948</c:v>
                </c:pt>
                <c:pt idx="64">
                  <c:v>0.191459</c:v>
                </c:pt>
                <c:pt idx="65">
                  <c:v>-0.218087</c:v>
                </c:pt>
                <c:pt idx="66">
                  <c:v>0.030118</c:v>
                </c:pt>
                <c:pt idx="67">
                  <c:v>0.056034</c:v>
                </c:pt>
                <c:pt idx="68">
                  <c:v>-0.080223</c:v>
                </c:pt>
                <c:pt idx="69">
                  <c:v>-0.019322</c:v>
                </c:pt>
                <c:pt idx="70">
                  <c:v>-0.346618</c:v>
                </c:pt>
                <c:pt idx="71">
                  <c:v>0.148525</c:v>
                </c:pt>
                <c:pt idx="72">
                  <c:v>-0.123887</c:v>
                </c:pt>
                <c:pt idx="73">
                  <c:v>-0.036239</c:v>
                </c:pt>
                <c:pt idx="74">
                  <c:v>-0.114575</c:v>
                </c:pt>
                <c:pt idx="75">
                  <c:v>-0.297657</c:v>
                </c:pt>
                <c:pt idx="76">
                  <c:v>-0.338808</c:v>
                </c:pt>
                <c:pt idx="77">
                  <c:v>-0.208818</c:v>
                </c:pt>
                <c:pt idx="78">
                  <c:v>0.029867</c:v>
                </c:pt>
                <c:pt idx="79">
                  <c:v>-0.1773</c:v>
                </c:pt>
                <c:pt idx="80">
                  <c:v>0.21726</c:v>
                </c:pt>
                <c:pt idx="81">
                  <c:v>-0.333058</c:v>
                </c:pt>
                <c:pt idx="82">
                  <c:v>-0.111607</c:v>
                </c:pt>
                <c:pt idx="83">
                  <c:v>-0.176039</c:v>
                </c:pt>
                <c:pt idx="84">
                  <c:v>-0.01037</c:v>
                </c:pt>
                <c:pt idx="85">
                  <c:v>-0.120872</c:v>
                </c:pt>
                <c:pt idx="86">
                  <c:v>-0.11268</c:v>
                </c:pt>
                <c:pt idx="87">
                  <c:v>-0.247074</c:v>
                </c:pt>
                <c:pt idx="88">
                  <c:v>-0.107652</c:v>
                </c:pt>
                <c:pt idx="89">
                  <c:v>-0.17663</c:v>
                </c:pt>
                <c:pt idx="90">
                  <c:v>-0.098771</c:v>
                </c:pt>
                <c:pt idx="91">
                  <c:v>-0.003647</c:v>
                </c:pt>
                <c:pt idx="92">
                  <c:v>0.137455</c:v>
                </c:pt>
                <c:pt idx="93">
                  <c:v>0.029308</c:v>
                </c:pt>
                <c:pt idx="94">
                  <c:v>0.075174</c:v>
                </c:pt>
                <c:pt idx="95">
                  <c:v>-0.33057</c:v>
                </c:pt>
                <c:pt idx="96">
                  <c:v>-0.029483</c:v>
                </c:pt>
                <c:pt idx="97">
                  <c:v>-0.148208</c:v>
                </c:pt>
                <c:pt idx="98">
                  <c:v>0.108824</c:v>
                </c:pt>
                <c:pt idx="99">
                  <c:v>-0.16003</c:v>
                </c:pt>
                <c:pt idx="100">
                  <c:v>-0.254317</c:v>
                </c:pt>
                <c:pt idx="101">
                  <c:v>0.031294</c:v>
                </c:pt>
                <c:pt idx="102">
                  <c:v>-0.236633</c:v>
                </c:pt>
                <c:pt idx="103">
                  <c:v>0.008055</c:v>
                </c:pt>
                <c:pt idx="104">
                  <c:v>0.105759</c:v>
                </c:pt>
                <c:pt idx="105">
                  <c:v>-0.340447</c:v>
                </c:pt>
                <c:pt idx="106">
                  <c:v>-0.019289</c:v>
                </c:pt>
                <c:pt idx="107">
                  <c:v>-0.29124</c:v>
                </c:pt>
                <c:pt idx="108">
                  <c:v>0.101936</c:v>
                </c:pt>
                <c:pt idx="109">
                  <c:v>0.073141</c:v>
                </c:pt>
                <c:pt idx="110">
                  <c:v>-0.229006</c:v>
                </c:pt>
                <c:pt idx="111">
                  <c:v>0.116396</c:v>
                </c:pt>
                <c:pt idx="112">
                  <c:v>-0.328682</c:v>
                </c:pt>
                <c:pt idx="113">
                  <c:v>-0.057446</c:v>
                </c:pt>
                <c:pt idx="114">
                  <c:v>-0.047966</c:v>
                </c:pt>
                <c:pt idx="115">
                  <c:v>-0.083632</c:v>
                </c:pt>
                <c:pt idx="116">
                  <c:v>-0.021641</c:v>
                </c:pt>
                <c:pt idx="117">
                  <c:v>-0.068559</c:v>
                </c:pt>
                <c:pt idx="118">
                  <c:v>-0.130955</c:v>
                </c:pt>
                <c:pt idx="119">
                  <c:v>-0.086822</c:v>
                </c:pt>
                <c:pt idx="120">
                  <c:v>-0.120194</c:v>
                </c:pt>
                <c:pt idx="121">
                  <c:v>-0.074527</c:v>
                </c:pt>
                <c:pt idx="122">
                  <c:v>0.010904</c:v>
                </c:pt>
                <c:pt idx="123">
                  <c:v>-0.106881</c:v>
                </c:pt>
                <c:pt idx="124">
                  <c:v>-0.187557</c:v>
                </c:pt>
                <c:pt idx="125">
                  <c:v>-0.240057</c:v>
                </c:pt>
                <c:pt idx="126">
                  <c:v>0.024203</c:v>
                </c:pt>
                <c:pt idx="127">
                  <c:v>0.122601</c:v>
                </c:pt>
                <c:pt idx="128">
                  <c:v>0.008408</c:v>
                </c:pt>
                <c:pt idx="129">
                  <c:v>0.072724</c:v>
                </c:pt>
                <c:pt idx="130">
                  <c:v>-0.005766</c:v>
                </c:pt>
                <c:pt idx="131">
                  <c:v>0.034938</c:v>
                </c:pt>
                <c:pt idx="132">
                  <c:v>-0.161041</c:v>
                </c:pt>
                <c:pt idx="133">
                  <c:v>-0.119534</c:v>
                </c:pt>
                <c:pt idx="134">
                  <c:v>-0.21111</c:v>
                </c:pt>
                <c:pt idx="135">
                  <c:v>0.07092</c:v>
                </c:pt>
                <c:pt idx="136">
                  <c:v>-0.334131</c:v>
                </c:pt>
                <c:pt idx="137">
                  <c:v>-0.027097</c:v>
                </c:pt>
                <c:pt idx="138">
                  <c:v>0.020326</c:v>
                </c:pt>
                <c:pt idx="139">
                  <c:v>-0.094921</c:v>
                </c:pt>
                <c:pt idx="140">
                  <c:v>-0.12941</c:v>
                </c:pt>
                <c:pt idx="141">
                  <c:v>-0.005376</c:v>
                </c:pt>
                <c:pt idx="142">
                  <c:v>-0.088628</c:v>
                </c:pt>
                <c:pt idx="143">
                  <c:v>0.109679</c:v>
                </c:pt>
                <c:pt idx="144">
                  <c:v>0.017127</c:v>
                </c:pt>
                <c:pt idx="145">
                  <c:v>-0.044776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6"/>
        </c:scaling>
        <c:delete val="0"/>
        <c:axPos val="l"/>
        <c:majorGridlines>
          <c:spPr>
            <a:ln xmlns:a="http://schemas.openxmlformats.org/drawingml/2006/main" w="5715">
              <a:solidFill>
                <a:srgbClr val="E5E7EA"/>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majorUnit val="0.6"/>
      </c:valAx>
      <c:valAx>
        <c:axId val="48650112"/>
        <c:scaling>
          <c:orientation val="minMax"/>
          <c:max val="0.6"/>
          <c:min val="-0.6"/>
        </c:scaling>
        <c:delete val="0"/>
        <c:axPos val="b"/>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majorUnit val="0.6"/>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b="1">
                <a:solidFill>
                  <a:srgbClr val="2861FF"/>
                </a:solidFill>
                <a:latin typeface="Arial"/>
                <a:ea typeface="Arial"/>
                <a:cs typeface="Arial"/>
              </a:rPr>
              <a:t>C1  (n = 336)</a:t>
            </a:r>
          </a:p>
        </c:rich>
      </c:tx>
      <c:overlay val="0"/>
      <c:txPr>
        <a:bodyPr xmlns:a="http://schemas.openxmlformats.org/drawingml/2006/main" anchorCtr="1"/>
        <a:lstStyle xmlns:a="http://schemas.openxmlformats.org/drawingml/2006/main"/>
        <a:p xmlns:a="http://schemas.openxmlformats.org/drawingml/2006/main">
          <a:pPr>
            <a:defRPr sz="1500" b="1">
              <a:solidFill>
                <a:srgbClr val="2861FF"/>
              </a:solidFill>
              <a:latin typeface="Arial"/>
              <a:ea typeface="Arial"/>
              <a:cs typeface="Arial"/>
            </a:defRPr>
          </a:pPr>
        </a:p>
      </c:txPr>
    </c:title>
    <c:plotArea>
      <c:scatterChart>
        <c:scatterStyle val="marker"/>
        <c:ser>
          <c:idx val="0"/>
          <c:order val="0"/>
          <c:tx>
            <c:v>C1</c:v>
          </c:tx>
          <c:spPr>
            <a:solidFill xmlns:a="http://schemas.openxmlformats.org/drawingml/2006/main">
              <a:srgbClr val="2861FF"/>
            </a:solidFill>
            <a:ln xmlns:a="http://schemas.openxmlformats.org/drawingml/2006/main" w="0">
              <a:noFill/>
            </a:ln>
          </c:spPr>
          <c:marker>
            <c:symbol val="circle"/>
            <c:size val="3"/>
            <c:spPr>
              <ns0:solidFill xmlns:ns0="http://schemas.openxmlformats.org/drawingml/2006/main">
                <ns0:srgbClr val="2861FF"/>
              </ns0:solidFill>
              <ns1:ln xmlns:ns1="http://schemas.openxmlformats.org/drawingml/2006/main" w="0">
                <ns1:noFill/>
              </ns1:ln>
            </c:spPr>
          </c:marker>
          <c:xVal>
            <c:numRef>
              <c:f>'Chart Data'!$A$2:$A$337</c:f>
              <c:numCache>
                <c:formatCode>General</c:formatCode>
                <c:ptCount val="336"/>
                <c:pt idx="0">
                  <c:v>-0.018675</c:v>
                </c:pt>
                <c:pt idx="1">
                  <c:v>-0.04225</c:v>
                </c:pt>
                <c:pt idx="2">
                  <c:v>-0.276888</c:v>
                </c:pt>
                <c:pt idx="3">
                  <c:v>-0.10055</c:v>
                </c:pt>
                <c:pt idx="4">
                  <c:v>-0.176851</c:v>
                </c:pt>
                <c:pt idx="5">
                  <c:v>-0.264409</c:v>
                </c:pt>
                <c:pt idx="6">
                  <c:v>-0.143299</c:v>
                </c:pt>
                <c:pt idx="7">
                  <c:v>-0.176359</c:v>
                </c:pt>
                <c:pt idx="8">
                  <c:v>0.090826</c:v>
                </c:pt>
                <c:pt idx="9">
                  <c:v>-0.060632</c:v>
                </c:pt>
                <c:pt idx="10">
                  <c:v>-0.232945</c:v>
                </c:pt>
                <c:pt idx="11">
                  <c:v>-0.094655</c:v>
                </c:pt>
                <c:pt idx="12">
                  <c:v>-0.058782</c:v>
                </c:pt>
                <c:pt idx="13">
                  <c:v>-0.18106</c:v>
                </c:pt>
                <c:pt idx="14">
                  <c:v>-0.085835</c:v>
                </c:pt>
                <c:pt idx="15">
                  <c:v>-0.046001</c:v>
                </c:pt>
                <c:pt idx="16">
                  <c:v>-0.061854</c:v>
                </c:pt>
                <c:pt idx="17">
                  <c:v>-0.172379</c:v>
                </c:pt>
                <c:pt idx="18">
                  <c:v>-0.046441</c:v>
                </c:pt>
                <c:pt idx="19">
                  <c:v>-0.120876</c:v>
                </c:pt>
                <c:pt idx="20">
                  <c:v>-0.152762</c:v>
                </c:pt>
                <c:pt idx="21">
                  <c:v>-0.094044</c:v>
                </c:pt>
                <c:pt idx="22">
                  <c:v>-0.129801</c:v>
                </c:pt>
                <c:pt idx="23">
                  <c:v>-0.096005</c:v>
                </c:pt>
                <c:pt idx="24">
                  <c:v>-0.006925</c:v>
                </c:pt>
                <c:pt idx="25">
                  <c:v>-0.093975</c:v>
                </c:pt>
                <c:pt idx="26">
                  <c:v>-0.056168</c:v>
                </c:pt>
                <c:pt idx="27">
                  <c:v>-0.146216</c:v>
                </c:pt>
                <c:pt idx="28">
                  <c:v>-0.177217</c:v>
                </c:pt>
                <c:pt idx="29">
                  <c:v>-0.108669</c:v>
                </c:pt>
                <c:pt idx="30">
                  <c:v>-0.185945</c:v>
                </c:pt>
                <c:pt idx="31">
                  <c:v>-0.021469</c:v>
                </c:pt>
                <c:pt idx="32">
                  <c:v>-0.279564</c:v>
                </c:pt>
                <c:pt idx="33">
                  <c:v>-0.003917</c:v>
                </c:pt>
                <c:pt idx="34">
                  <c:v>-0.360673</c:v>
                </c:pt>
                <c:pt idx="35">
                  <c:v>-0.152855</c:v>
                </c:pt>
                <c:pt idx="36">
                  <c:v>-0.174467</c:v>
                </c:pt>
                <c:pt idx="37">
                  <c:v>-0.101188</c:v>
                </c:pt>
                <c:pt idx="38">
                  <c:v>-0.115423</c:v>
                </c:pt>
                <c:pt idx="39">
                  <c:v>-0.078661</c:v>
                </c:pt>
                <c:pt idx="40">
                  <c:v>-0.018146</c:v>
                </c:pt>
                <c:pt idx="41">
                  <c:v>-0.02743</c:v>
                </c:pt>
                <c:pt idx="42">
                  <c:v>-0.038253</c:v>
                </c:pt>
                <c:pt idx="43">
                  <c:v>-0.186879</c:v>
                </c:pt>
                <c:pt idx="44">
                  <c:v>-0.049791</c:v>
                </c:pt>
                <c:pt idx="45">
                  <c:v>-0.088646</c:v>
                </c:pt>
                <c:pt idx="46">
                  <c:v>-0.023207</c:v>
                </c:pt>
                <c:pt idx="47">
                  <c:v>-0.195706</c:v>
                </c:pt>
                <c:pt idx="48">
                  <c:v>0.069301</c:v>
                </c:pt>
                <c:pt idx="49">
                  <c:v>-0.123727</c:v>
                </c:pt>
                <c:pt idx="50">
                  <c:v>-0.156263</c:v>
                </c:pt>
                <c:pt idx="51">
                  <c:v>-0.002082</c:v>
                </c:pt>
                <c:pt idx="52">
                  <c:v>-0.224438</c:v>
                </c:pt>
                <c:pt idx="53">
                  <c:v>-0.205052</c:v>
                </c:pt>
                <c:pt idx="54">
                  <c:v>-0.272172</c:v>
                </c:pt>
                <c:pt idx="55">
                  <c:v>0.012789</c:v>
                </c:pt>
                <c:pt idx="56">
                  <c:v>0.021522</c:v>
                </c:pt>
                <c:pt idx="57">
                  <c:v>-0.118752</c:v>
                </c:pt>
                <c:pt idx="58">
                  <c:v>-0.029963</c:v>
                </c:pt>
                <c:pt idx="59">
                  <c:v>-0.135847</c:v>
                </c:pt>
                <c:pt idx="60">
                  <c:v>-0.144121</c:v>
                </c:pt>
                <c:pt idx="61">
                  <c:v>0.036578</c:v>
                </c:pt>
                <c:pt idx="62">
                  <c:v>-0.075743</c:v>
                </c:pt>
                <c:pt idx="63">
                  <c:v>-0.109779</c:v>
                </c:pt>
                <c:pt idx="64">
                  <c:v>-0.20133</c:v>
                </c:pt>
                <c:pt idx="65">
                  <c:v>-0.078204</c:v>
                </c:pt>
                <c:pt idx="66">
                  <c:v>-0.136187</c:v>
                </c:pt>
                <c:pt idx="67">
                  <c:v>-0.015485</c:v>
                </c:pt>
                <c:pt idx="68">
                  <c:v>-0.171067</c:v>
                </c:pt>
                <c:pt idx="69">
                  <c:v>-0.000994</c:v>
                </c:pt>
                <c:pt idx="70">
                  <c:v>0.024231</c:v>
                </c:pt>
                <c:pt idx="71">
                  <c:v>-0.165945</c:v>
                </c:pt>
                <c:pt idx="72">
                  <c:v>-0.172242</c:v>
                </c:pt>
                <c:pt idx="73">
                  <c:v>-0.255314</c:v>
                </c:pt>
                <c:pt idx="74">
                  <c:v>-0.066202</c:v>
                </c:pt>
                <c:pt idx="75">
                  <c:v>-0.135873</c:v>
                </c:pt>
                <c:pt idx="76">
                  <c:v>-0.000416</c:v>
                </c:pt>
                <c:pt idx="77">
                  <c:v>0.035554</c:v>
                </c:pt>
                <c:pt idx="78">
                  <c:v>-0.054716</c:v>
                </c:pt>
                <c:pt idx="79">
                  <c:v>-0.24166</c:v>
                </c:pt>
                <c:pt idx="80">
                  <c:v>-0.345799</c:v>
                </c:pt>
                <c:pt idx="81">
                  <c:v>-0.024738</c:v>
                </c:pt>
                <c:pt idx="82">
                  <c:v>-0.212149</c:v>
                </c:pt>
                <c:pt idx="83">
                  <c:v>-0.152888</c:v>
                </c:pt>
                <c:pt idx="84">
                  <c:v>-0.016053</c:v>
                </c:pt>
                <c:pt idx="85">
                  <c:v>-0.107787</c:v>
                </c:pt>
                <c:pt idx="86">
                  <c:v>-0.287291</c:v>
                </c:pt>
                <c:pt idx="87">
                  <c:v>-0.123597</c:v>
                </c:pt>
                <c:pt idx="88">
                  <c:v>-0.285643</c:v>
                </c:pt>
                <c:pt idx="89">
                  <c:v>-0.243605</c:v>
                </c:pt>
                <c:pt idx="90">
                  <c:v>-0.168332</c:v>
                </c:pt>
                <c:pt idx="91">
                  <c:v>-0.153689</c:v>
                </c:pt>
                <c:pt idx="92">
                  <c:v>-0.229056</c:v>
                </c:pt>
                <c:pt idx="93">
                  <c:v>-0.06894</c:v>
                </c:pt>
                <c:pt idx="94">
                  <c:v>-0.142203</c:v>
                </c:pt>
                <c:pt idx="95">
                  <c:v>-0.231505</c:v>
                </c:pt>
                <c:pt idx="96">
                  <c:v>-0.059469</c:v>
                </c:pt>
                <c:pt idx="97">
                  <c:v>-0.070796</c:v>
                </c:pt>
                <c:pt idx="98">
                  <c:v>-0.205735</c:v>
                </c:pt>
                <c:pt idx="99">
                  <c:v>-0.151426</c:v>
                </c:pt>
                <c:pt idx="100">
                  <c:v>-0.217763</c:v>
                </c:pt>
                <c:pt idx="101">
                  <c:v>-0.129691</c:v>
                </c:pt>
                <c:pt idx="102">
                  <c:v>-0.234338</c:v>
                </c:pt>
                <c:pt idx="103">
                  <c:v>-0.129205</c:v>
                </c:pt>
                <c:pt idx="104">
                  <c:v>-0.109076</c:v>
                </c:pt>
                <c:pt idx="105">
                  <c:v>-0.075536</c:v>
                </c:pt>
                <c:pt idx="106">
                  <c:v>-0.18499</c:v>
                </c:pt>
                <c:pt idx="107">
                  <c:v>0.001994</c:v>
                </c:pt>
                <c:pt idx="108">
                  <c:v>-0.196424</c:v>
                </c:pt>
                <c:pt idx="109">
                  <c:v>-0.27057</c:v>
                </c:pt>
                <c:pt idx="110">
                  <c:v>-0.12048</c:v>
                </c:pt>
                <c:pt idx="111">
                  <c:v>-0.106875</c:v>
                </c:pt>
                <c:pt idx="112">
                  <c:v>-0.042403</c:v>
                </c:pt>
                <c:pt idx="113">
                  <c:v>-0.156615</c:v>
                </c:pt>
                <c:pt idx="114">
                  <c:v>-0.076398</c:v>
                </c:pt>
                <c:pt idx="115">
                  <c:v>-0.189954</c:v>
                </c:pt>
                <c:pt idx="116">
                  <c:v>0.002295</c:v>
                </c:pt>
                <c:pt idx="117">
                  <c:v>-0.181002</c:v>
                </c:pt>
                <c:pt idx="118">
                  <c:v>-0.177389</c:v>
                </c:pt>
                <c:pt idx="119">
                  <c:v>-0.084736</c:v>
                </c:pt>
                <c:pt idx="120">
                  <c:v>-0.209337</c:v>
                </c:pt>
                <c:pt idx="121">
                  <c:v>-0.041373</c:v>
                </c:pt>
                <c:pt idx="122">
                  <c:v>-0.220081</c:v>
                </c:pt>
                <c:pt idx="123">
                  <c:v>-0.14223</c:v>
                </c:pt>
                <c:pt idx="124">
                  <c:v>-0.201835</c:v>
                </c:pt>
                <c:pt idx="125">
                  <c:v>-0.175868</c:v>
                </c:pt>
                <c:pt idx="126">
                  <c:v>-0.021036</c:v>
                </c:pt>
                <c:pt idx="127">
                  <c:v>-0.17085</c:v>
                </c:pt>
                <c:pt idx="128">
                  <c:v>-0.057714</c:v>
                </c:pt>
                <c:pt idx="129">
                  <c:v>-0.159335</c:v>
                </c:pt>
                <c:pt idx="130">
                  <c:v>-0.386266</c:v>
                </c:pt>
                <c:pt idx="131">
                  <c:v>-0.213366</c:v>
                </c:pt>
                <c:pt idx="132">
                  <c:v>-0.212858</c:v>
                </c:pt>
                <c:pt idx="133">
                  <c:v>-0.019977</c:v>
                </c:pt>
                <c:pt idx="134">
                  <c:v>-0.259959</c:v>
                </c:pt>
                <c:pt idx="135">
                  <c:v>-0.353363</c:v>
                </c:pt>
                <c:pt idx="136">
                  <c:v>-0.087354</c:v>
                </c:pt>
                <c:pt idx="137">
                  <c:v>0.044149</c:v>
                </c:pt>
                <c:pt idx="138">
                  <c:v>-0.053678</c:v>
                </c:pt>
                <c:pt idx="139">
                  <c:v>-0.225738</c:v>
                </c:pt>
                <c:pt idx="140">
                  <c:v>-0.199451</c:v>
                </c:pt>
                <c:pt idx="141">
                  <c:v>-0.239074</c:v>
                </c:pt>
                <c:pt idx="142">
                  <c:v>-0.22881</c:v>
                </c:pt>
                <c:pt idx="143">
                  <c:v>-0.120214</c:v>
                </c:pt>
                <c:pt idx="144">
                  <c:v>-0.287215</c:v>
                </c:pt>
                <c:pt idx="145">
                  <c:v>-0.038792</c:v>
                </c:pt>
                <c:pt idx="146">
                  <c:v>-0.123454</c:v>
                </c:pt>
                <c:pt idx="147">
                  <c:v>-0.266615</c:v>
                </c:pt>
                <c:pt idx="148">
                  <c:v>-0.009392</c:v>
                </c:pt>
                <c:pt idx="149">
                  <c:v>-0.223917</c:v>
                </c:pt>
                <c:pt idx="150">
                  <c:v>-0.228142</c:v>
                </c:pt>
                <c:pt idx="151">
                  <c:v>-0.104523</c:v>
                </c:pt>
                <c:pt idx="152">
                  <c:v>-0.055613</c:v>
                </c:pt>
                <c:pt idx="153">
                  <c:v>0.020765</c:v>
                </c:pt>
                <c:pt idx="154">
                  <c:v>0.078066</c:v>
                </c:pt>
                <c:pt idx="155">
                  <c:v>-0.008966</c:v>
                </c:pt>
                <c:pt idx="156">
                  <c:v>-0.126609</c:v>
                </c:pt>
                <c:pt idx="157">
                  <c:v>-0.072168</c:v>
                </c:pt>
                <c:pt idx="158">
                  <c:v>-0.19249</c:v>
                </c:pt>
                <c:pt idx="159">
                  <c:v>-0.206278</c:v>
                </c:pt>
                <c:pt idx="160">
                  <c:v>-0.310718</c:v>
                </c:pt>
                <c:pt idx="161">
                  <c:v>-0.059827</c:v>
                </c:pt>
                <c:pt idx="162">
                  <c:v>-0.029338</c:v>
                </c:pt>
                <c:pt idx="163">
                  <c:v>-0.127865</c:v>
                </c:pt>
                <c:pt idx="164">
                  <c:v>-0.027964</c:v>
                </c:pt>
                <c:pt idx="165">
                  <c:v>0.039845</c:v>
                </c:pt>
                <c:pt idx="166">
                  <c:v>-0.163944</c:v>
                </c:pt>
                <c:pt idx="167">
                  <c:v>-0.197754</c:v>
                </c:pt>
                <c:pt idx="168">
                  <c:v>-0.138995</c:v>
                </c:pt>
                <c:pt idx="169">
                  <c:v>-0.074801</c:v>
                </c:pt>
                <c:pt idx="170">
                  <c:v>-0.181298</c:v>
                </c:pt>
                <c:pt idx="171">
                  <c:v>-0.088392</c:v>
                </c:pt>
                <c:pt idx="172">
                  <c:v>-0.070142</c:v>
                </c:pt>
                <c:pt idx="173">
                  <c:v>-0.117801</c:v>
                </c:pt>
                <c:pt idx="174">
                  <c:v>-0.122477</c:v>
                </c:pt>
                <c:pt idx="175">
                  <c:v>-0.15102</c:v>
                </c:pt>
                <c:pt idx="176">
                  <c:v>-0.141647</c:v>
                </c:pt>
                <c:pt idx="177">
                  <c:v>-0.022778</c:v>
                </c:pt>
                <c:pt idx="178">
                  <c:v>-0.063147</c:v>
                </c:pt>
                <c:pt idx="179">
                  <c:v>-0.231076</c:v>
                </c:pt>
                <c:pt idx="180">
                  <c:v>-0.275977</c:v>
                </c:pt>
                <c:pt idx="181">
                  <c:v>-0.018675</c:v>
                </c:pt>
                <c:pt idx="182">
                  <c:v>-0.094602</c:v>
                </c:pt>
                <c:pt idx="183">
                  <c:v>-0.083197</c:v>
                </c:pt>
                <c:pt idx="184">
                  <c:v>-0.082383</c:v>
                </c:pt>
                <c:pt idx="185">
                  <c:v>-0.170892</c:v>
                </c:pt>
                <c:pt idx="186">
                  <c:v>-0.054263</c:v>
                </c:pt>
                <c:pt idx="187">
                  <c:v>-0.091453</c:v>
                </c:pt>
                <c:pt idx="188">
                  <c:v>-0.019343</c:v>
                </c:pt>
                <c:pt idx="189">
                  <c:v>-0.158037</c:v>
                </c:pt>
                <c:pt idx="190">
                  <c:v>-0.203936</c:v>
                </c:pt>
                <c:pt idx="191">
                  <c:v>-0.005353</c:v>
                </c:pt>
                <c:pt idx="192">
                  <c:v>-0.068929</c:v>
                </c:pt>
                <c:pt idx="193">
                  <c:v>-0.141671</c:v>
                </c:pt>
                <c:pt idx="194">
                  <c:v>-0.17968</c:v>
                </c:pt>
                <c:pt idx="195">
                  <c:v>-0.166357</c:v>
                </c:pt>
                <c:pt idx="196">
                  <c:v>-0.085945</c:v>
                </c:pt>
                <c:pt idx="197">
                  <c:v>-0.043426</c:v>
                </c:pt>
                <c:pt idx="198">
                  <c:v>-0.022928</c:v>
                </c:pt>
                <c:pt idx="199">
                  <c:v>-0.131054</c:v>
                </c:pt>
                <c:pt idx="200">
                  <c:v>0.043976</c:v>
                </c:pt>
                <c:pt idx="201">
                  <c:v>-0.08501</c:v>
                </c:pt>
                <c:pt idx="202">
                  <c:v>-0.000512</c:v>
                </c:pt>
                <c:pt idx="203">
                  <c:v>-0.190948</c:v>
                </c:pt>
                <c:pt idx="204">
                  <c:v>-0.082808</c:v>
                </c:pt>
                <c:pt idx="205">
                  <c:v>-0.224925</c:v>
                </c:pt>
                <c:pt idx="206">
                  <c:v>-0.13798</c:v>
                </c:pt>
                <c:pt idx="207">
                  <c:v>-0.219364</c:v>
                </c:pt>
                <c:pt idx="208">
                  <c:v>-0.103959</c:v>
                </c:pt>
                <c:pt idx="209">
                  <c:v>-0.15901</c:v>
                </c:pt>
                <c:pt idx="210">
                  <c:v>-0.272301</c:v>
                </c:pt>
                <c:pt idx="211">
                  <c:v>-0.179823</c:v>
                </c:pt>
                <c:pt idx="212">
                  <c:v>-0.05589</c:v>
                </c:pt>
                <c:pt idx="213">
                  <c:v>0.059108</c:v>
                </c:pt>
                <c:pt idx="214">
                  <c:v>-0.16828</c:v>
                </c:pt>
                <c:pt idx="215">
                  <c:v>-0.104997</c:v>
                </c:pt>
                <c:pt idx="216">
                  <c:v>-0.262124</c:v>
                </c:pt>
                <c:pt idx="217">
                  <c:v>-0.178002</c:v>
                </c:pt>
                <c:pt idx="218">
                  <c:v>-0.115592</c:v>
                </c:pt>
                <c:pt idx="219">
                  <c:v>-0.072613</c:v>
                </c:pt>
                <c:pt idx="220">
                  <c:v>-0.276751</c:v>
                </c:pt>
                <c:pt idx="221">
                  <c:v>-0.191025</c:v>
                </c:pt>
                <c:pt idx="222">
                  <c:v>-0.058767</c:v>
                </c:pt>
                <c:pt idx="223">
                  <c:v>-0.148148</c:v>
                </c:pt>
                <c:pt idx="224">
                  <c:v>-0.211203</c:v>
                </c:pt>
                <c:pt idx="225">
                  <c:v>-0.13177</c:v>
                </c:pt>
                <c:pt idx="226">
                  <c:v>-0.22321</c:v>
                </c:pt>
                <c:pt idx="227">
                  <c:v>-0.079559</c:v>
                </c:pt>
                <c:pt idx="228">
                  <c:v>-0.055415</c:v>
                </c:pt>
                <c:pt idx="229">
                  <c:v>-0.253805</c:v>
                </c:pt>
                <c:pt idx="230">
                  <c:v>0.037006</c:v>
                </c:pt>
                <c:pt idx="231">
                  <c:v>0.003245</c:v>
                </c:pt>
                <c:pt idx="232">
                  <c:v>-0.167421</c:v>
                </c:pt>
                <c:pt idx="233">
                  <c:v>-0.181175</c:v>
                </c:pt>
                <c:pt idx="234">
                  <c:v>-0.149907</c:v>
                </c:pt>
                <c:pt idx="235">
                  <c:v>-0.182307</c:v>
                </c:pt>
                <c:pt idx="236">
                  <c:v>-0.151409</c:v>
                </c:pt>
                <c:pt idx="237">
                  <c:v>-0.078354</c:v>
                </c:pt>
                <c:pt idx="238">
                  <c:v>-0.203269</c:v>
                </c:pt>
                <c:pt idx="239">
                  <c:v>-0.206722</c:v>
                </c:pt>
                <c:pt idx="240">
                  <c:v>0.027705</c:v>
                </c:pt>
                <c:pt idx="241">
                  <c:v>-0.199402</c:v>
                </c:pt>
                <c:pt idx="242">
                  <c:v>-0.266656</c:v>
                </c:pt>
                <c:pt idx="243">
                  <c:v>-0.113834</c:v>
                </c:pt>
                <c:pt idx="244">
                  <c:v>-0.149073</c:v>
                </c:pt>
                <c:pt idx="245">
                  <c:v>-0.229471</c:v>
                </c:pt>
                <c:pt idx="246">
                  <c:v>-0.157175</c:v>
                </c:pt>
                <c:pt idx="247">
                  <c:v>-0.206444</c:v>
                </c:pt>
                <c:pt idx="248">
                  <c:v>-0.178575</c:v>
                </c:pt>
                <c:pt idx="249">
                  <c:v>-0.135088</c:v>
                </c:pt>
                <c:pt idx="250">
                  <c:v>-0.184664</c:v>
                </c:pt>
                <c:pt idx="251">
                  <c:v>-0.158181</c:v>
                </c:pt>
                <c:pt idx="252">
                  <c:v>-0.096898</c:v>
                </c:pt>
                <c:pt idx="253">
                  <c:v>-0.086648</c:v>
                </c:pt>
                <c:pt idx="254">
                  <c:v>-0.165651</c:v>
                </c:pt>
                <c:pt idx="255">
                  <c:v>-0.250735</c:v>
                </c:pt>
                <c:pt idx="256">
                  <c:v>-0.011886</c:v>
                </c:pt>
                <c:pt idx="257">
                  <c:v>-0.248081</c:v>
                </c:pt>
                <c:pt idx="258">
                  <c:v>-0.18599</c:v>
                </c:pt>
                <c:pt idx="259">
                  <c:v>-0.077914</c:v>
                </c:pt>
                <c:pt idx="260">
                  <c:v>-0.100452</c:v>
                </c:pt>
                <c:pt idx="261">
                  <c:v>-0.169322</c:v>
                </c:pt>
                <c:pt idx="262">
                  <c:v>0.086467</c:v>
                </c:pt>
                <c:pt idx="263">
                  <c:v>-0.004451</c:v>
                </c:pt>
                <c:pt idx="264">
                  <c:v>-0.118585</c:v>
                </c:pt>
                <c:pt idx="265">
                  <c:v>-0.150682</c:v>
                </c:pt>
                <c:pt idx="266">
                  <c:v>-0.111294</c:v>
                </c:pt>
                <c:pt idx="267">
                  <c:v>-0.249957</c:v>
                </c:pt>
                <c:pt idx="268">
                  <c:v>0.024812</c:v>
                </c:pt>
                <c:pt idx="269">
                  <c:v>-0.163792</c:v>
                </c:pt>
                <c:pt idx="270">
                  <c:v>0.033086</c:v>
                </c:pt>
                <c:pt idx="271">
                  <c:v>-0.12051</c:v>
                </c:pt>
                <c:pt idx="272">
                  <c:v>-0.293042</c:v>
                </c:pt>
                <c:pt idx="273">
                  <c:v>-0.146784</c:v>
                </c:pt>
                <c:pt idx="274">
                  <c:v>-0.036193</c:v>
                </c:pt>
                <c:pt idx="275">
                  <c:v>-0.234423</c:v>
                </c:pt>
                <c:pt idx="276">
                  <c:v>0.059733</c:v>
                </c:pt>
                <c:pt idx="277">
                  <c:v>-0.250886</c:v>
                </c:pt>
                <c:pt idx="278">
                  <c:v>-0.213059</c:v>
                </c:pt>
                <c:pt idx="279">
                  <c:v>-0.219071</c:v>
                </c:pt>
                <c:pt idx="280">
                  <c:v>-0.066342</c:v>
                </c:pt>
                <c:pt idx="281">
                  <c:v>-0.181664</c:v>
                </c:pt>
                <c:pt idx="282">
                  <c:v>-0.135021</c:v>
                </c:pt>
                <c:pt idx="283">
                  <c:v>-0.269552</c:v>
                </c:pt>
                <c:pt idx="284">
                  <c:v>-0.116208</c:v>
                </c:pt>
                <c:pt idx="285">
                  <c:v>-0.327486</c:v>
                </c:pt>
                <c:pt idx="286">
                  <c:v>-0.02269</c:v>
                </c:pt>
                <c:pt idx="287">
                  <c:v>-0.00378</c:v>
                </c:pt>
                <c:pt idx="288">
                  <c:v>-0.076297</c:v>
                </c:pt>
                <c:pt idx="289">
                  <c:v>-0.099137</c:v>
                </c:pt>
                <c:pt idx="290">
                  <c:v>-0.210291</c:v>
                </c:pt>
                <c:pt idx="291">
                  <c:v>-0.10684</c:v>
                </c:pt>
                <c:pt idx="292">
                  <c:v>-0.153915</c:v>
                </c:pt>
                <c:pt idx="293">
                  <c:v>-0.167783</c:v>
                </c:pt>
                <c:pt idx="294">
                  <c:v>-0.082911</c:v>
                </c:pt>
                <c:pt idx="295">
                  <c:v>-0.154271</c:v>
                </c:pt>
                <c:pt idx="296">
                  <c:v>-0.150061</c:v>
                </c:pt>
                <c:pt idx="297">
                  <c:v>-0.251909</c:v>
                </c:pt>
                <c:pt idx="298">
                  <c:v>-0.141637</c:v>
                </c:pt>
                <c:pt idx="299">
                  <c:v>-0.166376</c:v>
                </c:pt>
                <c:pt idx="300">
                  <c:v>-0.172012</c:v>
                </c:pt>
                <c:pt idx="301">
                  <c:v>-0.150657</c:v>
                </c:pt>
                <c:pt idx="302">
                  <c:v>-0.208905</c:v>
                </c:pt>
                <c:pt idx="303">
                  <c:v>-0.273215</c:v>
                </c:pt>
                <c:pt idx="304">
                  <c:v>-0.213209</c:v>
                </c:pt>
                <c:pt idx="305">
                  <c:v>-0.007115</c:v>
                </c:pt>
                <c:pt idx="306">
                  <c:v>0.001158</c:v>
                </c:pt>
                <c:pt idx="307">
                  <c:v>0.01007</c:v>
                </c:pt>
                <c:pt idx="308">
                  <c:v>-0.075275</c:v>
                </c:pt>
                <c:pt idx="309">
                  <c:v>-0.342845</c:v>
                </c:pt>
                <c:pt idx="310">
                  <c:v>-0.091242</c:v>
                </c:pt>
                <c:pt idx="311">
                  <c:v>-0.036746</c:v>
                </c:pt>
                <c:pt idx="312">
                  <c:v>-0.144211</c:v>
                </c:pt>
                <c:pt idx="313">
                  <c:v>-0.184826</c:v>
                </c:pt>
                <c:pt idx="314">
                  <c:v>-0.078186</c:v>
                </c:pt>
                <c:pt idx="315">
                  <c:v>-0.128383</c:v>
                </c:pt>
                <c:pt idx="316">
                  <c:v>-0.043807</c:v>
                </c:pt>
                <c:pt idx="317">
                  <c:v>-0.254084</c:v>
                </c:pt>
                <c:pt idx="318">
                  <c:v>-0.102524</c:v>
                </c:pt>
                <c:pt idx="319">
                  <c:v>-0.149383</c:v>
                </c:pt>
                <c:pt idx="320">
                  <c:v>-0.101309</c:v>
                </c:pt>
                <c:pt idx="321">
                  <c:v>-0.061153</c:v>
                </c:pt>
                <c:pt idx="322">
                  <c:v>-0.066127</c:v>
                </c:pt>
                <c:pt idx="323">
                  <c:v>0.027557</c:v>
                </c:pt>
                <c:pt idx="324">
                  <c:v>-0.077757</c:v>
                </c:pt>
                <c:pt idx="325">
                  <c:v>-0.214822</c:v>
                </c:pt>
                <c:pt idx="326">
                  <c:v>-0.186849</c:v>
                </c:pt>
                <c:pt idx="327">
                  <c:v>-0.026998</c:v>
                </c:pt>
                <c:pt idx="328">
                  <c:v>-0.209254</c:v>
                </c:pt>
                <c:pt idx="329">
                  <c:v>-0.011083</c:v>
                </c:pt>
                <c:pt idx="330">
                  <c:v>-0.022914</c:v>
                </c:pt>
                <c:pt idx="331">
                  <c:v>-0.149785</c:v>
                </c:pt>
                <c:pt idx="332">
                  <c:v>-0.223684</c:v>
                </c:pt>
                <c:pt idx="333">
                  <c:v>-0.250653</c:v>
                </c:pt>
                <c:pt idx="334">
                  <c:v>-0.254508</c:v>
                </c:pt>
                <c:pt idx="335">
                  <c:v>-0.212124</c:v>
                </c:pt>
              </c:numCache>
            </c:numRef>
          </c:xVal>
          <c:yVal>
            <c:numRef>
              <c:f>'Chart Data'!$B$2:$B$337</c:f>
              <c:numCache>
                <c:formatCode>0.0</c:formatCode>
                <c:ptCount val="336"/>
                <c:pt idx="0">
                  <c:v>-0.00523</c:v>
                </c:pt>
                <c:pt idx="1">
                  <c:v>0.108726</c:v>
                </c:pt>
                <c:pt idx="2">
                  <c:v>0.086112</c:v>
                </c:pt>
                <c:pt idx="3">
                  <c:v>-0.080731</c:v>
                </c:pt>
                <c:pt idx="4">
                  <c:v>0.03531</c:v>
                </c:pt>
                <c:pt idx="5">
                  <c:v>0.09672</c:v>
                </c:pt>
                <c:pt idx="6">
                  <c:v>0.13004</c:v>
                </c:pt>
                <c:pt idx="7">
                  <c:v>-0.197307</c:v>
                </c:pt>
                <c:pt idx="8">
                  <c:v>0.183763</c:v>
                </c:pt>
                <c:pt idx="9">
                  <c:v>-0.068638</c:v>
                </c:pt>
                <c:pt idx="10">
                  <c:v>-0.176277</c:v>
                </c:pt>
                <c:pt idx="11">
                  <c:v>-0.053132</c:v>
                </c:pt>
                <c:pt idx="12">
                  <c:v>0.156101</c:v>
                </c:pt>
                <c:pt idx="13">
                  <c:v>-0.099172</c:v>
                </c:pt>
                <c:pt idx="14">
                  <c:v>0.06007</c:v>
                </c:pt>
                <c:pt idx="15">
                  <c:v>0.049017</c:v>
                </c:pt>
                <c:pt idx="16">
                  <c:v>0.080144</c:v>
                </c:pt>
                <c:pt idx="17">
                  <c:v>0.080191</c:v>
                </c:pt>
                <c:pt idx="18">
                  <c:v>0.144877</c:v>
                </c:pt>
                <c:pt idx="19">
                  <c:v>-0.033267</c:v>
                </c:pt>
                <c:pt idx="20">
                  <c:v>0.084182</c:v>
                </c:pt>
                <c:pt idx="21">
                  <c:v>-0.117199</c:v>
                </c:pt>
                <c:pt idx="22">
                  <c:v>0.239993</c:v>
                </c:pt>
                <c:pt idx="23">
                  <c:v>0.334995</c:v>
                </c:pt>
                <c:pt idx="24">
                  <c:v>0.088946</c:v>
                </c:pt>
                <c:pt idx="25">
                  <c:v>0.105902</c:v>
                </c:pt>
                <c:pt idx="26">
                  <c:v>0.107292</c:v>
                </c:pt>
                <c:pt idx="27">
                  <c:v>-0.088261</c:v>
                </c:pt>
                <c:pt idx="28">
                  <c:v>0.014762</c:v>
                </c:pt>
                <c:pt idx="29">
                  <c:v>0.162417</c:v>
                </c:pt>
                <c:pt idx="30">
                  <c:v>0.16349</c:v>
                </c:pt>
                <c:pt idx="31">
                  <c:v>0.13657</c:v>
                </c:pt>
                <c:pt idx="32">
                  <c:v>0.16506</c:v>
                </c:pt>
                <c:pt idx="33">
                  <c:v>0.134088</c:v>
                </c:pt>
                <c:pt idx="34">
                  <c:v>0.140191</c:v>
                </c:pt>
                <c:pt idx="35">
                  <c:v>0.102652</c:v>
                </c:pt>
                <c:pt idx="36">
                  <c:v>-0.111712</c:v>
                </c:pt>
                <c:pt idx="37">
                  <c:v>-0.014441</c:v>
                </c:pt>
                <c:pt idx="38">
                  <c:v>0.077463</c:v>
                </c:pt>
                <c:pt idx="39">
                  <c:v>0.092655</c:v>
                </c:pt>
                <c:pt idx="40">
                  <c:v>-0.098406</c:v>
                </c:pt>
                <c:pt idx="41">
                  <c:v>-0.050023</c:v>
                </c:pt>
                <c:pt idx="42">
                  <c:v>0.014248</c:v>
                </c:pt>
                <c:pt idx="43">
                  <c:v>0.182014</c:v>
                </c:pt>
                <c:pt idx="44">
                  <c:v>0.074896</c:v>
                </c:pt>
                <c:pt idx="45">
                  <c:v>0.039046</c:v>
                </c:pt>
                <c:pt idx="46">
                  <c:v>-0.046222</c:v>
                </c:pt>
                <c:pt idx="47">
                  <c:v>0.10745</c:v>
                </c:pt>
                <c:pt idx="48">
                  <c:v>0.067066</c:v>
                </c:pt>
                <c:pt idx="49">
                  <c:v>0.051729</c:v>
                </c:pt>
                <c:pt idx="50">
                  <c:v>-0.026038</c:v>
                </c:pt>
                <c:pt idx="51">
                  <c:v>-0.09476</c:v>
                </c:pt>
                <c:pt idx="52">
                  <c:v>-0.014142</c:v>
                </c:pt>
                <c:pt idx="53">
                  <c:v>0.028721</c:v>
                </c:pt>
                <c:pt idx="54">
                  <c:v>0.054918</c:v>
                </c:pt>
                <c:pt idx="55">
                  <c:v>0.237601</c:v>
                </c:pt>
                <c:pt idx="56">
                  <c:v>0.135183</c:v>
                </c:pt>
                <c:pt idx="57">
                  <c:v>-0.092575</c:v>
                </c:pt>
                <c:pt idx="58">
                  <c:v>0.090718</c:v>
                </c:pt>
                <c:pt idx="59">
                  <c:v>0.136892</c:v>
                </c:pt>
                <c:pt idx="60">
                  <c:v>0.133529</c:v>
                </c:pt>
                <c:pt idx="61">
                  <c:v>-0.029534</c:v>
                </c:pt>
                <c:pt idx="62">
                  <c:v>0.123475</c:v>
                </c:pt>
                <c:pt idx="63">
                  <c:v>0.222058</c:v>
                </c:pt>
                <c:pt idx="64">
                  <c:v>0.020917</c:v>
                </c:pt>
                <c:pt idx="65">
                  <c:v>-0.114603</c:v>
                </c:pt>
                <c:pt idx="66">
                  <c:v>0.088914</c:v>
                </c:pt>
                <c:pt idx="67">
                  <c:v>-0.01743</c:v>
                </c:pt>
                <c:pt idx="68">
                  <c:v>0.16129</c:v>
                </c:pt>
                <c:pt idx="69">
                  <c:v>0.126462</c:v>
                </c:pt>
                <c:pt idx="70">
                  <c:v>-0.015457</c:v>
                </c:pt>
                <c:pt idx="71">
                  <c:v>0.082233</c:v>
                </c:pt>
                <c:pt idx="72">
                  <c:v>-0.090566</c:v>
                </c:pt>
                <c:pt idx="73">
                  <c:v>0.249759</c:v>
                </c:pt>
                <c:pt idx="74">
                  <c:v>0.139256</c:v>
                </c:pt>
                <c:pt idx="75">
                  <c:v>0.057478</c:v>
                </c:pt>
                <c:pt idx="76">
                  <c:v>0.078891</c:v>
                </c:pt>
                <c:pt idx="77">
                  <c:v>-0.068481</c:v>
                </c:pt>
                <c:pt idx="78">
                  <c:v>0.100765</c:v>
                </c:pt>
                <c:pt idx="79">
                  <c:v>0.137943</c:v>
                </c:pt>
                <c:pt idx="80">
                  <c:v>0.088818</c:v>
                </c:pt>
                <c:pt idx="81">
                  <c:v>-0.030527</c:v>
                </c:pt>
                <c:pt idx="82">
                  <c:v>0.084688</c:v>
                </c:pt>
                <c:pt idx="83">
                  <c:v>0.135756</c:v>
                </c:pt>
                <c:pt idx="84">
                  <c:v>0.135263</c:v>
                </c:pt>
                <c:pt idx="85">
                  <c:v>0.15753</c:v>
                </c:pt>
                <c:pt idx="86">
                  <c:v>0.003164</c:v>
                </c:pt>
                <c:pt idx="87">
                  <c:v>0.373528</c:v>
                </c:pt>
                <c:pt idx="88">
                  <c:v>0.214709</c:v>
                </c:pt>
                <c:pt idx="89">
                  <c:v>-0.046504</c:v>
                </c:pt>
                <c:pt idx="90">
                  <c:v>0.25648</c:v>
                </c:pt>
                <c:pt idx="91">
                  <c:v>-0.190133</c:v>
                </c:pt>
                <c:pt idx="92">
                  <c:v>-0.178307</c:v>
                </c:pt>
                <c:pt idx="93">
                  <c:v>-0.069262</c:v>
                </c:pt>
                <c:pt idx="94">
                  <c:v>-0.205329</c:v>
                </c:pt>
                <c:pt idx="95">
                  <c:v>0.005537</c:v>
                </c:pt>
                <c:pt idx="96">
                  <c:v>-0.104767</c:v>
                </c:pt>
                <c:pt idx="97">
                  <c:v>0.222873</c:v>
                </c:pt>
                <c:pt idx="98">
                  <c:v>0.178895</c:v>
                </c:pt>
                <c:pt idx="99">
                  <c:v>-0.056942</c:v>
                </c:pt>
                <c:pt idx="100">
                  <c:v>-0.083983</c:v>
                </c:pt>
                <c:pt idx="101">
                  <c:v>0.097868</c:v>
                </c:pt>
                <c:pt idx="102">
                  <c:v>0.159042</c:v>
                </c:pt>
                <c:pt idx="103">
                  <c:v>-0.131298</c:v>
                </c:pt>
                <c:pt idx="104">
                  <c:v>0.180796</c:v>
                </c:pt>
                <c:pt idx="105">
                  <c:v>-0.078697</c:v>
                </c:pt>
                <c:pt idx="106">
                  <c:v>0.106896</c:v>
                </c:pt>
                <c:pt idx="107">
                  <c:v>0.125883</c:v>
                </c:pt>
                <c:pt idx="108">
                  <c:v>0.141417</c:v>
                </c:pt>
                <c:pt idx="109">
                  <c:v>0.06838</c:v>
                </c:pt>
                <c:pt idx="110">
                  <c:v>0.110854</c:v>
                </c:pt>
                <c:pt idx="111">
                  <c:v>0.279779</c:v>
                </c:pt>
                <c:pt idx="112">
                  <c:v>0.138511</c:v>
                </c:pt>
                <c:pt idx="113">
                  <c:v>0.225245</c:v>
                </c:pt>
                <c:pt idx="114">
                  <c:v>0.178098</c:v>
                </c:pt>
                <c:pt idx="115">
                  <c:v>0.102922</c:v>
                </c:pt>
                <c:pt idx="116">
                  <c:v>0.050288</c:v>
                </c:pt>
                <c:pt idx="117">
                  <c:v>-0.053704</c:v>
                </c:pt>
                <c:pt idx="118">
                  <c:v>-0.195939</c:v>
                </c:pt>
                <c:pt idx="119">
                  <c:v>0.092931</c:v>
                </c:pt>
                <c:pt idx="120">
                  <c:v>0.02521</c:v>
                </c:pt>
                <c:pt idx="121">
                  <c:v>0.031895</c:v>
                </c:pt>
                <c:pt idx="122">
                  <c:v>0.221782</c:v>
                </c:pt>
                <c:pt idx="123">
                  <c:v>0.036408</c:v>
                </c:pt>
                <c:pt idx="124">
                  <c:v>0.025835</c:v>
                </c:pt>
                <c:pt idx="125">
                  <c:v>0.198184</c:v>
                </c:pt>
                <c:pt idx="126">
                  <c:v>-0.001046</c:v>
                </c:pt>
                <c:pt idx="127">
                  <c:v>0.274731</c:v>
                </c:pt>
                <c:pt idx="128">
                  <c:v>0.039687</c:v>
                </c:pt>
                <c:pt idx="129">
                  <c:v>0.025938</c:v>
                </c:pt>
                <c:pt idx="130">
                  <c:v>-0.03822</c:v>
                </c:pt>
                <c:pt idx="131">
                  <c:v>0.116153</c:v>
                </c:pt>
                <c:pt idx="132">
                  <c:v>0.165754</c:v>
                </c:pt>
                <c:pt idx="133">
                  <c:v>0.251806</c:v>
                </c:pt>
                <c:pt idx="134">
                  <c:v>0.094867</c:v>
                </c:pt>
                <c:pt idx="135">
                  <c:v>0.104654</c:v>
                </c:pt>
                <c:pt idx="136">
                  <c:v>0.112606</c:v>
                </c:pt>
                <c:pt idx="137">
                  <c:v>0.178361</c:v>
                </c:pt>
                <c:pt idx="138">
                  <c:v>0.107424</c:v>
                </c:pt>
                <c:pt idx="139">
                  <c:v>0.050692</c:v>
                </c:pt>
                <c:pt idx="140">
                  <c:v>0.237926</c:v>
                </c:pt>
                <c:pt idx="141">
                  <c:v>0.201764</c:v>
                </c:pt>
                <c:pt idx="142">
                  <c:v>0.224334</c:v>
                </c:pt>
                <c:pt idx="143">
                  <c:v>0.091866</c:v>
                </c:pt>
                <c:pt idx="144">
                  <c:v>0.208776</c:v>
                </c:pt>
                <c:pt idx="145">
                  <c:v>0.104927</c:v>
                </c:pt>
                <c:pt idx="146">
                  <c:v>0.16001</c:v>
                </c:pt>
                <c:pt idx="147">
                  <c:v>0.139219</c:v>
                </c:pt>
                <c:pt idx="148">
                  <c:v>0.010032</c:v>
                </c:pt>
                <c:pt idx="149">
                  <c:v>-0.037834</c:v>
                </c:pt>
                <c:pt idx="150">
                  <c:v>-0.013557</c:v>
                </c:pt>
                <c:pt idx="151">
                  <c:v>-0.006023</c:v>
                </c:pt>
                <c:pt idx="152">
                  <c:v>-0.122439</c:v>
                </c:pt>
                <c:pt idx="153">
                  <c:v>0.11969</c:v>
                </c:pt>
                <c:pt idx="154">
                  <c:v>0.086668</c:v>
                </c:pt>
                <c:pt idx="155">
                  <c:v>0.158997</c:v>
                </c:pt>
                <c:pt idx="156">
                  <c:v>-0.054891</c:v>
                </c:pt>
                <c:pt idx="157">
                  <c:v>0.024998</c:v>
                </c:pt>
                <c:pt idx="158">
                  <c:v>0.109273</c:v>
                </c:pt>
                <c:pt idx="159">
                  <c:v>0.075451</c:v>
                </c:pt>
                <c:pt idx="160">
                  <c:v>0.254496</c:v>
                </c:pt>
                <c:pt idx="161">
                  <c:v>0.229335</c:v>
                </c:pt>
                <c:pt idx="162">
                  <c:v>0.139463</c:v>
                </c:pt>
                <c:pt idx="163">
                  <c:v>0.223266</c:v>
                </c:pt>
                <c:pt idx="164">
                  <c:v>0.114305</c:v>
                </c:pt>
                <c:pt idx="165">
                  <c:v>-0.006484</c:v>
                </c:pt>
                <c:pt idx="166">
                  <c:v>-0.085762</c:v>
                </c:pt>
                <c:pt idx="167">
                  <c:v>0.227338</c:v>
                </c:pt>
                <c:pt idx="168">
                  <c:v>0.134952</c:v>
                </c:pt>
                <c:pt idx="169">
                  <c:v>0.251523</c:v>
                </c:pt>
                <c:pt idx="170">
                  <c:v>0.24531</c:v>
                </c:pt>
                <c:pt idx="171">
                  <c:v>0.070326</c:v>
                </c:pt>
                <c:pt idx="172">
                  <c:v>-0.237119</c:v>
                </c:pt>
                <c:pt idx="173">
                  <c:v>-0.043191</c:v>
                </c:pt>
                <c:pt idx="174">
                  <c:v>0.072558</c:v>
                </c:pt>
                <c:pt idx="175">
                  <c:v>0.129083</c:v>
                </c:pt>
                <c:pt idx="176">
                  <c:v>0.093624</c:v>
                </c:pt>
                <c:pt idx="177">
                  <c:v>0.243714</c:v>
                </c:pt>
                <c:pt idx="178">
                  <c:v>0.20384</c:v>
                </c:pt>
                <c:pt idx="179">
                  <c:v>0.190793</c:v>
                </c:pt>
                <c:pt idx="180">
                  <c:v>0.049893</c:v>
                </c:pt>
                <c:pt idx="181">
                  <c:v>0.119755</c:v>
                </c:pt>
                <c:pt idx="182">
                  <c:v>0.198262</c:v>
                </c:pt>
                <c:pt idx="183">
                  <c:v>-0.131654</c:v>
                </c:pt>
                <c:pt idx="184">
                  <c:v>0.2563</c:v>
                </c:pt>
                <c:pt idx="185">
                  <c:v>-0.112172</c:v>
                </c:pt>
                <c:pt idx="186">
                  <c:v>0.165362</c:v>
                </c:pt>
                <c:pt idx="187">
                  <c:v>0.182998</c:v>
                </c:pt>
                <c:pt idx="188">
                  <c:v>-0.091458</c:v>
                </c:pt>
                <c:pt idx="189">
                  <c:v>0.098303</c:v>
                </c:pt>
                <c:pt idx="190">
                  <c:v>-0.031128</c:v>
                </c:pt>
                <c:pt idx="191">
                  <c:v>0.080375</c:v>
                </c:pt>
                <c:pt idx="192">
                  <c:v>0.127735</c:v>
                </c:pt>
                <c:pt idx="193">
                  <c:v>0.248544</c:v>
                </c:pt>
                <c:pt idx="194">
                  <c:v>0.148425</c:v>
                </c:pt>
                <c:pt idx="195">
                  <c:v>0.306029</c:v>
                </c:pt>
                <c:pt idx="196">
                  <c:v>0.035478</c:v>
                </c:pt>
                <c:pt idx="197">
                  <c:v>0.11042</c:v>
                </c:pt>
                <c:pt idx="198">
                  <c:v>-3.9E-05</c:v>
                </c:pt>
                <c:pt idx="199">
                  <c:v>0.16909</c:v>
                </c:pt>
                <c:pt idx="200">
                  <c:v>0.158498</c:v>
                </c:pt>
                <c:pt idx="201">
                  <c:v>-0.034669</c:v>
                </c:pt>
                <c:pt idx="202">
                  <c:v>0.024755</c:v>
                </c:pt>
                <c:pt idx="203">
                  <c:v>0.332253</c:v>
                </c:pt>
                <c:pt idx="204">
                  <c:v>0.099665</c:v>
                </c:pt>
                <c:pt idx="205">
                  <c:v>0.090692</c:v>
                </c:pt>
                <c:pt idx="206">
                  <c:v>-0.029102</c:v>
                </c:pt>
                <c:pt idx="207">
                  <c:v>0.111187</c:v>
                </c:pt>
                <c:pt idx="208">
                  <c:v>-0.038068</c:v>
                </c:pt>
                <c:pt idx="209">
                  <c:v>0.004021</c:v>
                </c:pt>
                <c:pt idx="210">
                  <c:v>0.001407</c:v>
                </c:pt>
                <c:pt idx="211">
                  <c:v>0.238421</c:v>
                </c:pt>
                <c:pt idx="212">
                  <c:v>0.247654</c:v>
                </c:pt>
                <c:pt idx="213">
                  <c:v>-0.131933</c:v>
                </c:pt>
                <c:pt idx="214">
                  <c:v>0.121524</c:v>
                </c:pt>
                <c:pt idx="215">
                  <c:v>0.178562</c:v>
                </c:pt>
                <c:pt idx="216">
                  <c:v>-0.039519</c:v>
                </c:pt>
                <c:pt idx="217">
                  <c:v>0.006987</c:v>
                </c:pt>
                <c:pt idx="218">
                  <c:v>0.078775</c:v>
                </c:pt>
                <c:pt idx="219">
                  <c:v>-0.016666</c:v>
                </c:pt>
                <c:pt idx="220">
                  <c:v>0.198083</c:v>
                </c:pt>
                <c:pt idx="221">
                  <c:v>-0.089624</c:v>
                </c:pt>
                <c:pt idx="222">
                  <c:v>0.076757</c:v>
                </c:pt>
                <c:pt idx="223">
                  <c:v>0.359852</c:v>
                </c:pt>
                <c:pt idx="224">
                  <c:v>-0.144464</c:v>
                </c:pt>
                <c:pt idx="225">
                  <c:v>0.158227</c:v>
                </c:pt>
                <c:pt idx="226">
                  <c:v>0.165995</c:v>
                </c:pt>
                <c:pt idx="227">
                  <c:v>-0.013539</c:v>
                </c:pt>
                <c:pt idx="228">
                  <c:v>0.169</c:v>
                </c:pt>
                <c:pt idx="229">
                  <c:v>0.052481</c:v>
                </c:pt>
                <c:pt idx="230">
                  <c:v>-0.001897</c:v>
                </c:pt>
                <c:pt idx="231">
                  <c:v>0.040227</c:v>
                </c:pt>
                <c:pt idx="232">
                  <c:v>0.240545</c:v>
                </c:pt>
                <c:pt idx="233">
                  <c:v>0.01797</c:v>
                </c:pt>
                <c:pt idx="234">
                  <c:v>0.143028</c:v>
                </c:pt>
                <c:pt idx="235">
                  <c:v>0.158134</c:v>
                </c:pt>
                <c:pt idx="236">
                  <c:v>0.074263</c:v>
                </c:pt>
                <c:pt idx="237">
                  <c:v>-0.03833</c:v>
                </c:pt>
                <c:pt idx="238">
                  <c:v>0.181871</c:v>
                </c:pt>
                <c:pt idx="239">
                  <c:v>0.148094</c:v>
                </c:pt>
                <c:pt idx="240">
                  <c:v>0.044856</c:v>
                </c:pt>
                <c:pt idx="241">
                  <c:v>0.206751</c:v>
                </c:pt>
                <c:pt idx="242">
                  <c:v>-0.089758</c:v>
                </c:pt>
                <c:pt idx="243">
                  <c:v>-0.143021</c:v>
                </c:pt>
                <c:pt idx="244">
                  <c:v>0.108464</c:v>
                </c:pt>
                <c:pt idx="245">
                  <c:v>0.071806</c:v>
                </c:pt>
                <c:pt idx="246">
                  <c:v>0.058694</c:v>
                </c:pt>
                <c:pt idx="247">
                  <c:v>0.10666</c:v>
                </c:pt>
                <c:pt idx="248">
                  <c:v>0.041399</c:v>
                </c:pt>
                <c:pt idx="249">
                  <c:v>0.147967</c:v>
                </c:pt>
                <c:pt idx="250">
                  <c:v>-0.117392</c:v>
                </c:pt>
                <c:pt idx="251">
                  <c:v>0.034305</c:v>
                </c:pt>
                <c:pt idx="252">
                  <c:v>0.057584</c:v>
                </c:pt>
                <c:pt idx="253">
                  <c:v>0.162833</c:v>
                </c:pt>
                <c:pt idx="254">
                  <c:v>0.065041</c:v>
                </c:pt>
                <c:pt idx="255">
                  <c:v>0.037778</c:v>
                </c:pt>
                <c:pt idx="256">
                  <c:v>0.126358</c:v>
                </c:pt>
                <c:pt idx="257">
                  <c:v>0.119672</c:v>
                </c:pt>
                <c:pt idx="258">
                  <c:v>0.203584</c:v>
                </c:pt>
                <c:pt idx="259">
                  <c:v>0.167064</c:v>
                </c:pt>
                <c:pt idx="260">
                  <c:v>0.135959</c:v>
                </c:pt>
                <c:pt idx="261">
                  <c:v>0.031662</c:v>
                </c:pt>
                <c:pt idx="262">
                  <c:v>0.115659</c:v>
                </c:pt>
                <c:pt idx="263">
                  <c:v>0.11834</c:v>
                </c:pt>
                <c:pt idx="264">
                  <c:v>0.051943</c:v>
                </c:pt>
                <c:pt idx="265">
                  <c:v>-0.102658</c:v>
                </c:pt>
                <c:pt idx="266">
                  <c:v>0.112752</c:v>
                </c:pt>
                <c:pt idx="267">
                  <c:v>0.145418</c:v>
                </c:pt>
                <c:pt idx="268">
                  <c:v>-0.009225</c:v>
                </c:pt>
                <c:pt idx="269">
                  <c:v>-0.082917</c:v>
                </c:pt>
                <c:pt idx="270">
                  <c:v>-0.005225</c:v>
                </c:pt>
                <c:pt idx="271">
                  <c:v>-0.062854</c:v>
                </c:pt>
                <c:pt idx="272">
                  <c:v>0.017012</c:v>
                </c:pt>
                <c:pt idx="273">
                  <c:v>0.158683</c:v>
                </c:pt>
                <c:pt idx="274">
                  <c:v>0.136072</c:v>
                </c:pt>
                <c:pt idx="275">
                  <c:v>-0.095276</c:v>
                </c:pt>
                <c:pt idx="276">
                  <c:v>0.19444</c:v>
                </c:pt>
                <c:pt idx="277">
                  <c:v>0.073546</c:v>
                </c:pt>
                <c:pt idx="278">
                  <c:v>0.020149</c:v>
                </c:pt>
                <c:pt idx="279">
                  <c:v>0.110714</c:v>
                </c:pt>
                <c:pt idx="280">
                  <c:v>0.160122</c:v>
                </c:pt>
                <c:pt idx="281">
                  <c:v>0.11744</c:v>
                </c:pt>
                <c:pt idx="282">
                  <c:v>0.233744</c:v>
                </c:pt>
                <c:pt idx="283">
                  <c:v>0.184317</c:v>
                </c:pt>
                <c:pt idx="284">
                  <c:v>0.050488</c:v>
                </c:pt>
                <c:pt idx="285">
                  <c:v>0.159018</c:v>
                </c:pt>
                <c:pt idx="286">
                  <c:v>0.103082</c:v>
                </c:pt>
                <c:pt idx="287">
                  <c:v>0.047872</c:v>
                </c:pt>
                <c:pt idx="288">
                  <c:v>0.0354</c:v>
                </c:pt>
                <c:pt idx="289">
                  <c:v>0.078762</c:v>
                </c:pt>
                <c:pt idx="290">
                  <c:v>0.157834</c:v>
                </c:pt>
                <c:pt idx="291">
                  <c:v>0.084895</c:v>
                </c:pt>
                <c:pt idx="292">
                  <c:v>0.261577</c:v>
                </c:pt>
                <c:pt idx="293">
                  <c:v>-0.016768</c:v>
                </c:pt>
                <c:pt idx="294">
                  <c:v>0.197042</c:v>
                </c:pt>
                <c:pt idx="295">
                  <c:v>-0.138421</c:v>
                </c:pt>
                <c:pt idx="296">
                  <c:v>0.019993</c:v>
                </c:pt>
                <c:pt idx="297">
                  <c:v>0.148911</c:v>
                </c:pt>
                <c:pt idx="298">
                  <c:v>0.107241</c:v>
                </c:pt>
                <c:pt idx="299">
                  <c:v>0.028708</c:v>
                </c:pt>
                <c:pt idx="300">
                  <c:v>-0.151932</c:v>
                </c:pt>
                <c:pt idx="301">
                  <c:v>0.050785</c:v>
                </c:pt>
                <c:pt idx="302">
                  <c:v>0.064496</c:v>
                </c:pt>
                <c:pt idx="303">
                  <c:v>0.056573</c:v>
                </c:pt>
                <c:pt idx="304">
                  <c:v>-0.013719</c:v>
                </c:pt>
                <c:pt idx="305">
                  <c:v>0.261599</c:v>
                </c:pt>
                <c:pt idx="306">
                  <c:v>0.20161</c:v>
                </c:pt>
                <c:pt idx="307">
                  <c:v>-0.119889</c:v>
                </c:pt>
                <c:pt idx="308">
                  <c:v>-0.042573</c:v>
                </c:pt>
                <c:pt idx="309">
                  <c:v>-0.12588</c:v>
                </c:pt>
                <c:pt idx="310">
                  <c:v>0.121707</c:v>
                </c:pt>
                <c:pt idx="311">
                  <c:v>0.051517</c:v>
                </c:pt>
                <c:pt idx="312">
                  <c:v>0.070021</c:v>
                </c:pt>
                <c:pt idx="313">
                  <c:v>-0.053105</c:v>
                </c:pt>
                <c:pt idx="314">
                  <c:v>-0.062694</c:v>
                </c:pt>
                <c:pt idx="315">
                  <c:v>0.165149</c:v>
                </c:pt>
                <c:pt idx="316">
                  <c:v>0.177043</c:v>
                </c:pt>
                <c:pt idx="317">
                  <c:v>0.066174</c:v>
                </c:pt>
                <c:pt idx="318">
                  <c:v>-0.110456</c:v>
                </c:pt>
                <c:pt idx="319">
                  <c:v>-0.121279</c:v>
                </c:pt>
                <c:pt idx="320">
                  <c:v>0.114333</c:v>
                </c:pt>
                <c:pt idx="321">
                  <c:v>0.101174</c:v>
                </c:pt>
                <c:pt idx="322">
                  <c:v>-0.146639</c:v>
                </c:pt>
                <c:pt idx="323">
                  <c:v>-0.014719</c:v>
                </c:pt>
                <c:pt idx="324">
                  <c:v>0.093074</c:v>
                </c:pt>
                <c:pt idx="325">
                  <c:v>0.317587</c:v>
                </c:pt>
                <c:pt idx="326">
                  <c:v>0.135687</c:v>
                </c:pt>
                <c:pt idx="327">
                  <c:v>0.079541</c:v>
                </c:pt>
                <c:pt idx="328">
                  <c:v>-0.00044</c:v>
                </c:pt>
                <c:pt idx="329">
                  <c:v>0.023915</c:v>
                </c:pt>
                <c:pt idx="330">
                  <c:v>0.055304</c:v>
                </c:pt>
                <c:pt idx="331">
                  <c:v>0.149669</c:v>
                </c:pt>
                <c:pt idx="332">
                  <c:v>-0.085769</c:v>
                </c:pt>
                <c:pt idx="333">
                  <c:v>-0.067201</c:v>
                </c:pt>
                <c:pt idx="334">
                  <c:v>0.127743</c:v>
                </c:pt>
                <c:pt idx="335">
                  <c:v>-0.002104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6"/>
        </c:scaling>
        <c:delete val="0"/>
        <c:axPos val="l"/>
        <c:majorGridlines>
          <c:spPr>
            <a:ln xmlns:a="http://schemas.openxmlformats.org/drawingml/2006/main" w="5715">
              <a:solidFill>
                <a:srgbClr val="E5E7EA"/>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majorUnit val="0.6"/>
      </c:valAx>
      <c:valAx>
        <c:axId val="48650112"/>
        <c:scaling>
          <c:orientation val="minMax"/>
          <c:max val="0.6"/>
          <c:min val="-0.6"/>
        </c:scaling>
        <c:delete val="0"/>
        <c:axPos val="b"/>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majorUnit val="0.6"/>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b="1">
                <a:solidFill>
                  <a:srgbClr val="008D4C"/>
                </a:solidFill>
                <a:latin typeface="Arial"/>
                <a:ea typeface="Arial"/>
                <a:cs typeface="Arial"/>
              </a:rPr>
              <a:t>C2  (n = 239)</a:t>
            </a:r>
          </a:p>
        </c:rich>
      </c:tx>
      <c:overlay val="0"/>
      <c:txPr>
        <a:bodyPr xmlns:a="http://schemas.openxmlformats.org/drawingml/2006/main" anchorCtr="1"/>
        <a:lstStyle xmlns:a="http://schemas.openxmlformats.org/drawingml/2006/main"/>
        <a:p xmlns:a="http://schemas.openxmlformats.org/drawingml/2006/main">
          <a:pPr>
            <a:defRPr sz="1500" b="1">
              <a:solidFill>
                <a:srgbClr val="008D4C"/>
              </a:solidFill>
              <a:latin typeface="Arial"/>
              <a:ea typeface="Arial"/>
              <a:cs typeface="Arial"/>
            </a:defRPr>
          </a:pPr>
        </a:p>
      </c:txPr>
    </c:title>
    <c:plotArea>
      <c:scatterChart>
        <c:scatterStyle val="marker"/>
        <c:ser>
          <c:idx val="0"/>
          <c:order val="0"/>
          <c:tx>
            <c:v>C2</c:v>
          </c:tx>
          <c:spPr>
            <a:solidFill xmlns:a="http://schemas.openxmlformats.org/drawingml/2006/main">
              <a:srgbClr val="008D4C"/>
            </a:solidFill>
            <a:ln xmlns:a="http://schemas.openxmlformats.org/drawingml/2006/main" w="0">
              <a:noFill/>
            </a:ln>
          </c:spPr>
          <c:marker>
            <c:symbol val="circle"/>
            <c:size val="3"/>
            <c:spPr>
              <ns0:solidFill xmlns:ns0="http://schemas.openxmlformats.org/drawingml/2006/main">
                <ns0:srgbClr val="008D4C"/>
              </ns0:solidFill>
              <ns1:ln xmlns:ns1="http://schemas.openxmlformats.org/drawingml/2006/main" w="0">
                <ns1:noFill/>
              </ns1:ln>
            </c:spPr>
          </c:marker>
          <c:xVal>
            <c:numRef>
              <c:f>'Chart Data'!$A$2:$A$240</c:f>
              <c:numCache>
                <c:formatCode>General</c:formatCode>
                <c:ptCount val="239"/>
                <c:pt idx="0">
                  <c:v>-0.434142</c:v>
                </c:pt>
                <c:pt idx="1">
                  <c:v>-0.210384</c:v>
                </c:pt>
                <c:pt idx="2">
                  <c:v>-0.456199</c:v>
                </c:pt>
                <c:pt idx="3">
                  <c:v>-0.312627</c:v>
                </c:pt>
                <c:pt idx="4">
                  <c:v>-0.175631</c:v>
                </c:pt>
                <c:pt idx="5">
                  <c:v>-0.364774</c:v>
                </c:pt>
                <c:pt idx="6">
                  <c:v>-0.358254</c:v>
                </c:pt>
                <c:pt idx="7">
                  <c:v>-0.349856</c:v>
                </c:pt>
                <c:pt idx="8">
                  <c:v>-0.158697</c:v>
                </c:pt>
                <c:pt idx="9">
                  <c:v>-0.312109</c:v>
                </c:pt>
                <c:pt idx="10">
                  <c:v>-0.333186</c:v>
                </c:pt>
                <c:pt idx="11">
                  <c:v>-0.171411</c:v>
                </c:pt>
                <c:pt idx="12">
                  <c:v>-0.289776</c:v>
                </c:pt>
                <c:pt idx="13">
                  <c:v>-0.321004</c:v>
                </c:pt>
                <c:pt idx="14">
                  <c:v>-0.177844</c:v>
                </c:pt>
                <c:pt idx="15">
                  <c:v>-0.208629</c:v>
                </c:pt>
                <c:pt idx="16">
                  <c:v>-0.207687</c:v>
                </c:pt>
                <c:pt idx="17">
                  <c:v>-0.197587</c:v>
                </c:pt>
                <c:pt idx="18">
                  <c:v>-0.305624</c:v>
                </c:pt>
                <c:pt idx="19">
                  <c:v>-0.256138</c:v>
                </c:pt>
                <c:pt idx="20">
                  <c:v>-0.220646</c:v>
                </c:pt>
                <c:pt idx="21">
                  <c:v>-0.251632</c:v>
                </c:pt>
                <c:pt idx="22">
                  <c:v>-0.324626</c:v>
                </c:pt>
                <c:pt idx="23">
                  <c:v>-0.023868</c:v>
                </c:pt>
                <c:pt idx="24">
                  <c:v>-0.450855</c:v>
                </c:pt>
                <c:pt idx="25">
                  <c:v>-0.309063</c:v>
                </c:pt>
                <c:pt idx="26">
                  <c:v>-0.216739</c:v>
                </c:pt>
                <c:pt idx="27">
                  <c:v>-0.196611</c:v>
                </c:pt>
                <c:pt idx="28">
                  <c:v>-0.279159</c:v>
                </c:pt>
                <c:pt idx="29">
                  <c:v>-0.411752</c:v>
                </c:pt>
                <c:pt idx="30">
                  <c:v>-0.173622</c:v>
                </c:pt>
                <c:pt idx="31">
                  <c:v>-0.263858</c:v>
                </c:pt>
                <c:pt idx="32">
                  <c:v>-0.308092</c:v>
                </c:pt>
                <c:pt idx="33">
                  <c:v>-0.31542</c:v>
                </c:pt>
                <c:pt idx="34">
                  <c:v>-0.234147</c:v>
                </c:pt>
                <c:pt idx="35">
                  <c:v>-0.285986</c:v>
                </c:pt>
                <c:pt idx="36">
                  <c:v>-0.220343</c:v>
                </c:pt>
                <c:pt idx="37">
                  <c:v>-0.329491</c:v>
                </c:pt>
                <c:pt idx="38">
                  <c:v>-0.309867</c:v>
                </c:pt>
                <c:pt idx="39">
                  <c:v>-0.373702</c:v>
                </c:pt>
                <c:pt idx="40">
                  <c:v>-0.27496</c:v>
                </c:pt>
                <c:pt idx="41">
                  <c:v>-0.239018</c:v>
                </c:pt>
                <c:pt idx="42">
                  <c:v>-0.221972</c:v>
                </c:pt>
                <c:pt idx="43">
                  <c:v>-0.306883</c:v>
                </c:pt>
                <c:pt idx="44">
                  <c:v>-0.35628</c:v>
                </c:pt>
                <c:pt idx="45">
                  <c:v>-0.223957</c:v>
                </c:pt>
                <c:pt idx="46">
                  <c:v>-0.206755</c:v>
                </c:pt>
                <c:pt idx="47">
                  <c:v>-0.211032</c:v>
                </c:pt>
                <c:pt idx="48">
                  <c:v>-0.275307</c:v>
                </c:pt>
                <c:pt idx="49">
                  <c:v>-0.418408</c:v>
                </c:pt>
                <c:pt idx="50">
                  <c:v>-0.262749</c:v>
                </c:pt>
                <c:pt idx="51">
                  <c:v>-0.218036</c:v>
                </c:pt>
                <c:pt idx="52">
                  <c:v>-0.223749</c:v>
                </c:pt>
                <c:pt idx="53">
                  <c:v>-0.359234</c:v>
                </c:pt>
                <c:pt idx="54">
                  <c:v>-0.403085</c:v>
                </c:pt>
                <c:pt idx="55">
                  <c:v>-0.36961</c:v>
                </c:pt>
                <c:pt idx="56">
                  <c:v>-0.169866</c:v>
                </c:pt>
                <c:pt idx="57">
                  <c:v>-0.192557</c:v>
                </c:pt>
                <c:pt idx="58">
                  <c:v>-0.35871</c:v>
                </c:pt>
                <c:pt idx="59">
                  <c:v>-0.342108</c:v>
                </c:pt>
                <c:pt idx="60">
                  <c:v>-0.211486</c:v>
                </c:pt>
                <c:pt idx="61">
                  <c:v>-0.168902</c:v>
                </c:pt>
                <c:pt idx="62">
                  <c:v>-0.372284</c:v>
                </c:pt>
                <c:pt idx="63">
                  <c:v>-0.284063</c:v>
                </c:pt>
                <c:pt idx="64">
                  <c:v>-0.253008</c:v>
                </c:pt>
                <c:pt idx="65">
                  <c:v>-0.1478</c:v>
                </c:pt>
                <c:pt idx="66">
                  <c:v>-0.254093</c:v>
                </c:pt>
                <c:pt idx="67">
                  <c:v>-0.427229</c:v>
                </c:pt>
                <c:pt idx="68">
                  <c:v>-0.093564</c:v>
                </c:pt>
                <c:pt idx="69">
                  <c:v>-0.265388</c:v>
                </c:pt>
                <c:pt idx="70">
                  <c:v>-0.266734</c:v>
                </c:pt>
                <c:pt idx="71">
                  <c:v>-0.360375</c:v>
                </c:pt>
                <c:pt idx="72">
                  <c:v>-0.492632</c:v>
                </c:pt>
                <c:pt idx="73">
                  <c:v>-0.306631</c:v>
                </c:pt>
                <c:pt idx="74">
                  <c:v>-0.344033</c:v>
                </c:pt>
                <c:pt idx="75">
                  <c:v>-0.233118</c:v>
                </c:pt>
                <c:pt idx="76">
                  <c:v>-0.283055</c:v>
                </c:pt>
                <c:pt idx="77">
                  <c:v>-0.204192</c:v>
                </c:pt>
                <c:pt idx="78">
                  <c:v>-0.182725</c:v>
                </c:pt>
                <c:pt idx="79">
                  <c:v>-0.301952</c:v>
                </c:pt>
                <c:pt idx="80">
                  <c:v>-0.169952</c:v>
                </c:pt>
                <c:pt idx="81">
                  <c:v>-0.387055</c:v>
                </c:pt>
                <c:pt idx="82">
                  <c:v>-0.370841</c:v>
                </c:pt>
                <c:pt idx="83">
                  <c:v>-0.213184</c:v>
                </c:pt>
                <c:pt idx="84">
                  <c:v>-0.224484</c:v>
                </c:pt>
                <c:pt idx="85">
                  <c:v>-0.333892</c:v>
                </c:pt>
                <c:pt idx="86">
                  <c:v>-0.299493</c:v>
                </c:pt>
                <c:pt idx="87">
                  <c:v>-0.390905</c:v>
                </c:pt>
                <c:pt idx="88">
                  <c:v>-0.350356</c:v>
                </c:pt>
                <c:pt idx="89">
                  <c:v>-0.353319</c:v>
                </c:pt>
                <c:pt idx="90">
                  <c:v>-0.33278</c:v>
                </c:pt>
                <c:pt idx="91">
                  <c:v>-0.191078</c:v>
                </c:pt>
                <c:pt idx="92">
                  <c:v>-0.225022</c:v>
                </c:pt>
                <c:pt idx="93">
                  <c:v>0.001597</c:v>
                </c:pt>
                <c:pt idx="94">
                  <c:v>-0.162861</c:v>
                </c:pt>
                <c:pt idx="95">
                  <c:v>-0.177179</c:v>
                </c:pt>
                <c:pt idx="96">
                  <c:v>-0.286264</c:v>
                </c:pt>
                <c:pt idx="97">
                  <c:v>-0.158465</c:v>
                </c:pt>
                <c:pt idx="98">
                  <c:v>-0.082201</c:v>
                </c:pt>
                <c:pt idx="99">
                  <c:v>-0.348475</c:v>
                </c:pt>
                <c:pt idx="100">
                  <c:v>-0.219049</c:v>
                </c:pt>
                <c:pt idx="101">
                  <c:v>-0.138374</c:v>
                </c:pt>
                <c:pt idx="102">
                  <c:v>-0.261885</c:v>
                </c:pt>
                <c:pt idx="103">
                  <c:v>-0.237283</c:v>
                </c:pt>
                <c:pt idx="104">
                  <c:v>-0.377465</c:v>
                </c:pt>
                <c:pt idx="105">
                  <c:v>-0.184987</c:v>
                </c:pt>
                <c:pt idx="106">
                  <c:v>-0.314633</c:v>
                </c:pt>
                <c:pt idx="107">
                  <c:v>-0.389009</c:v>
                </c:pt>
                <c:pt idx="108">
                  <c:v>-0.010238</c:v>
                </c:pt>
                <c:pt idx="109">
                  <c:v>-0.343087</c:v>
                </c:pt>
                <c:pt idx="110">
                  <c:v>-0.308474</c:v>
                </c:pt>
                <c:pt idx="111">
                  <c:v>-0.320933</c:v>
                </c:pt>
                <c:pt idx="112">
                  <c:v>-0.347415</c:v>
                </c:pt>
                <c:pt idx="113">
                  <c:v>-0.461965</c:v>
                </c:pt>
                <c:pt idx="114">
                  <c:v>-0.208969</c:v>
                </c:pt>
                <c:pt idx="115">
                  <c:v>-0.342778</c:v>
                </c:pt>
                <c:pt idx="116">
                  <c:v>-0.362821</c:v>
                </c:pt>
                <c:pt idx="117">
                  <c:v>-0.130776</c:v>
                </c:pt>
                <c:pt idx="118">
                  <c:v>-0.334734</c:v>
                </c:pt>
                <c:pt idx="119">
                  <c:v>-0.313854</c:v>
                </c:pt>
                <c:pt idx="120">
                  <c:v>-0.385371</c:v>
                </c:pt>
                <c:pt idx="121">
                  <c:v>-0.260835</c:v>
                </c:pt>
                <c:pt idx="122">
                  <c:v>-0.283906</c:v>
                </c:pt>
                <c:pt idx="123">
                  <c:v>-0.339341</c:v>
                </c:pt>
                <c:pt idx="124">
                  <c:v>-0.284638</c:v>
                </c:pt>
                <c:pt idx="125">
                  <c:v>-0.336888</c:v>
                </c:pt>
                <c:pt idx="126">
                  <c:v>-0.278129</c:v>
                </c:pt>
                <c:pt idx="127">
                  <c:v>-0.238348</c:v>
                </c:pt>
                <c:pt idx="128">
                  <c:v>-0.374022</c:v>
                </c:pt>
                <c:pt idx="129">
                  <c:v>-0.370867</c:v>
                </c:pt>
                <c:pt idx="130">
                  <c:v>-0.401808</c:v>
                </c:pt>
                <c:pt idx="131">
                  <c:v>-0.452831</c:v>
                </c:pt>
                <c:pt idx="132">
                  <c:v>-0.336349</c:v>
                </c:pt>
                <c:pt idx="133">
                  <c:v>-0.185706</c:v>
                </c:pt>
                <c:pt idx="134">
                  <c:v>-0.221992</c:v>
                </c:pt>
                <c:pt idx="135">
                  <c:v>-0.30447</c:v>
                </c:pt>
                <c:pt idx="136">
                  <c:v>-0.257138</c:v>
                </c:pt>
                <c:pt idx="137">
                  <c:v>-0.269186</c:v>
                </c:pt>
                <c:pt idx="138">
                  <c:v>-0.364416</c:v>
                </c:pt>
                <c:pt idx="139">
                  <c:v>-0.213322</c:v>
                </c:pt>
                <c:pt idx="140">
                  <c:v>-0.308685</c:v>
                </c:pt>
                <c:pt idx="141">
                  <c:v>-0.37265</c:v>
                </c:pt>
                <c:pt idx="142">
                  <c:v>0.002968</c:v>
                </c:pt>
                <c:pt idx="143">
                  <c:v>-0.347421</c:v>
                </c:pt>
                <c:pt idx="144">
                  <c:v>-0.116641</c:v>
                </c:pt>
                <c:pt idx="145">
                  <c:v>-0.30193</c:v>
                </c:pt>
                <c:pt idx="146">
                  <c:v>-0.150221</c:v>
                </c:pt>
                <c:pt idx="147">
                  <c:v>-0.433893</c:v>
                </c:pt>
                <c:pt idx="148">
                  <c:v>-0.352767</c:v>
                </c:pt>
                <c:pt idx="149">
                  <c:v>-0.16899</c:v>
                </c:pt>
                <c:pt idx="150">
                  <c:v>-0.164615</c:v>
                </c:pt>
                <c:pt idx="151">
                  <c:v>-0.197167</c:v>
                </c:pt>
                <c:pt idx="152">
                  <c:v>-0.097564</c:v>
                </c:pt>
                <c:pt idx="153">
                  <c:v>-0.072609</c:v>
                </c:pt>
                <c:pt idx="154">
                  <c:v>-0.305985</c:v>
                </c:pt>
                <c:pt idx="155">
                  <c:v>-0.188684</c:v>
                </c:pt>
                <c:pt idx="156">
                  <c:v>-0.346646</c:v>
                </c:pt>
                <c:pt idx="157">
                  <c:v>-0.379184</c:v>
                </c:pt>
                <c:pt idx="158">
                  <c:v>-0.221037</c:v>
                </c:pt>
                <c:pt idx="159">
                  <c:v>-0.342414</c:v>
                </c:pt>
                <c:pt idx="160">
                  <c:v>-0.263231</c:v>
                </c:pt>
                <c:pt idx="161">
                  <c:v>-0.109191</c:v>
                </c:pt>
                <c:pt idx="162">
                  <c:v>-0.291142</c:v>
                </c:pt>
                <c:pt idx="163">
                  <c:v>-0.104306</c:v>
                </c:pt>
                <c:pt idx="164">
                  <c:v>-0.343104</c:v>
                </c:pt>
                <c:pt idx="165">
                  <c:v>-0.150794</c:v>
                </c:pt>
                <c:pt idx="166">
                  <c:v>-0.334806</c:v>
                </c:pt>
                <c:pt idx="167">
                  <c:v>-0.266581</c:v>
                </c:pt>
                <c:pt idx="168">
                  <c:v>-0.326124</c:v>
                </c:pt>
                <c:pt idx="169">
                  <c:v>-0.129813</c:v>
                </c:pt>
                <c:pt idx="170">
                  <c:v>-0.312969</c:v>
                </c:pt>
                <c:pt idx="171">
                  <c:v>-0.352621</c:v>
                </c:pt>
                <c:pt idx="172">
                  <c:v>-0.347734</c:v>
                </c:pt>
                <c:pt idx="173">
                  <c:v>-0.190634</c:v>
                </c:pt>
                <c:pt idx="174">
                  <c:v>-0.363095</c:v>
                </c:pt>
                <c:pt idx="175">
                  <c:v>-0.321848</c:v>
                </c:pt>
                <c:pt idx="176">
                  <c:v>-0.357573</c:v>
                </c:pt>
                <c:pt idx="177">
                  <c:v>-0.281481</c:v>
                </c:pt>
                <c:pt idx="178">
                  <c:v>-0.405008</c:v>
                </c:pt>
                <c:pt idx="179">
                  <c:v>-0.391357</c:v>
                </c:pt>
                <c:pt idx="180">
                  <c:v>-0.2841</c:v>
                </c:pt>
                <c:pt idx="181">
                  <c:v>-0.334324</c:v>
                </c:pt>
                <c:pt idx="182">
                  <c:v>-0.173352</c:v>
                </c:pt>
                <c:pt idx="183">
                  <c:v>-0.323287</c:v>
                </c:pt>
                <c:pt idx="184">
                  <c:v>-0.096178</c:v>
                </c:pt>
                <c:pt idx="185">
                  <c:v>-0.169593</c:v>
                </c:pt>
                <c:pt idx="186">
                  <c:v>-0.158651</c:v>
                </c:pt>
                <c:pt idx="187">
                  <c:v>-0.306415</c:v>
                </c:pt>
                <c:pt idx="188">
                  <c:v>-0.307462</c:v>
                </c:pt>
                <c:pt idx="189">
                  <c:v>-0.493351</c:v>
                </c:pt>
                <c:pt idx="190">
                  <c:v>-0.21188</c:v>
                </c:pt>
                <c:pt idx="191">
                  <c:v>-0.335728</c:v>
                </c:pt>
                <c:pt idx="192">
                  <c:v>-0.371538</c:v>
                </c:pt>
                <c:pt idx="193">
                  <c:v>-0.197269</c:v>
                </c:pt>
                <c:pt idx="194">
                  <c:v>-0.337781</c:v>
                </c:pt>
                <c:pt idx="195">
                  <c:v>-0.201553</c:v>
                </c:pt>
                <c:pt idx="196">
                  <c:v>-0.222575</c:v>
                </c:pt>
                <c:pt idx="197">
                  <c:v>-0.288197</c:v>
                </c:pt>
                <c:pt idx="198">
                  <c:v>-0.197208</c:v>
                </c:pt>
                <c:pt idx="199">
                  <c:v>-0.388245</c:v>
                </c:pt>
                <c:pt idx="200">
                  <c:v>-0.175139</c:v>
                </c:pt>
                <c:pt idx="201">
                  <c:v>-0.37612</c:v>
                </c:pt>
                <c:pt idx="202">
                  <c:v>-0.200363</c:v>
                </c:pt>
                <c:pt idx="203">
                  <c:v>-0.235996</c:v>
                </c:pt>
                <c:pt idx="204">
                  <c:v>-0.281903</c:v>
                </c:pt>
                <c:pt idx="205">
                  <c:v>-0.136136</c:v>
                </c:pt>
                <c:pt idx="206">
                  <c:v>-0.323397</c:v>
                </c:pt>
                <c:pt idx="207">
                  <c:v>-0.292832</c:v>
                </c:pt>
                <c:pt idx="208">
                  <c:v>-0.214408</c:v>
                </c:pt>
                <c:pt idx="209">
                  <c:v>-0.245104</c:v>
                </c:pt>
                <c:pt idx="210">
                  <c:v>-0.2779</c:v>
                </c:pt>
                <c:pt idx="211">
                  <c:v>-0.227524</c:v>
                </c:pt>
                <c:pt idx="212">
                  <c:v>-0.248306</c:v>
                </c:pt>
                <c:pt idx="213">
                  <c:v>-0.269794</c:v>
                </c:pt>
                <c:pt idx="214">
                  <c:v>-0.095741</c:v>
                </c:pt>
                <c:pt idx="215">
                  <c:v>-0.205836</c:v>
                </c:pt>
                <c:pt idx="216">
                  <c:v>-0.209339</c:v>
                </c:pt>
                <c:pt idx="217">
                  <c:v>-0.044659</c:v>
                </c:pt>
                <c:pt idx="218">
                  <c:v>-0.264976</c:v>
                </c:pt>
                <c:pt idx="219">
                  <c:v>-0.431491</c:v>
                </c:pt>
                <c:pt idx="220">
                  <c:v>-0.391946</c:v>
                </c:pt>
                <c:pt idx="221">
                  <c:v>-0.313343</c:v>
                </c:pt>
                <c:pt idx="222">
                  <c:v>-0.294968</c:v>
                </c:pt>
                <c:pt idx="223">
                  <c:v>-0.331257</c:v>
                </c:pt>
                <c:pt idx="224">
                  <c:v>-0.17198</c:v>
                </c:pt>
                <c:pt idx="225">
                  <c:v>-0.326147</c:v>
                </c:pt>
                <c:pt idx="226">
                  <c:v>-0.201468</c:v>
                </c:pt>
                <c:pt idx="227">
                  <c:v>-0.105511</c:v>
                </c:pt>
                <c:pt idx="228">
                  <c:v>-0.266758</c:v>
                </c:pt>
                <c:pt idx="229">
                  <c:v>-0.251603</c:v>
                </c:pt>
                <c:pt idx="230">
                  <c:v>-0.28056</c:v>
                </c:pt>
                <c:pt idx="231">
                  <c:v>-0.107972</c:v>
                </c:pt>
                <c:pt idx="232">
                  <c:v>-0.299654</c:v>
                </c:pt>
                <c:pt idx="233">
                  <c:v>-0.178612</c:v>
                </c:pt>
                <c:pt idx="234">
                  <c:v>-0.284666</c:v>
                </c:pt>
                <c:pt idx="235">
                  <c:v>-0.301083</c:v>
                </c:pt>
                <c:pt idx="236">
                  <c:v>-0.29098</c:v>
                </c:pt>
                <c:pt idx="237">
                  <c:v>-0.405735</c:v>
                </c:pt>
                <c:pt idx="238">
                  <c:v>-0.297305</c:v>
                </c:pt>
              </c:numCache>
            </c:numRef>
          </c:xVal>
          <c:yVal>
            <c:numRef>
              <c:f>'Chart Data'!$B$2:$B$240</c:f>
              <c:numCache>
                <c:formatCode>0.0</c:formatCode>
                <c:ptCount val="239"/>
                <c:pt idx="0">
                  <c:v>-0.016151</c:v>
                </c:pt>
                <c:pt idx="1">
                  <c:v>-0.416391</c:v>
                </c:pt>
                <c:pt idx="2">
                  <c:v>-0.167492</c:v>
                </c:pt>
                <c:pt idx="3">
                  <c:v>-0.087393</c:v>
                </c:pt>
                <c:pt idx="4">
                  <c:v>-0.3541</c:v>
                </c:pt>
                <c:pt idx="5">
                  <c:v>-0.084456</c:v>
                </c:pt>
                <c:pt idx="6">
                  <c:v>0.088641</c:v>
                </c:pt>
                <c:pt idx="7">
                  <c:v>-0.210004</c:v>
                </c:pt>
                <c:pt idx="8">
                  <c:v>-0.237499</c:v>
                </c:pt>
                <c:pt idx="9">
                  <c:v>-0.095797</c:v>
                </c:pt>
                <c:pt idx="10">
                  <c:v>-0.083376</c:v>
                </c:pt>
                <c:pt idx="11">
                  <c:v>-0.362098</c:v>
                </c:pt>
                <c:pt idx="12">
                  <c:v>-0.084101</c:v>
                </c:pt>
                <c:pt idx="13">
                  <c:v>-0.262387</c:v>
                </c:pt>
                <c:pt idx="14">
                  <c:v>-0.133495</c:v>
                </c:pt>
                <c:pt idx="15">
                  <c:v>-0.105094</c:v>
                </c:pt>
                <c:pt idx="16">
                  <c:v>0.096091</c:v>
                </c:pt>
                <c:pt idx="17">
                  <c:v>0.015848</c:v>
                </c:pt>
                <c:pt idx="18">
                  <c:v>-0.261666</c:v>
                </c:pt>
                <c:pt idx="19">
                  <c:v>-0.331475</c:v>
                </c:pt>
                <c:pt idx="20">
                  <c:v>0.086282</c:v>
                </c:pt>
                <c:pt idx="21">
                  <c:v>0.004749</c:v>
                </c:pt>
                <c:pt idx="22">
                  <c:v>-0.080276</c:v>
                </c:pt>
                <c:pt idx="23">
                  <c:v>-0.118518</c:v>
                </c:pt>
                <c:pt idx="24">
                  <c:v>-0.261856</c:v>
                </c:pt>
                <c:pt idx="25">
                  <c:v>-0.030479</c:v>
                </c:pt>
                <c:pt idx="26">
                  <c:v>-0.121202</c:v>
                </c:pt>
                <c:pt idx="27">
                  <c:v>-0.136984</c:v>
                </c:pt>
                <c:pt idx="28">
                  <c:v>-0.235948</c:v>
                </c:pt>
                <c:pt idx="29">
                  <c:v>-0.072775</c:v>
                </c:pt>
                <c:pt idx="30">
                  <c:v>-0.229036</c:v>
                </c:pt>
                <c:pt idx="31">
                  <c:v>-0.114118</c:v>
                </c:pt>
                <c:pt idx="32">
                  <c:v>-0.031373</c:v>
                </c:pt>
                <c:pt idx="33">
                  <c:v>-0.135867</c:v>
                </c:pt>
                <c:pt idx="34">
                  <c:v>-0.076425</c:v>
                </c:pt>
                <c:pt idx="35">
                  <c:v>0.061305</c:v>
                </c:pt>
                <c:pt idx="36">
                  <c:v>-0.232386</c:v>
                </c:pt>
                <c:pt idx="37">
                  <c:v>-0.187447</c:v>
                </c:pt>
                <c:pt idx="38">
                  <c:v>-0.273937</c:v>
                </c:pt>
                <c:pt idx="39">
                  <c:v>-0.066078</c:v>
                </c:pt>
                <c:pt idx="40">
                  <c:v>-0.081683</c:v>
                </c:pt>
                <c:pt idx="41">
                  <c:v>-0.027394</c:v>
                </c:pt>
                <c:pt idx="42">
                  <c:v>-0.075827</c:v>
                </c:pt>
                <c:pt idx="43">
                  <c:v>-0.093014</c:v>
                </c:pt>
                <c:pt idx="44">
                  <c:v>0.136945</c:v>
                </c:pt>
                <c:pt idx="45">
                  <c:v>0.05171</c:v>
                </c:pt>
                <c:pt idx="46">
                  <c:v>-0.377721</c:v>
                </c:pt>
                <c:pt idx="47">
                  <c:v>0.010836</c:v>
                </c:pt>
                <c:pt idx="48">
                  <c:v>-0.095802</c:v>
                </c:pt>
                <c:pt idx="49">
                  <c:v>-0.232747</c:v>
                </c:pt>
                <c:pt idx="50">
                  <c:v>0.016347</c:v>
                </c:pt>
                <c:pt idx="51">
                  <c:v>-0.209541</c:v>
                </c:pt>
                <c:pt idx="52">
                  <c:v>-0.281125</c:v>
                </c:pt>
                <c:pt idx="53">
                  <c:v>-0.209535</c:v>
                </c:pt>
                <c:pt idx="54">
                  <c:v>-0.228495</c:v>
                </c:pt>
                <c:pt idx="55">
                  <c:v>-0.174511</c:v>
                </c:pt>
                <c:pt idx="56">
                  <c:v>-0.012803</c:v>
                </c:pt>
                <c:pt idx="57">
                  <c:v>-0.064405</c:v>
                </c:pt>
                <c:pt idx="58">
                  <c:v>0.059249</c:v>
                </c:pt>
                <c:pt idx="59">
                  <c:v>-0.25653</c:v>
                </c:pt>
                <c:pt idx="60">
                  <c:v>0.138679</c:v>
                </c:pt>
                <c:pt idx="61">
                  <c:v>-0.034088</c:v>
                </c:pt>
                <c:pt idx="62">
                  <c:v>-0.188701</c:v>
                </c:pt>
                <c:pt idx="63">
                  <c:v>-0.134234</c:v>
                </c:pt>
                <c:pt idx="64">
                  <c:v>-0.038237</c:v>
                </c:pt>
                <c:pt idx="65">
                  <c:v>-0.15757</c:v>
                </c:pt>
                <c:pt idx="66">
                  <c:v>-0.28791</c:v>
                </c:pt>
                <c:pt idx="67">
                  <c:v>-0.256585</c:v>
                </c:pt>
                <c:pt idx="68">
                  <c:v>-0.14872</c:v>
                </c:pt>
                <c:pt idx="69">
                  <c:v>0.010617</c:v>
                </c:pt>
                <c:pt idx="70">
                  <c:v>-0.232289</c:v>
                </c:pt>
                <c:pt idx="71">
                  <c:v>0.029303</c:v>
                </c:pt>
                <c:pt idx="72">
                  <c:v>-0.333467</c:v>
                </c:pt>
                <c:pt idx="73">
                  <c:v>-0.196371</c:v>
                </c:pt>
                <c:pt idx="74">
                  <c:v>-0.201103</c:v>
                </c:pt>
                <c:pt idx="75">
                  <c:v>-0.285243</c:v>
                </c:pt>
                <c:pt idx="76">
                  <c:v>-0.021639</c:v>
                </c:pt>
                <c:pt idx="77">
                  <c:v>-0.207089</c:v>
                </c:pt>
                <c:pt idx="78">
                  <c:v>-0.101236</c:v>
                </c:pt>
                <c:pt idx="79">
                  <c:v>-0.150726</c:v>
                </c:pt>
                <c:pt idx="80">
                  <c:v>-0.153088</c:v>
                </c:pt>
                <c:pt idx="81">
                  <c:v>-0.042993</c:v>
                </c:pt>
                <c:pt idx="82">
                  <c:v>-0.079582</c:v>
                </c:pt>
                <c:pt idx="83">
                  <c:v>-0.167902</c:v>
                </c:pt>
                <c:pt idx="84">
                  <c:v>-0.020637</c:v>
                </c:pt>
                <c:pt idx="85">
                  <c:v>-0.267203</c:v>
                </c:pt>
                <c:pt idx="86">
                  <c:v>-0.265851</c:v>
                </c:pt>
                <c:pt idx="87">
                  <c:v>-0.162916</c:v>
                </c:pt>
                <c:pt idx="88">
                  <c:v>0.0231</c:v>
                </c:pt>
                <c:pt idx="89">
                  <c:v>-0.087403</c:v>
                </c:pt>
                <c:pt idx="90">
                  <c:v>-0.115924</c:v>
                </c:pt>
                <c:pt idx="91">
                  <c:v>0.115024</c:v>
                </c:pt>
                <c:pt idx="92">
                  <c:v>-0.076797</c:v>
                </c:pt>
                <c:pt idx="93">
                  <c:v>-0.145449</c:v>
                </c:pt>
                <c:pt idx="94">
                  <c:v>-0.152905</c:v>
                </c:pt>
                <c:pt idx="95">
                  <c:v>-0.231842</c:v>
                </c:pt>
                <c:pt idx="96">
                  <c:v>-0.391192</c:v>
                </c:pt>
                <c:pt idx="97">
                  <c:v>-0.270742</c:v>
                </c:pt>
                <c:pt idx="98">
                  <c:v>-0.323692</c:v>
                </c:pt>
                <c:pt idx="99">
                  <c:v>-0.110189</c:v>
                </c:pt>
                <c:pt idx="100">
                  <c:v>-0.26118</c:v>
                </c:pt>
                <c:pt idx="101">
                  <c:v>0.09754</c:v>
                </c:pt>
                <c:pt idx="102">
                  <c:v>0.145065</c:v>
                </c:pt>
                <c:pt idx="103">
                  <c:v>-0.144647</c:v>
                </c:pt>
                <c:pt idx="104">
                  <c:v>-0.289046</c:v>
                </c:pt>
                <c:pt idx="105">
                  <c:v>0.085893</c:v>
                </c:pt>
                <c:pt idx="106">
                  <c:v>-0.237058</c:v>
                </c:pt>
                <c:pt idx="107">
                  <c:v>-0.070294</c:v>
                </c:pt>
                <c:pt idx="108">
                  <c:v>-0.136053</c:v>
                </c:pt>
                <c:pt idx="109">
                  <c:v>0.059882</c:v>
                </c:pt>
                <c:pt idx="110">
                  <c:v>-0.190248</c:v>
                </c:pt>
                <c:pt idx="111">
                  <c:v>-0.057648</c:v>
                </c:pt>
                <c:pt idx="112">
                  <c:v>-0.329876</c:v>
                </c:pt>
                <c:pt idx="113">
                  <c:v>-0.17278</c:v>
                </c:pt>
                <c:pt idx="114">
                  <c:v>-0.215102</c:v>
                </c:pt>
                <c:pt idx="115">
                  <c:v>-0.296934</c:v>
                </c:pt>
                <c:pt idx="116">
                  <c:v>-0.029528</c:v>
                </c:pt>
                <c:pt idx="117">
                  <c:v>0.06459</c:v>
                </c:pt>
                <c:pt idx="118">
                  <c:v>-0.138712</c:v>
                </c:pt>
                <c:pt idx="119">
                  <c:v>0.006608</c:v>
                </c:pt>
                <c:pt idx="120">
                  <c:v>-0.267471</c:v>
                </c:pt>
                <c:pt idx="121">
                  <c:v>-0.103263</c:v>
                </c:pt>
                <c:pt idx="122">
                  <c:v>0.113202</c:v>
                </c:pt>
                <c:pt idx="123">
                  <c:v>0.04996</c:v>
                </c:pt>
                <c:pt idx="124">
                  <c:v>0.114418</c:v>
                </c:pt>
                <c:pt idx="125">
                  <c:v>-0.125577</c:v>
                </c:pt>
                <c:pt idx="126">
                  <c:v>-0.3087</c:v>
                </c:pt>
                <c:pt idx="127">
                  <c:v>-0.058113</c:v>
                </c:pt>
                <c:pt idx="128">
                  <c:v>-0.012618</c:v>
                </c:pt>
                <c:pt idx="129">
                  <c:v>-0.266408</c:v>
                </c:pt>
                <c:pt idx="130">
                  <c:v>-0.099335</c:v>
                </c:pt>
                <c:pt idx="131">
                  <c:v>-0.122023</c:v>
                </c:pt>
                <c:pt idx="132">
                  <c:v>0.017656</c:v>
                </c:pt>
                <c:pt idx="133">
                  <c:v>-0.04985</c:v>
                </c:pt>
                <c:pt idx="134">
                  <c:v>0.037558</c:v>
                </c:pt>
                <c:pt idx="135">
                  <c:v>-0.269246</c:v>
                </c:pt>
                <c:pt idx="136">
                  <c:v>0.122417</c:v>
                </c:pt>
                <c:pt idx="137">
                  <c:v>-0.102747</c:v>
                </c:pt>
                <c:pt idx="138">
                  <c:v>-0.027658</c:v>
                </c:pt>
                <c:pt idx="139">
                  <c:v>-0.144574</c:v>
                </c:pt>
                <c:pt idx="140">
                  <c:v>-0.134839</c:v>
                </c:pt>
                <c:pt idx="141">
                  <c:v>-0.069728</c:v>
                </c:pt>
                <c:pt idx="142">
                  <c:v>-0.140324</c:v>
                </c:pt>
                <c:pt idx="143">
                  <c:v>-0.2999</c:v>
                </c:pt>
                <c:pt idx="144">
                  <c:v>0.003355</c:v>
                </c:pt>
                <c:pt idx="145">
                  <c:v>-0.104005</c:v>
                </c:pt>
                <c:pt idx="146">
                  <c:v>0.088744</c:v>
                </c:pt>
                <c:pt idx="147">
                  <c:v>-0.055446</c:v>
                </c:pt>
                <c:pt idx="148">
                  <c:v>-0.319915</c:v>
                </c:pt>
                <c:pt idx="149">
                  <c:v>-0.002553</c:v>
                </c:pt>
                <c:pt idx="150">
                  <c:v>-0.310151</c:v>
                </c:pt>
                <c:pt idx="151">
                  <c:v>-0.336962</c:v>
                </c:pt>
                <c:pt idx="152">
                  <c:v>-0.302651</c:v>
                </c:pt>
                <c:pt idx="153">
                  <c:v>-0.120956</c:v>
                </c:pt>
                <c:pt idx="154">
                  <c:v>-0.125832</c:v>
                </c:pt>
                <c:pt idx="155">
                  <c:v>0.02149</c:v>
                </c:pt>
                <c:pt idx="156">
                  <c:v>-0.067399</c:v>
                </c:pt>
                <c:pt idx="157">
                  <c:v>-0.425012</c:v>
                </c:pt>
                <c:pt idx="158">
                  <c:v>0.016319</c:v>
                </c:pt>
                <c:pt idx="159">
                  <c:v>0.020456</c:v>
                </c:pt>
                <c:pt idx="160">
                  <c:v>-0.150811</c:v>
                </c:pt>
                <c:pt idx="161">
                  <c:v>0.028174</c:v>
                </c:pt>
                <c:pt idx="162">
                  <c:v>-0.330367</c:v>
                </c:pt>
                <c:pt idx="163">
                  <c:v>0.078298</c:v>
                </c:pt>
                <c:pt idx="164">
                  <c:v>0.028978</c:v>
                </c:pt>
                <c:pt idx="165">
                  <c:v>-0.400087</c:v>
                </c:pt>
                <c:pt idx="166">
                  <c:v>0.204518</c:v>
                </c:pt>
                <c:pt idx="167">
                  <c:v>-0.325494</c:v>
                </c:pt>
                <c:pt idx="168">
                  <c:v>-0.21247</c:v>
                </c:pt>
                <c:pt idx="169">
                  <c:v>-0.290564</c:v>
                </c:pt>
                <c:pt idx="170">
                  <c:v>0.105024</c:v>
                </c:pt>
                <c:pt idx="171">
                  <c:v>-0.02939</c:v>
                </c:pt>
                <c:pt idx="172">
                  <c:v>-0.268725</c:v>
                </c:pt>
                <c:pt idx="173">
                  <c:v>-0.287977</c:v>
                </c:pt>
                <c:pt idx="174">
                  <c:v>0.024522</c:v>
                </c:pt>
                <c:pt idx="175">
                  <c:v>0.135137</c:v>
                </c:pt>
                <c:pt idx="176">
                  <c:v>0.010617</c:v>
                </c:pt>
                <c:pt idx="177">
                  <c:v>-0.267117</c:v>
                </c:pt>
                <c:pt idx="178">
                  <c:v>-0.293699</c:v>
                </c:pt>
                <c:pt idx="179">
                  <c:v>-0.022495</c:v>
                </c:pt>
                <c:pt idx="180">
                  <c:v>-0.26692</c:v>
                </c:pt>
                <c:pt idx="181">
                  <c:v>-0.083479</c:v>
                </c:pt>
                <c:pt idx="182">
                  <c:v>-0.217076</c:v>
                </c:pt>
                <c:pt idx="183">
                  <c:v>0.04392</c:v>
                </c:pt>
                <c:pt idx="184">
                  <c:v>-0.191002</c:v>
                </c:pt>
                <c:pt idx="185">
                  <c:v>-0.036414</c:v>
                </c:pt>
                <c:pt idx="186">
                  <c:v>-0.032039</c:v>
                </c:pt>
                <c:pt idx="187">
                  <c:v>0.011388</c:v>
                </c:pt>
                <c:pt idx="188">
                  <c:v>0.142255</c:v>
                </c:pt>
                <c:pt idx="189">
                  <c:v>-0.274157</c:v>
                </c:pt>
                <c:pt idx="190">
                  <c:v>0.017589</c:v>
                </c:pt>
                <c:pt idx="191">
                  <c:v>-0.063239</c:v>
                </c:pt>
                <c:pt idx="192">
                  <c:v>-0.252138</c:v>
                </c:pt>
                <c:pt idx="193">
                  <c:v>-0.118564</c:v>
                </c:pt>
                <c:pt idx="194">
                  <c:v>-0.020493</c:v>
                </c:pt>
                <c:pt idx="195">
                  <c:v>-0.043268</c:v>
                </c:pt>
                <c:pt idx="196">
                  <c:v>0.113016</c:v>
                </c:pt>
                <c:pt idx="197">
                  <c:v>-0.10855</c:v>
                </c:pt>
                <c:pt idx="198">
                  <c:v>0.031081</c:v>
                </c:pt>
                <c:pt idx="199">
                  <c:v>-0.204702</c:v>
                </c:pt>
                <c:pt idx="200">
                  <c:v>0.030634</c:v>
                </c:pt>
                <c:pt idx="201">
                  <c:v>-0.33545</c:v>
                </c:pt>
                <c:pt idx="202">
                  <c:v>-0.12769</c:v>
                </c:pt>
                <c:pt idx="203">
                  <c:v>0.034953</c:v>
                </c:pt>
                <c:pt idx="204">
                  <c:v>-0.092141</c:v>
                </c:pt>
                <c:pt idx="205">
                  <c:v>-0.284264</c:v>
                </c:pt>
                <c:pt idx="206">
                  <c:v>-0.122966</c:v>
                </c:pt>
                <c:pt idx="207">
                  <c:v>-0.322283</c:v>
                </c:pt>
                <c:pt idx="208">
                  <c:v>-0.237788</c:v>
                </c:pt>
                <c:pt idx="209">
                  <c:v>-0.152929</c:v>
                </c:pt>
                <c:pt idx="210">
                  <c:v>0.025316</c:v>
                </c:pt>
                <c:pt idx="211">
                  <c:v>-0.163142</c:v>
                </c:pt>
                <c:pt idx="212">
                  <c:v>-0.14294</c:v>
                </c:pt>
                <c:pt idx="213">
                  <c:v>0.102919</c:v>
                </c:pt>
                <c:pt idx="214">
                  <c:v>-0.005031</c:v>
                </c:pt>
                <c:pt idx="215">
                  <c:v>-0.195448</c:v>
                </c:pt>
                <c:pt idx="216">
                  <c:v>0.085113</c:v>
                </c:pt>
                <c:pt idx="217">
                  <c:v>0.037109</c:v>
                </c:pt>
                <c:pt idx="218">
                  <c:v>-0.013063</c:v>
                </c:pt>
                <c:pt idx="219">
                  <c:v>-0.342253</c:v>
                </c:pt>
                <c:pt idx="220">
                  <c:v>-0.15621</c:v>
                </c:pt>
                <c:pt idx="221">
                  <c:v>0.213915</c:v>
                </c:pt>
                <c:pt idx="222">
                  <c:v>-0.212649</c:v>
                </c:pt>
                <c:pt idx="223">
                  <c:v>-0.06326</c:v>
                </c:pt>
                <c:pt idx="224">
                  <c:v>-0.032152</c:v>
                </c:pt>
                <c:pt idx="225">
                  <c:v>-0.322984</c:v>
                </c:pt>
                <c:pt idx="226">
                  <c:v>-0.498939</c:v>
                </c:pt>
                <c:pt idx="227">
                  <c:v>-0.132535</c:v>
                </c:pt>
                <c:pt idx="228">
                  <c:v>0.027966</c:v>
                </c:pt>
                <c:pt idx="229">
                  <c:v>-0.232088</c:v>
                </c:pt>
                <c:pt idx="230">
                  <c:v>-0.392699</c:v>
                </c:pt>
                <c:pt idx="231">
                  <c:v>-0.020764</c:v>
                </c:pt>
                <c:pt idx="232">
                  <c:v>-0.021416</c:v>
                </c:pt>
                <c:pt idx="233">
                  <c:v>-0.121823</c:v>
                </c:pt>
                <c:pt idx="234">
                  <c:v>-0.033705</c:v>
                </c:pt>
                <c:pt idx="235">
                  <c:v>-0.306821</c:v>
                </c:pt>
                <c:pt idx="236">
                  <c:v>-0.309108</c:v>
                </c:pt>
                <c:pt idx="237">
                  <c:v>-0.088261</c:v>
                </c:pt>
                <c:pt idx="238">
                  <c:v>-0.127024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6"/>
        </c:scaling>
        <c:delete val="0"/>
        <c:axPos val="l"/>
        <c:majorGridlines>
          <c:spPr>
            <a:ln xmlns:a="http://schemas.openxmlformats.org/drawingml/2006/main" w="5715">
              <a:solidFill>
                <a:srgbClr val="E5E7EA"/>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majorUnit val="0.6"/>
      </c:valAx>
      <c:valAx>
        <c:axId val="48650112"/>
        <c:scaling>
          <c:orientation val="minMax"/>
          <c:max val="0.6"/>
          <c:min val="-0.6"/>
        </c:scaling>
        <c:delete val="0"/>
        <c:axPos val="b"/>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majorUnit val="0.6"/>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b="1">
                <a:solidFill>
                  <a:srgbClr val="9467BD"/>
                </a:solidFill>
                <a:latin typeface="Arial"/>
                <a:ea typeface="Arial"/>
                <a:cs typeface="Arial"/>
              </a:rPr>
              <a:t>C3  (n = 278)</a:t>
            </a:r>
          </a:p>
        </c:rich>
      </c:tx>
      <c:overlay val="0"/>
      <c:txPr>
        <a:bodyPr xmlns:a="http://schemas.openxmlformats.org/drawingml/2006/main" anchorCtr="1"/>
        <a:lstStyle xmlns:a="http://schemas.openxmlformats.org/drawingml/2006/main"/>
        <a:p xmlns:a="http://schemas.openxmlformats.org/drawingml/2006/main">
          <a:pPr>
            <a:defRPr sz="1500" b="1">
              <a:solidFill>
                <a:srgbClr val="9467BD"/>
              </a:solidFill>
              <a:latin typeface="Arial"/>
              <a:ea typeface="Arial"/>
              <a:cs typeface="Arial"/>
            </a:defRPr>
          </a:pPr>
        </a:p>
      </c:txPr>
    </c:title>
    <c:plotArea>
      <c:scatterChart>
        <c:scatterStyle val="marker"/>
        <c:ser>
          <c:idx val="0"/>
          <c:order val="0"/>
          <c:tx>
            <c:v>C3</c:v>
          </c:tx>
          <c:spPr>
            <a:solidFill xmlns:a="http://schemas.openxmlformats.org/drawingml/2006/main">
              <a:srgbClr val="9467BD"/>
            </a:solidFill>
            <a:ln xmlns:a="http://schemas.openxmlformats.org/drawingml/2006/main" w="0">
              <a:noFill/>
            </a:ln>
          </c:spPr>
          <c:marker>
            <c:symbol val="circle"/>
            <c:size val="3"/>
            <c:spPr>
              <ns0:solidFill xmlns:ns0="http://schemas.openxmlformats.org/drawingml/2006/main">
                <ns0:srgbClr val="9467BD"/>
              </ns0:solidFill>
              <ns1:ln xmlns:ns1="http://schemas.openxmlformats.org/drawingml/2006/main" w="0">
                <ns1:noFill/>
              </ns1:ln>
            </c:spPr>
          </c:marker>
          <c:xVal>
            <c:numRef>
              <c:f>'Chart Data'!$A$2:$A$279</c:f>
              <c:numCache>
                <c:formatCode>General</c:formatCode>
                <c:ptCount val="278"/>
                <c:pt idx="0">
                  <c:v>0.421789</c:v>
                </c:pt>
                <c:pt idx="1">
                  <c:v>-0.14933</c:v>
                </c:pt>
                <c:pt idx="2">
                  <c:v>-0.191904</c:v>
                </c:pt>
                <c:pt idx="3">
                  <c:v>0.269388</c:v>
                </c:pt>
                <c:pt idx="4">
                  <c:v>-0.0963</c:v>
                </c:pt>
                <c:pt idx="5">
                  <c:v>0.250827</c:v>
                </c:pt>
                <c:pt idx="6">
                  <c:v>0.250298</c:v>
                </c:pt>
                <c:pt idx="7">
                  <c:v>-0.043374</c:v>
                </c:pt>
                <c:pt idx="8">
                  <c:v>0.159774</c:v>
                </c:pt>
                <c:pt idx="9">
                  <c:v>0.266927</c:v>
                </c:pt>
                <c:pt idx="10">
                  <c:v>-0.077473</c:v>
                </c:pt>
                <c:pt idx="11">
                  <c:v>0.059864</c:v>
                </c:pt>
                <c:pt idx="12">
                  <c:v>0.065691</c:v>
                </c:pt>
                <c:pt idx="13">
                  <c:v>-0.030009</c:v>
                </c:pt>
                <c:pt idx="14">
                  <c:v>0.307356</c:v>
                </c:pt>
                <c:pt idx="15">
                  <c:v>-0.160407</c:v>
                </c:pt>
                <c:pt idx="16">
                  <c:v>-0.008237</c:v>
                </c:pt>
                <c:pt idx="17">
                  <c:v>0.001304</c:v>
                </c:pt>
                <c:pt idx="18">
                  <c:v>-0.163808</c:v>
                </c:pt>
                <c:pt idx="19">
                  <c:v>0.231284</c:v>
                </c:pt>
                <c:pt idx="20">
                  <c:v>0.244908</c:v>
                </c:pt>
                <c:pt idx="21">
                  <c:v>0.050363</c:v>
                </c:pt>
                <c:pt idx="22">
                  <c:v>0.149075</c:v>
                </c:pt>
                <c:pt idx="23">
                  <c:v>0.109972</c:v>
                </c:pt>
                <c:pt idx="24">
                  <c:v>0.526547</c:v>
                </c:pt>
                <c:pt idx="25">
                  <c:v>0.115117</c:v>
                </c:pt>
                <c:pt idx="26">
                  <c:v>0.307197</c:v>
                </c:pt>
                <c:pt idx="27">
                  <c:v>0.288753</c:v>
                </c:pt>
                <c:pt idx="28">
                  <c:v>0.162677</c:v>
                </c:pt>
                <c:pt idx="29">
                  <c:v>-0.052604</c:v>
                </c:pt>
                <c:pt idx="30">
                  <c:v>-0.119023</c:v>
                </c:pt>
                <c:pt idx="31">
                  <c:v>0.215575</c:v>
                </c:pt>
                <c:pt idx="32">
                  <c:v>-0.051381</c:v>
                </c:pt>
                <c:pt idx="33">
                  <c:v>0.117422</c:v>
                </c:pt>
                <c:pt idx="34">
                  <c:v>0.396662</c:v>
                </c:pt>
                <c:pt idx="35">
                  <c:v>0.19072</c:v>
                </c:pt>
                <c:pt idx="36">
                  <c:v>0.297507</c:v>
                </c:pt>
                <c:pt idx="37">
                  <c:v>0.037315</c:v>
                </c:pt>
                <c:pt idx="38">
                  <c:v>0.135866</c:v>
                </c:pt>
                <c:pt idx="39">
                  <c:v>0.201118</c:v>
                </c:pt>
                <c:pt idx="40">
                  <c:v>0.327495</c:v>
                </c:pt>
                <c:pt idx="41">
                  <c:v>-0.139318</c:v>
                </c:pt>
                <c:pt idx="42">
                  <c:v>0.119784</c:v>
                </c:pt>
                <c:pt idx="43">
                  <c:v>0.024985</c:v>
                </c:pt>
                <c:pt idx="44">
                  <c:v>0.098524</c:v>
                </c:pt>
                <c:pt idx="45">
                  <c:v>0.264691</c:v>
                </c:pt>
                <c:pt idx="46">
                  <c:v>0.216399</c:v>
                </c:pt>
                <c:pt idx="47">
                  <c:v>0.058405</c:v>
                </c:pt>
                <c:pt idx="48">
                  <c:v>0.038843</c:v>
                </c:pt>
                <c:pt idx="49">
                  <c:v>0.290395</c:v>
                </c:pt>
                <c:pt idx="50">
                  <c:v>0.095092</c:v>
                </c:pt>
                <c:pt idx="51">
                  <c:v>0.292037</c:v>
                </c:pt>
                <c:pt idx="52">
                  <c:v>0.020458</c:v>
                </c:pt>
                <c:pt idx="53">
                  <c:v>0.314327</c:v>
                </c:pt>
                <c:pt idx="54">
                  <c:v>0.048882</c:v>
                </c:pt>
                <c:pt idx="55">
                  <c:v>0.104842</c:v>
                </c:pt>
                <c:pt idx="56">
                  <c:v>-0.112403</c:v>
                </c:pt>
                <c:pt idx="57">
                  <c:v>0.108468</c:v>
                </c:pt>
                <c:pt idx="58">
                  <c:v>0.171753</c:v>
                </c:pt>
                <c:pt idx="59">
                  <c:v>0.174141</c:v>
                </c:pt>
                <c:pt idx="60">
                  <c:v>0.363776</c:v>
                </c:pt>
                <c:pt idx="61">
                  <c:v>0.253195</c:v>
                </c:pt>
                <c:pt idx="62">
                  <c:v>-0.093771</c:v>
                </c:pt>
                <c:pt idx="63">
                  <c:v>-0.00022</c:v>
                </c:pt>
                <c:pt idx="64">
                  <c:v>0.099195</c:v>
                </c:pt>
                <c:pt idx="65">
                  <c:v>0.236331</c:v>
                </c:pt>
                <c:pt idx="66">
                  <c:v>0.096926</c:v>
                </c:pt>
                <c:pt idx="67">
                  <c:v>0.146842</c:v>
                </c:pt>
                <c:pt idx="68">
                  <c:v>0.058961</c:v>
                </c:pt>
                <c:pt idx="69">
                  <c:v>-0.059041</c:v>
                </c:pt>
                <c:pt idx="70">
                  <c:v>0.022863</c:v>
                </c:pt>
                <c:pt idx="71">
                  <c:v>0.122736</c:v>
                </c:pt>
                <c:pt idx="72">
                  <c:v>0.018181</c:v>
                </c:pt>
                <c:pt idx="73">
                  <c:v>0.006291</c:v>
                </c:pt>
                <c:pt idx="74">
                  <c:v>0.233881</c:v>
                </c:pt>
                <c:pt idx="75">
                  <c:v>0.139049</c:v>
                </c:pt>
                <c:pt idx="76">
                  <c:v>0.100861</c:v>
                </c:pt>
                <c:pt idx="77">
                  <c:v>-0.161871</c:v>
                </c:pt>
                <c:pt idx="78">
                  <c:v>0.197724</c:v>
                </c:pt>
                <c:pt idx="79">
                  <c:v>0.046016</c:v>
                </c:pt>
                <c:pt idx="80">
                  <c:v>0.120214</c:v>
                </c:pt>
                <c:pt idx="81">
                  <c:v>-0.020053</c:v>
                </c:pt>
                <c:pt idx="82">
                  <c:v>0.193157</c:v>
                </c:pt>
                <c:pt idx="83">
                  <c:v>0.202502</c:v>
                </c:pt>
                <c:pt idx="84">
                  <c:v>0.199394</c:v>
                </c:pt>
                <c:pt idx="85">
                  <c:v>0.276754</c:v>
                </c:pt>
                <c:pt idx="86">
                  <c:v>0.098759</c:v>
                </c:pt>
                <c:pt idx="87">
                  <c:v>-0.063108</c:v>
                </c:pt>
                <c:pt idx="88">
                  <c:v>0.24796</c:v>
                </c:pt>
                <c:pt idx="89">
                  <c:v>-0.03434</c:v>
                </c:pt>
                <c:pt idx="90">
                  <c:v>-0.09958</c:v>
                </c:pt>
                <c:pt idx="91">
                  <c:v>0.163557</c:v>
                </c:pt>
                <c:pt idx="92">
                  <c:v>0.205876</c:v>
                </c:pt>
                <c:pt idx="93">
                  <c:v>0.073817</c:v>
                </c:pt>
                <c:pt idx="94">
                  <c:v>-0.131028</c:v>
                </c:pt>
                <c:pt idx="95">
                  <c:v>0.416474</c:v>
                </c:pt>
                <c:pt idx="96">
                  <c:v>0.23845</c:v>
                </c:pt>
                <c:pt idx="97">
                  <c:v>0.25563</c:v>
                </c:pt>
                <c:pt idx="98">
                  <c:v>0.359922</c:v>
                </c:pt>
                <c:pt idx="99">
                  <c:v>0.048035</c:v>
                </c:pt>
                <c:pt idx="100">
                  <c:v>0.116834</c:v>
                </c:pt>
                <c:pt idx="101">
                  <c:v>0.103129</c:v>
                </c:pt>
                <c:pt idx="102">
                  <c:v>0.060819</c:v>
                </c:pt>
                <c:pt idx="103">
                  <c:v>-0.081026</c:v>
                </c:pt>
                <c:pt idx="104">
                  <c:v>0.017395</c:v>
                </c:pt>
                <c:pt idx="105">
                  <c:v>-0.010346</c:v>
                </c:pt>
                <c:pt idx="106">
                  <c:v>-0.076845</c:v>
                </c:pt>
                <c:pt idx="107">
                  <c:v>0.199335</c:v>
                </c:pt>
                <c:pt idx="108">
                  <c:v>-0.112743</c:v>
                </c:pt>
                <c:pt idx="109">
                  <c:v>0.119305</c:v>
                </c:pt>
                <c:pt idx="110">
                  <c:v>-0.089566</c:v>
                </c:pt>
                <c:pt idx="111">
                  <c:v>0.035162</c:v>
                </c:pt>
                <c:pt idx="112">
                  <c:v>0.409057</c:v>
                </c:pt>
                <c:pt idx="113">
                  <c:v>-0.060585</c:v>
                </c:pt>
                <c:pt idx="114">
                  <c:v>0.111602</c:v>
                </c:pt>
                <c:pt idx="115">
                  <c:v>0.117258</c:v>
                </c:pt>
                <c:pt idx="116">
                  <c:v>0.333011</c:v>
                </c:pt>
                <c:pt idx="117">
                  <c:v>0.193534</c:v>
                </c:pt>
                <c:pt idx="118">
                  <c:v>0.094843</c:v>
                </c:pt>
                <c:pt idx="119">
                  <c:v>0.168798</c:v>
                </c:pt>
                <c:pt idx="120">
                  <c:v>-0.015862</c:v>
                </c:pt>
                <c:pt idx="121">
                  <c:v>0.097567</c:v>
                </c:pt>
                <c:pt idx="122">
                  <c:v>0.172352</c:v>
                </c:pt>
                <c:pt idx="123">
                  <c:v>0.095979</c:v>
                </c:pt>
                <c:pt idx="124">
                  <c:v>0.394516</c:v>
                </c:pt>
                <c:pt idx="125">
                  <c:v>0.36256</c:v>
                </c:pt>
                <c:pt idx="126">
                  <c:v>-0.174035</c:v>
                </c:pt>
                <c:pt idx="127">
                  <c:v>0.264807</c:v>
                </c:pt>
                <c:pt idx="128">
                  <c:v>0.342138</c:v>
                </c:pt>
                <c:pt idx="129">
                  <c:v>0.211683</c:v>
                </c:pt>
                <c:pt idx="130">
                  <c:v>0.036831</c:v>
                </c:pt>
                <c:pt idx="131">
                  <c:v>0.128359</c:v>
                </c:pt>
                <c:pt idx="132">
                  <c:v>-0.041351</c:v>
                </c:pt>
                <c:pt idx="133">
                  <c:v>0.173155</c:v>
                </c:pt>
                <c:pt idx="134">
                  <c:v>0.183219</c:v>
                </c:pt>
                <c:pt idx="135">
                  <c:v>-0.031531</c:v>
                </c:pt>
                <c:pt idx="136">
                  <c:v>0.36487</c:v>
                </c:pt>
                <c:pt idx="137">
                  <c:v>0.05646</c:v>
                </c:pt>
                <c:pt idx="138">
                  <c:v>0.208193</c:v>
                </c:pt>
                <c:pt idx="139">
                  <c:v>0.153799</c:v>
                </c:pt>
                <c:pt idx="140">
                  <c:v>0.199444</c:v>
                </c:pt>
                <c:pt idx="141">
                  <c:v>0.235952</c:v>
                </c:pt>
                <c:pt idx="142">
                  <c:v>0.278163</c:v>
                </c:pt>
                <c:pt idx="143">
                  <c:v>0.127516</c:v>
                </c:pt>
                <c:pt idx="144">
                  <c:v>0.032895</c:v>
                </c:pt>
                <c:pt idx="145">
                  <c:v>0.292642</c:v>
                </c:pt>
                <c:pt idx="146">
                  <c:v>0.339564</c:v>
                </c:pt>
                <c:pt idx="147">
                  <c:v>0.203279</c:v>
                </c:pt>
                <c:pt idx="148">
                  <c:v>0.289286</c:v>
                </c:pt>
                <c:pt idx="149">
                  <c:v>0.301204</c:v>
                </c:pt>
                <c:pt idx="150">
                  <c:v>0.276013</c:v>
                </c:pt>
                <c:pt idx="151">
                  <c:v>0.205621</c:v>
                </c:pt>
                <c:pt idx="152">
                  <c:v>0.235145</c:v>
                </c:pt>
                <c:pt idx="153">
                  <c:v>0.272796</c:v>
                </c:pt>
                <c:pt idx="154">
                  <c:v>0.353639</c:v>
                </c:pt>
                <c:pt idx="155">
                  <c:v>0.188955</c:v>
                </c:pt>
                <c:pt idx="156">
                  <c:v>0.041818</c:v>
                </c:pt>
                <c:pt idx="157">
                  <c:v>0.352482</c:v>
                </c:pt>
                <c:pt idx="158">
                  <c:v>0.271958</c:v>
                </c:pt>
                <c:pt idx="159">
                  <c:v>-0.050365</c:v>
                </c:pt>
                <c:pt idx="160">
                  <c:v>0.280437</c:v>
                </c:pt>
                <c:pt idx="161">
                  <c:v>0.077623</c:v>
                </c:pt>
                <c:pt idx="162">
                  <c:v>0.101201</c:v>
                </c:pt>
                <c:pt idx="163">
                  <c:v>0.002838</c:v>
                </c:pt>
                <c:pt idx="164">
                  <c:v>0.109558</c:v>
                </c:pt>
                <c:pt idx="165">
                  <c:v>-0.00912</c:v>
                </c:pt>
                <c:pt idx="166">
                  <c:v>-0.081132</c:v>
                </c:pt>
                <c:pt idx="167">
                  <c:v>-0.084609</c:v>
                </c:pt>
                <c:pt idx="168">
                  <c:v>0.12159</c:v>
                </c:pt>
                <c:pt idx="169">
                  <c:v>0.426969</c:v>
                </c:pt>
                <c:pt idx="170">
                  <c:v>0.056592</c:v>
                </c:pt>
                <c:pt idx="171">
                  <c:v>0.290085</c:v>
                </c:pt>
                <c:pt idx="172">
                  <c:v>0.074877</c:v>
                </c:pt>
                <c:pt idx="173">
                  <c:v>0.164861</c:v>
                </c:pt>
                <c:pt idx="174">
                  <c:v>0.055809</c:v>
                </c:pt>
                <c:pt idx="175">
                  <c:v>0.167724</c:v>
                </c:pt>
                <c:pt idx="176">
                  <c:v>0.155549</c:v>
                </c:pt>
                <c:pt idx="177">
                  <c:v>0.233024</c:v>
                </c:pt>
                <c:pt idx="178">
                  <c:v>0.409451</c:v>
                </c:pt>
                <c:pt idx="179">
                  <c:v>0.152471</c:v>
                </c:pt>
                <c:pt idx="180">
                  <c:v>0.039726</c:v>
                </c:pt>
                <c:pt idx="181">
                  <c:v>-0.0036</c:v>
                </c:pt>
                <c:pt idx="182">
                  <c:v>0.157853</c:v>
                </c:pt>
                <c:pt idx="183">
                  <c:v>0.026942</c:v>
                </c:pt>
                <c:pt idx="184">
                  <c:v>0.07955</c:v>
                </c:pt>
                <c:pt idx="185">
                  <c:v>-0.018025</c:v>
                </c:pt>
                <c:pt idx="186">
                  <c:v>0.168329</c:v>
                </c:pt>
                <c:pt idx="187">
                  <c:v>0.025442</c:v>
                </c:pt>
                <c:pt idx="188">
                  <c:v>0.382028</c:v>
                </c:pt>
                <c:pt idx="189">
                  <c:v>0.383514</c:v>
                </c:pt>
                <c:pt idx="190">
                  <c:v>0.123603</c:v>
                </c:pt>
                <c:pt idx="191">
                  <c:v>0.288963</c:v>
                </c:pt>
                <c:pt idx="192">
                  <c:v>0.081994</c:v>
                </c:pt>
                <c:pt idx="193">
                  <c:v>0.282192</c:v>
                </c:pt>
                <c:pt idx="194">
                  <c:v>0.246717</c:v>
                </c:pt>
                <c:pt idx="195">
                  <c:v>0.173631</c:v>
                </c:pt>
                <c:pt idx="196">
                  <c:v>-0.101917</c:v>
                </c:pt>
                <c:pt idx="197">
                  <c:v>0.056169</c:v>
                </c:pt>
                <c:pt idx="198">
                  <c:v>0.146461</c:v>
                </c:pt>
                <c:pt idx="199">
                  <c:v>0.185971</c:v>
                </c:pt>
                <c:pt idx="200">
                  <c:v>0.332559</c:v>
                </c:pt>
                <c:pt idx="201">
                  <c:v>0.17879</c:v>
                </c:pt>
                <c:pt idx="202">
                  <c:v>-0.174589</c:v>
                </c:pt>
                <c:pt idx="203">
                  <c:v>0.365872</c:v>
                </c:pt>
                <c:pt idx="204">
                  <c:v>0.265194</c:v>
                </c:pt>
                <c:pt idx="205">
                  <c:v>0.03999</c:v>
                </c:pt>
                <c:pt idx="206">
                  <c:v>-0.061437</c:v>
                </c:pt>
                <c:pt idx="207">
                  <c:v>0.102201</c:v>
                </c:pt>
                <c:pt idx="208">
                  <c:v>0.006076</c:v>
                </c:pt>
                <c:pt idx="209">
                  <c:v>0.227149</c:v>
                </c:pt>
                <c:pt idx="210">
                  <c:v>-0.089842</c:v>
                </c:pt>
                <c:pt idx="211">
                  <c:v>0.136372</c:v>
                </c:pt>
                <c:pt idx="212">
                  <c:v>0.116474</c:v>
                </c:pt>
                <c:pt idx="213">
                  <c:v>0.099503</c:v>
                </c:pt>
                <c:pt idx="214">
                  <c:v>0.121053</c:v>
                </c:pt>
                <c:pt idx="215">
                  <c:v>-0.017294</c:v>
                </c:pt>
                <c:pt idx="216">
                  <c:v>0.277944</c:v>
                </c:pt>
                <c:pt idx="217">
                  <c:v>0.213854</c:v>
                </c:pt>
                <c:pt idx="218">
                  <c:v>0.314456</c:v>
                </c:pt>
                <c:pt idx="219">
                  <c:v>0.105503</c:v>
                </c:pt>
                <c:pt idx="220">
                  <c:v>0.192044</c:v>
                </c:pt>
                <c:pt idx="221">
                  <c:v>0.365674</c:v>
                </c:pt>
                <c:pt idx="222">
                  <c:v>0.173137</c:v>
                </c:pt>
                <c:pt idx="223">
                  <c:v>0.174463</c:v>
                </c:pt>
                <c:pt idx="224">
                  <c:v>0.311687</c:v>
                </c:pt>
                <c:pt idx="225">
                  <c:v>0.019034</c:v>
                </c:pt>
                <c:pt idx="226">
                  <c:v>0.238653</c:v>
                </c:pt>
                <c:pt idx="227">
                  <c:v>0.33239</c:v>
                </c:pt>
                <c:pt idx="228">
                  <c:v>0.246775</c:v>
                </c:pt>
                <c:pt idx="229">
                  <c:v>-0.045608</c:v>
                </c:pt>
                <c:pt idx="230">
                  <c:v>-0.207786</c:v>
                </c:pt>
                <c:pt idx="231">
                  <c:v>0.179059</c:v>
                </c:pt>
                <c:pt idx="232">
                  <c:v>0.16839</c:v>
                </c:pt>
                <c:pt idx="233">
                  <c:v>-0.086491</c:v>
                </c:pt>
                <c:pt idx="234">
                  <c:v>0.235594</c:v>
                </c:pt>
                <c:pt idx="235">
                  <c:v>0.085051</c:v>
                </c:pt>
                <c:pt idx="236">
                  <c:v>0.090264</c:v>
                </c:pt>
                <c:pt idx="237">
                  <c:v>0.090337</c:v>
                </c:pt>
                <c:pt idx="238">
                  <c:v>0.169245</c:v>
                </c:pt>
                <c:pt idx="239">
                  <c:v>0.07829</c:v>
                </c:pt>
                <c:pt idx="240">
                  <c:v>0.308818</c:v>
                </c:pt>
                <c:pt idx="241">
                  <c:v>0.006028</c:v>
                </c:pt>
                <c:pt idx="242">
                  <c:v>0.240511</c:v>
                </c:pt>
                <c:pt idx="243">
                  <c:v>-0.17488</c:v>
                </c:pt>
                <c:pt idx="244">
                  <c:v>0.031749</c:v>
                </c:pt>
                <c:pt idx="245">
                  <c:v>-0.046199</c:v>
                </c:pt>
                <c:pt idx="246">
                  <c:v>0.355779</c:v>
                </c:pt>
                <c:pt idx="247">
                  <c:v>0.075381</c:v>
                </c:pt>
                <c:pt idx="248">
                  <c:v>0.133891</c:v>
                </c:pt>
                <c:pt idx="249">
                  <c:v>-0.12406</c:v>
                </c:pt>
                <c:pt idx="250">
                  <c:v>0.094935</c:v>
                </c:pt>
                <c:pt idx="251">
                  <c:v>0.010734</c:v>
                </c:pt>
                <c:pt idx="252">
                  <c:v>0.029718</c:v>
                </c:pt>
                <c:pt idx="253">
                  <c:v>0.161104</c:v>
                </c:pt>
                <c:pt idx="254">
                  <c:v>0.073566</c:v>
                </c:pt>
                <c:pt idx="255">
                  <c:v>0.005577</c:v>
                </c:pt>
                <c:pt idx="256">
                  <c:v>0.150567</c:v>
                </c:pt>
                <c:pt idx="257">
                  <c:v>0.053759</c:v>
                </c:pt>
                <c:pt idx="258">
                  <c:v>-0.041676</c:v>
                </c:pt>
                <c:pt idx="259">
                  <c:v>-0.037759</c:v>
                </c:pt>
                <c:pt idx="260">
                  <c:v>0.138269</c:v>
                </c:pt>
                <c:pt idx="261">
                  <c:v>0.146333</c:v>
                </c:pt>
                <c:pt idx="262">
                  <c:v>0.032408</c:v>
                </c:pt>
                <c:pt idx="263">
                  <c:v>0.223329</c:v>
                </c:pt>
                <c:pt idx="264">
                  <c:v>0.187093</c:v>
                </c:pt>
                <c:pt idx="265">
                  <c:v>-0.052029</c:v>
                </c:pt>
                <c:pt idx="266">
                  <c:v>0.179027</c:v>
                </c:pt>
                <c:pt idx="267">
                  <c:v>0.098641</c:v>
                </c:pt>
                <c:pt idx="268">
                  <c:v>0.180807</c:v>
                </c:pt>
                <c:pt idx="269">
                  <c:v>0.188154</c:v>
                </c:pt>
                <c:pt idx="270">
                  <c:v>0.306897</c:v>
                </c:pt>
                <c:pt idx="271">
                  <c:v>0.020289</c:v>
                </c:pt>
                <c:pt idx="272">
                  <c:v>0.146978</c:v>
                </c:pt>
                <c:pt idx="273">
                  <c:v>-0.008166</c:v>
                </c:pt>
                <c:pt idx="274">
                  <c:v>-0.01025</c:v>
                </c:pt>
                <c:pt idx="275">
                  <c:v>0.241768</c:v>
                </c:pt>
                <c:pt idx="276">
                  <c:v>0.089904</c:v>
                </c:pt>
                <c:pt idx="277">
                  <c:v>0.189859</c:v>
                </c:pt>
              </c:numCache>
            </c:numRef>
          </c:xVal>
          <c:yVal>
            <c:numRef>
              <c:f>'Chart Data'!$B$2:$B$279</c:f>
              <c:numCache>
                <c:formatCode>0.0</c:formatCode>
                <c:ptCount val="278"/>
                <c:pt idx="0">
                  <c:v>-0.065615</c:v>
                </c:pt>
                <c:pt idx="1">
                  <c:v>-0.346778</c:v>
                </c:pt>
                <c:pt idx="2">
                  <c:v>-0.359102</c:v>
                </c:pt>
                <c:pt idx="3">
                  <c:v>-0.204598</c:v>
                </c:pt>
                <c:pt idx="4">
                  <c:v>-0.237091</c:v>
                </c:pt>
                <c:pt idx="5">
                  <c:v>-0.211484</c:v>
                </c:pt>
                <c:pt idx="6">
                  <c:v>-0.224131</c:v>
                </c:pt>
                <c:pt idx="7">
                  <c:v>-0.229384</c:v>
                </c:pt>
                <c:pt idx="8">
                  <c:v>-0.305512</c:v>
                </c:pt>
                <c:pt idx="9">
                  <c:v>-0.20028</c:v>
                </c:pt>
                <c:pt idx="10">
                  <c:v>-0.188904</c:v>
                </c:pt>
                <c:pt idx="11">
                  <c:v>-0.357932</c:v>
                </c:pt>
                <c:pt idx="12">
                  <c:v>-0.146398</c:v>
                </c:pt>
                <c:pt idx="13">
                  <c:v>-0.18214</c:v>
                </c:pt>
                <c:pt idx="14">
                  <c:v>-0.162453</c:v>
                </c:pt>
                <c:pt idx="15">
                  <c:v>-0.353872</c:v>
                </c:pt>
                <c:pt idx="16">
                  <c:v>-0.157906</c:v>
                </c:pt>
                <c:pt idx="17">
                  <c:v>-0.332366</c:v>
                </c:pt>
                <c:pt idx="18">
                  <c:v>-0.325619</c:v>
                </c:pt>
                <c:pt idx="19">
                  <c:v>-0.360529</c:v>
                </c:pt>
                <c:pt idx="20">
                  <c:v>-0.362574</c:v>
                </c:pt>
                <c:pt idx="21">
                  <c:v>-0.372147</c:v>
                </c:pt>
                <c:pt idx="22">
                  <c:v>-0.312994</c:v>
                </c:pt>
                <c:pt idx="23">
                  <c:v>-0.309573</c:v>
                </c:pt>
                <c:pt idx="24">
                  <c:v>-0.231365</c:v>
                </c:pt>
                <c:pt idx="25">
                  <c:v>-0.38348</c:v>
                </c:pt>
                <c:pt idx="26">
                  <c:v>-0.114761</c:v>
                </c:pt>
                <c:pt idx="27">
                  <c:v>-0.226388</c:v>
                </c:pt>
                <c:pt idx="28">
                  <c:v>-0.326428</c:v>
                </c:pt>
                <c:pt idx="29">
                  <c:v>-0.207867</c:v>
                </c:pt>
                <c:pt idx="30">
                  <c:v>-0.260881</c:v>
                </c:pt>
                <c:pt idx="31">
                  <c:v>-0.359936</c:v>
                </c:pt>
                <c:pt idx="32">
                  <c:v>-0.121489</c:v>
                </c:pt>
                <c:pt idx="33">
                  <c:v>-0.253022</c:v>
                </c:pt>
                <c:pt idx="34">
                  <c:v>-0.105874</c:v>
                </c:pt>
                <c:pt idx="35">
                  <c:v>-0.231376</c:v>
                </c:pt>
                <c:pt idx="36">
                  <c:v>-0.061797</c:v>
                </c:pt>
                <c:pt idx="37">
                  <c:v>-0.192485</c:v>
                </c:pt>
                <c:pt idx="38">
                  <c:v>-0.384098</c:v>
                </c:pt>
                <c:pt idx="39">
                  <c:v>-0.498044</c:v>
                </c:pt>
                <c:pt idx="40">
                  <c:v>-0.402384</c:v>
                </c:pt>
                <c:pt idx="41">
                  <c:v>-0.24461</c:v>
                </c:pt>
                <c:pt idx="42">
                  <c:v>-0.271154</c:v>
                </c:pt>
                <c:pt idx="43">
                  <c:v>-0.308923</c:v>
                </c:pt>
                <c:pt idx="44">
                  <c:v>-0.083161</c:v>
                </c:pt>
                <c:pt idx="45">
                  <c:v>-0.103075</c:v>
                </c:pt>
                <c:pt idx="46">
                  <c:v>-0.026237</c:v>
                </c:pt>
                <c:pt idx="47">
                  <c:v>-0.121376</c:v>
                </c:pt>
                <c:pt idx="48">
                  <c:v>-0.197352</c:v>
                </c:pt>
                <c:pt idx="49">
                  <c:v>-0.292525</c:v>
                </c:pt>
                <c:pt idx="50">
                  <c:v>-0.15906</c:v>
                </c:pt>
                <c:pt idx="51">
                  <c:v>-0.397716</c:v>
                </c:pt>
                <c:pt idx="52">
                  <c:v>-0.139408</c:v>
                </c:pt>
                <c:pt idx="53">
                  <c:v>-0.14256</c:v>
                </c:pt>
                <c:pt idx="54">
                  <c:v>-0.126907</c:v>
                </c:pt>
                <c:pt idx="55">
                  <c:v>-0.19351</c:v>
                </c:pt>
                <c:pt idx="56">
                  <c:v>-0.381757</c:v>
                </c:pt>
                <c:pt idx="57">
                  <c:v>-0.025931</c:v>
                </c:pt>
                <c:pt idx="58">
                  <c:v>-0.218491</c:v>
                </c:pt>
                <c:pt idx="59">
                  <c:v>-0.354591</c:v>
                </c:pt>
                <c:pt idx="60">
                  <c:v>-0.42377</c:v>
                </c:pt>
                <c:pt idx="61">
                  <c:v>-0.410872</c:v>
                </c:pt>
                <c:pt idx="62">
                  <c:v>-0.151098</c:v>
                </c:pt>
                <c:pt idx="63">
                  <c:v>-0.292107</c:v>
                </c:pt>
                <c:pt idx="64">
                  <c:v>-0.346079</c:v>
                </c:pt>
                <c:pt idx="65">
                  <c:v>-0.239425</c:v>
                </c:pt>
                <c:pt idx="66">
                  <c:v>-0.365</c:v>
                </c:pt>
                <c:pt idx="67">
                  <c:v>-0.345249</c:v>
                </c:pt>
                <c:pt idx="68">
                  <c:v>-0.112499</c:v>
                </c:pt>
                <c:pt idx="69">
                  <c:v>-0.2322</c:v>
                </c:pt>
                <c:pt idx="70">
                  <c:v>-0.380026</c:v>
                </c:pt>
                <c:pt idx="71">
                  <c:v>-0.173142</c:v>
                </c:pt>
                <c:pt idx="72">
                  <c:v>-0.349512</c:v>
                </c:pt>
                <c:pt idx="73">
                  <c:v>-0.148469</c:v>
                </c:pt>
                <c:pt idx="74">
                  <c:v>-0.03122</c:v>
                </c:pt>
                <c:pt idx="75">
                  <c:v>-0.367314</c:v>
                </c:pt>
                <c:pt idx="76">
                  <c:v>-0.253113</c:v>
                </c:pt>
                <c:pt idx="77">
                  <c:v>-0.123328</c:v>
                </c:pt>
                <c:pt idx="78">
                  <c:v>-0.096118</c:v>
                </c:pt>
                <c:pt idx="79">
                  <c:v>-0.297081</c:v>
                </c:pt>
                <c:pt idx="80">
                  <c:v>-0.260499</c:v>
                </c:pt>
                <c:pt idx="81">
                  <c:v>-0.131946</c:v>
                </c:pt>
                <c:pt idx="82">
                  <c:v>-0.024626</c:v>
                </c:pt>
                <c:pt idx="83">
                  <c:v>-0.181985</c:v>
                </c:pt>
                <c:pt idx="84">
                  <c:v>-0.243653</c:v>
                </c:pt>
                <c:pt idx="85">
                  <c:v>-0.354815</c:v>
                </c:pt>
                <c:pt idx="86">
                  <c:v>-0.145475</c:v>
                </c:pt>
                <c:pt idx="87">
                  <c:v>-0.232115</c:v>
                </c:pt>
                <c:pt idx="88">
                  <c:v>-0.279174</c:v>
                </c:pt>
                <c:pt idx="89">
                  <c:v>-0.287479</c:v>
                </c:pt>
                <c:pt idx="90">
                  <c:v>-0.365033</c:v>
                </c:pt>
                <c:pt idx="91">
                  <c:v>-0.445505</c:v>
                </c:pt>
                <c:pt idx="92">
                  <c:v>-0.251695</c:v>
                </c:pt>
                <c:pt idx="93">
                  <c:v>-0.251016</c:v>
                </c:pt>
                <c:pt idx="94">
                  <c:v>-0.140046</c:v>
                </c:pt>
                <c:pt idx="95">
                  <c:v>-0.164486</c:v>
                </c:pt>
                <c:pt idx="96">
                  <c:v>-0.030286</c:v>
                </c:pt>
                <c:pt idx="97">
                  <c:v>-0.251284</c:v>
                </c:pt>
                <c:pt idx="98">
                  <c:v>-0.179637</c:v>
                </c:pt>
                <c:pt idx="99">
                  <c:v>-0.141582</c:v>
                </c:pt>
                <c:pt idx="100">
                  <c:v>-0.282131</c:v>
                </c:pt>
                <c:pt idx="101">
                  <c:v>-0.33274</c:v>
                </c:pt>
                <c:pt idx="102">
                  <c:v>-0.259989</c:v>
                </c:pt>
                <c:pt idx="103">
                  <c:v>-0.126415</c:v>
                </c:pt>
                <c:pt idx="104">
                  <c:v>-0.381308</c:v>
                </c:pt>
                <c:pt idx="105">
                  <c:v>-0.295085</c:v>
                </c:pt>
                <c:pt idx="106">
                  <c:v>-0.307254</c:v>
                </c:pt>
                <c:pt idx="107">
                  <c:v>-0.072756</c:v>
                </c:pt>
                <c:pt idx="108">
                  <c:v>-0.203427</c:v>
                </c:pt>
                <c:pt idx="109">
                  <c:v>-0.191526</c:v>
                </c:pt>
                <c:pt idx="110">
                  <c:v>-0.347659</c:v>
                </c:pt>
                <c:pt idx="111">
                  <c:v>-0.219188</c:v>
                </c:pt>
                <c:pt idx="112">
                  <c:v>-0.280969</c:v>
                </c:pt>
                <c:pt idx="113">
                  <c:v>-0.415956</c:v>
                </c:pt>
                <c:pt idx="114">
                  <c:v>-0.298471</c:v>
                </c:pt>
                <c:pt idx="115">
                  <c:v>-0.203577</c:v>
                </c:pt>
                <c:pt idx="116">
                  <c:v>-0.106845</c:v>
                </c:pt>
                <c:pt idx="117">
                  <c:v>-0.355634</c:v>
                </c:pt>
                <c:pt idx="118">
                  <c:v>-0.425434</c:v>
                </c:pt>
                <c:pt idx="119">
                  <c:v>-0.251046</c:v>
                </c:pt>
                <c:pt idx="120">
                  <c:v>-0.213752</c:v>
                </c:pt>
                <c:pt idx="121">
                  <c:v>-0.333325</c:v>
                </c:pt>
                <c:pt idx="122">
                  <c:v>-0.32869</c:v>
                </c:pt>
                <c:pt idx="123">
                  <c:v>-0.225393</c:v>
                </c:pt>
                <c:pt idx="124">
                  <c:v>-0.053052</c:v>
                </c:pt>
                <c:pt idx="125">
                  <c:v>-0.050646</c:v>
                </c:pt>
                <c:pt idx="126">
                  <c:v>-0.347692</c:v>
                </c:pt>
                <c:pt idx="127">
                  <c:v>-0.139928</c:v>
                </c:pt>
                <c:pt idx="128">
                  <c:v>-0.178257</c:v>
                </c:pt>
                <c:pt idx="129">
                  <c:v>-0.352647</c:v>
                </c:pt>
                <c:pt idx="130">
                  <c:v>-0.148221</c:v>
                </c:pt>
                <c:pt idx="131">
                  <c:v>-0.334945</c:v>
                </c:pt>
                <c:pt idx="132">
                  <c:v>-0.210529</c:v>
                </c:pt>
                <c:pt idx="133">
                  <c:v>-0.272001</c:v>
                </c:pt>
                <c:pt idx="134">
                  <c:v>-0.229124</c:v>
                </c:pt>
                <c:pt idx="135">
                  <c:v>-0.342052</c:v>
                </c:pt>
                <c:pt idx="136">
                  <c:v>-0.093802</c:v>
                </c:pt>
                <c:pt idx="137">
                  <c:v>-0.177412</c:v>
                </c:pt>
                <c:pt idx="138">
                  <c:v>-0.203302</c:v>
                </c:pt>
                <c:pt idx="139">
                  <c:v>-0.266808</c:v>
                </c:pt>
                <c:pt idx="140">
                  <c:v>-0.072471</c:v>
                </c:pt>
                <c:pt idx="141">
                  <c:v>-0.304489</c:v>
                </c:pt>
                <c:pt idx="142">
                  <c:v>-0.053245</c:v>
                </c:pt>
                <c:pt idx="143">
                  <c:v>-0.280978</c:v>
                </c:pt>
                <c:pt idx="144">
                  <c:v>-0.468041</c:v>
                </c:pt>
                <c:pt idx="145">
                  <c:v>-0.179197</c:v>
                </c:pt>
                <c:pt idx="146">
                  <c:v>-0.274122</c:v>
                </c:pt>
                <c:pt idx="147">
                  <c:v>-0.127814</c:v>
                </c:pt>
                <c:pt idx="148">
                  <c:v>-0.317446</c:v>
                </c:pt>
                <c:pt idx="149">
                  <c:v>-0.23596</c:v>
                </c:pt>
                <c:pt idx="150">
                  <c:v>-0.196569</c:v>
                </c:pt>
                <c:pt idx="151">
                  <c:v>-0.230945</c:v>
                </c:pt>
                <c:pt idx="152">
                  <c:v>-0.260079</c:v>
                </c:pt>
                <c:pt idx="153">
                  <c:v>-0.314386</c:v>
                </c:pt>
                <c:pt idx="154">
                  <c:v>-0.06301</c:v>
                </c:pt>
                <c:pt idx="155">
                  <c:v>-0.286513</c:v>
                </c:pt>
                <c:pt idx="156">
                  <c:v>-0.253231</c:v>
                </c:pt>
                <c:pt idx="157">
                  <c:v>-0.373379</c:v>
                </c:pt>
                <c:pt idx="158">
                  <c:v>-0.249327</c:v>
                </c:pt>
                <c:pt idx="159">
                  <c:v>-0.143511</c:v>
                </c:pt>
                <c:pt idx="160">
                  <c:v>-0.325426</c:v>
                </c:pt>
                <c:pt idx="161">
                  <c:v>-0.174173</c:v>
                </c:pt>
                <c:pt idx="162">
                  <c:v>-0.374752</c:v>
                </c:pt>
                <c:pt idx="163">
                  <c:v>-0.196093</c:v>
                </c:pt>
                <c:pt idx="164">
                  <c:v>-0.305426</c:v>
                </c:pt>
                <c:pt idx="165">
                  <c:v>-0.233413</c:v>
                </c:pt>
                <c:pt idx="166">
                  <c:v>-0.183126</c:v>
                </c:pt>
                <c:pt idx="167">
                  <c:v>-0.381019</c:v>
                </c:pt>
                <c:pt idx="168">
                  <c:v>-0.269623</c:v>
                </c:pt>
                <c:pt idx="169">
                  <c:v>-0.091526</c:v>
                </c:pt>
                <c:pt idx="170">
                  <c:v>-0.190095</c:v>
                </c:pt>
                <c:pt idx="171">
                  <c:v>-0.390793</c:v>
                </c:pt>
                <c:pt idx="172">
                  <c:v>-0.136179</c:v>
                </c:pt>
                <c:pt idx="173">
                  <c:v>-0.368881</c:v>
                </c:pt>
                <c:pt idx="174">
                  <c:v>-0.113657</c:v>
                </c:pt>
                <c:pt idx="175">
                  <c:v>-0.201974</c:v>
                </c:pt>
                <c:pt idx="176">
                  <c:v>-0.402063</c:v>
                </c:pt>
                <c:pt idx="177">
                  <c:v>-0.288815</c:v>
                </c:pt>
                <c:pt idx="178">
                  <c:v>-0.160642</c:v>
                </c:pt>
                <c:pt idx="179">
                  <c:v>-0.202573</c:v>
                </c:pt>
                <c:pt idx="180">
                  <c:v>-0.123837</c:v>
                </c:pt>
                <c:pt idx="181">
                  <c:v>-0.300539</c:v>
                </c:pt>
                <c:pt idx="182">
                  <c:v>-0.322728</c:v>
                </c:pt>
                <c:pt idx="183">
                  <c:v>-0.336554</c:v>
                </c:pt>
                <c:pt idx="184">
                  <c:v>-0.376181</c:v>
                </c:pt>
                <c:pt idx="185">
                  <c:v>-0.331057</c:v>
                </c:pt>
                <c:pt idx="186">
                  <c:v>-0.325874</c:v>
                </c:pt>
                <c:pt idx="187">
                  <c:v>-0.103326</c:v>
                </c:pt>
                <c:pt idx="188">
                  <c:v>-0.290382</c:v>
                </c:pt>
                <c:pt idx="189">
                  <c:v>-0.283502</c:v>
                </c:pt>
                <c:pt idx="190">
                  <c:v>-0.255823</c:v>
                </c:pt>
                <c:pt idx="191">
                  <c:v>-0.082551</c:v>
                </c:pt>
                <c:pt idx="192">
                  <c:v>-0.350969</c:v>
                </c:pt>
                <c:pt idx="193">
                  <c:v>-0.338557</c:v>
                </c:pt>
                <c:pt idx="194">
                  <c:v>-0.325326</c:v>
                </c:pt>
                <c:pt idx="195">
                  <c:v>-0.405875</c:v>
                </c:pt>
                <c:pt idx="196">
                  <c:v>-0.305443</c:v>
                </c:pt>
                <c:pt idx="197">
                  <c:v>-0.323767</c:v>
                </c:pt>
                <c:pt idx="198">
                  <c:v>-0.197663</c:v>
                </c:pt>
                <c:pt idx="199">
                  <c:v>0.002834</c:v>
                </c:pt>
                <c:pt idx="200">
                  <c:v>-0.231875</c:v>
                </c:pt>
                <c:pt idx="201">
                  <c:v>-0.137699</c:v>
                </c:pt>
                <c:pt idx="202">
                  <c:v>-0.460575</c:v>
                </c:pt>
                <c:pt idx="203">
                  <c:v>-0.369112</c:v>
                </c:pt>
                <c:pt idx="204">
                  <c:v>-0.082147</c:v>
                </c:pt>
                <c:pt idx="205">
                  <c:v>-0.020873</c:v>
                </c:pt>
                <c:pt idx="206">
                  <c:v>-0.226251</c:v>
                </c:pt>
                <c:pt idx="207">
                  <c:v>-0.256349</c:v>
                </c:pt>
                <c:pt idx="208">
                  <c:v>-0.246341</c:v>
                </c:pt>
                <c:pt idx="209">
                  <c:v>-0.106736</c:v>
                </c:pt>
                <c:pt idx="210">
                  <c:v>-0.237797</c:v>
                </c:pt>
                <c:pt idx="211">
                  <c:v>-0.148635</c:v>
                </c:pt>
                <c:pt idx="212">
                  <c:v>-0.263018</c:v>
                </c:pt>
                <c:pt idx="213">
                  <c:v>-0.149054</c:v>
                </c:pt>
                <c:pt idx="214">
                  <c:v>-0.213283</c:v>
                </c:pt>
                <c:pt idx="215">
                  <c:v>-0.161758</c:v>
                </c:pt>
                <c:pt idx="216">
                  <c:v>-0.334757</c:v>
                </c:pt>
                <c:pt idx="217">
                  <c:v>-0.433714</c:v>
                </c:pt>
                <c:pt idx="218">
                  <c:v>-0.170181</c:v>
                </c:pt>
                <c:pt idx="219">
                  <c:v>-0.245379</c:v>
                </c:pt>
                <c:pt idx="220">
                  <c:v>-0.161881</c:v>
                </c:pt>
                <c:pt idx="221">
                  <c:v>-0.158561</c:v>
                </c:pt>
                <c:pt idx="222">
                  <c:v>-0.239756</c:v>
                </c:pt>
                <c:pt idx="223">
                  <c:v>-0.081618</c:v>
                </c:pt>
                <c:pt idx="224">
                  <c:v>-0.428806</c:v>
                </c:pt>
                <c:pt idx="225">
                  <c:v>-0.287608</c:v>
                </c:pt>
                <c:pt idx="226">
                  <c:v>-0.387533</c:v>
                </c:pt>
                <c:pt idx="227">
                  <c:v>-0.289569</c:v>
                </c:pt>
                <c:pt idx="228">
                  <c:v>-0.353699</c:v>
                </c:pt>
                <c:pt idx="229">
                  <c:v>-0.143331</c:v>
                </c:pt>
                <c:pt idx="230">
                  <c:v>-0.295447</c:v>
                </c:pt>
                <c:pt idx="231">
                  <c:v>-0.144037</c:v>
                </c:pt>
                <c:pt idx="232">
                  <c:v>-0.225549</c:v>
                </c:pt>
                <c:pt idx="233">
                  <c:v>-0.237348</c:v>
                </c:pt>
                <c:pt idx="234">
                  <c:v>-0.420725</c:v>
                </c:pt>
                <c:pt idx="235">
                  <c:v>-0.240703</c:v>
                </c:pt>
                <c:pt idx="236">
                  <c:v>-0.324027</c:v>
                </c:pt>
                <c:pt idx="237">
                  <c:v>-0.2055</c:v>
                </c:pt>
                <c:pt idx="238">
                  <c:v>-0.055915</c:v>
                </c:pt>
                <c:pt idx="239">
                  <c:v>-0.318609</c:v>
                </c:pt>
                <c:pt idx="240">
                  <c:v>-0.321445</c:v>
                </c:pt>
                <c:pt idx="241">
                  <c:v>-0.197289</c:v>
                </c:pt>
                <c:pt idx="242">
                  <c:v>-0.162961</c:v>
                </c:pt>
                <c:pt idx="243">
                  <c:v>-0.301071</c:v>
                </c:pt>
                <c:pt idx="244">
                  <c:v>-0.346551</c:v>
                </c:pt>
                <c:pt idx="245">
                  <c:v>-0.276386</c:v>
                </c:pt>
                <c:pt idx="246">
                  <c:v>-0.214542</c:v>
                </c:pt>
                <c:pt idx="247">
                  <c:v>-0.312738</c:v>
                </c:pt>
                <c:pt idx="248">
                  <c:v>-0.335361</c:v>
                </c:pt>
                <c:pt idx="249">
                  <c:v>-0.32842</c:v>
                </c:pt>
                <c:pt idx="250">
                  <c:v>-0.187548</c:v>
                </c:pt>
                <c:pt idx="251">
                  <c:v>-0.233569</c:v>
                </c:pt>
                <c:pt idx="252">
                  <c:v>-0.330296</c:v>
                </c:pt>
                <c:pt idx="253">
                  <c:v>-0.13031</c:v>
                </c:pt>
                <c:pt idx="254">
                  <c:v>0.004923</c:v>
                </c:pt>
                <c:pt idx="255">
                  <c:v>-0.149023</c:v>
                </c:pt>
                <c:pt idx="256">
                  <c:v>-0.394551</c:v>
                </c:pt>
                <c:pt idx="257">
                  <c:v>-0.361709</c:v>
                </c:pt>
                <c:pt idx="258">
                  <c:v>-0.380257</c:v>
                </c:pt>
                <c:pt idx="259">
                  <c:v>-0.348502</c:v>
                </c:pt>
                <c:pt idx="260">
                  <c:v>-0.263493</c:v>
                </c:pt>
                <c:pt idx="261">
                  <c:v>-0.191592</c:v>
                </c:pt>
                <c:pt idx="262">
                  <c:v>-0.374618</c:v>
                </c:pt>
                <c:pt idx="263">
                  <c:v>-0.022021</c:v>
                </c:pt>
                <c:pt idx="264">
                  <c:v>-0.289963</c:v>
                </c:pt>
                <c:pt idx="265">
                  <c:v>-0.249368</c:v>
                </c:pt>
                <c:pt idx="266">
                  <c:v>-0.0414</c:v>
                </c:pt>
                <c:pt idx="267">
                  <c:v>-0.138289</c:v>
                </c:pt>
                <c:pt idx="268">
                  <c:v>-0.224677</c:v>
                </c:pt>
                <c:pt idx="269">
                  <c:v>-0.315921</c:v>
                </c:pt>
                <c:pt idx="270">
                  <c:v>-0.224037</c:v>
                </c:pt>
                <c:pt idx="271">
                  <c:v>-0.139226</c:v>
                </c:pt>
                <c:pt idx="272">
                  <c:v>-0.255432</c:v>
                </c:pt>
                <c:pt idx="273">
                  <c:v>-0.114902</c:v>
                </c:pt>
                <c:pt idx="274">
                  <c:v>-0.256212</c:v>
                </c:pt>
                <c:pt idx="275">
                  <c:v>-0.125502</c:v>
                </c:pt>
                <c:pt idx="276">
                  <c:v>-0.13541</c:v>
                </c:pt>
                <c:pt idx="277">
                  <c:v>-0.302071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6"/>
        </c:scaling>
        <c:delete val="0"/>
        <c:axPos val="l"/>
        <c:majorGridlines>
          <c:spPr>
            <a:ln xmlns:a="http://schemas.openxmlformats.org/drawingml/2006/main" w="5715">
              <a:solidFill>
                <a:srgbClr val="E5E7EA"/>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majorUnit val="0.6"/>
      </c:valAx>
      <c:valAx>
        <c:axId val="48650112"/>
        <c:scaling>
          <c:orientation val="minMax"/>
          <c:max val="0.6"/>
          <c:min val="-0.6"/>
        </c:scaling>
        <c:delete val="0"/>
        <c:axPos val="b"/>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majorUnit val="0.6"/>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b="1">
                <a:solidFill>
                  <a:srgbClr val="E38B16"/>
                </a:solidFill>
                <a:latin typeface="Arial"/>
                <a:ea typeface="Arial"/>
                <a:cs typeface="Arial"/>
              </a:rPr>
              <a:t>C4  (n = 300)</a:t>
            </a:r>
          </a:p>
        </c:rich>
      </c:tx>
      <c:overlay val="0"/>
      <c:txPr>
        <a:bodyPr xmlns:a="http://schemas.openxmlformats.org/drawingml/2006/main" anchorCtr="1"/>
        <a:lstStyle xmlns:a="http://schemas.openxmlformats.org/drawingml/2006/main"/>
        <a:p xmlns:a="http://schemas.openxmlformats.org/drawingml/2006/main">
          <a:pPr>
            <a:defRPr sz="1500" b="1">
              <a:solidFill>
                <a:srgbClr val="E38B16"/>
              </a:solidFill>
              <a:latin typeface="Arial"/>
              <a:ea typeface="Arial"/>
              <a:cs typeface="Arial"/>
            </a:defRPr>
          </a:pPr>
        </a:p>
      </c:txPr>
    </c:title>
    <c:plotArea>
      <c:scatterChart>
        <c:scatterStyle val="marker"/>
        <c:ser>
          <c:idx val="0"/>
          <c:order val="0"/>
          <c:tx>
            <c:v>C4</c:v>
          </c:tx>
          <c:spPr>
            <a:solidFill xmlns:a="http://schemas.openxmlformats.org/drawingml/2006/main">
              <a:srgbClr val="E38B16"/>
            </a:solidFill>
            <a:ln xmlns:a="http://schemas.openxmlformats.org/drawingml/2006/main" w="0">
              <a:noFill/>
            </a:ln>
          </c:spPr>
          <c:marker>
            <c:symbol val="circle"/>
            <c:size val="3"/>
            <c:spPr>
              <ns0:solidFill xmlns:ns0="http://schemas.openxmlformats.org/drawingml/2006/main">
                <ns0:srgbClr val="E38B16"/>
              </ns0:solidFill>
              <ns1:ln xmlns:ns1="http://schemas.openxmlformats.org/drawingml/2006/main" w="0">
                <ns1:noFill/>
              </ns1:ln>
            </c:spPr>
          </c:marker>
          <c:xVal>
            <c:numRef>
              <c:f>'Chart Data'!$A$2:$A$301</c:f>
              <c:numCache>
                <c:formatCode>General</c:formatCode>
                <c:ptCount val="300"/>
                <c:pt idx="0">
                  <c:v>0.252151</c:v>
                </c:pt>
                <c:pt idx="1">
                  <c:v>0.085025</c:v>
                </c:pt>
                <c:pt idx="2">
                  <c:v>0.309748</c:v>
                </c:pt>
                <c:pt idx="3">
                  <c:v>0.325201</c:v>
                </c:pt>
                <c:pt idx="4">
                  <c:v>0.131145</c:v>
                </c:pt>
                <c:pt idx="5">
                  <c:v>0.137438</c:v>
                </c:pt>
                <c:pt idx="6">
                  <c:v>0.174416</c:v>
                </c:pt>
                <c:pt idx="7">
                  <c:v>0.220168</c:v>
                </c:pt>
                <c:pt idx="8">
                  <c:v>0.156303</c:v>
                </c:pt>
                <c:pt idx="9">
                  <c:v>0.192979</c:v>
                </c:pt>
                <c:pt idx="10">
                  <c:v>0.402187</c:v>
                </c:pt>
                <c:pt idx="11">
                  <c:v>0.129542</c:v>
                </c:pt>
                <c:pt idx="12">
                  <c:v>0.184008</c:v>
                </c:pt>
                <c:pt idx="13">
                  <c:v>0.078069</c:v>
                </c:pt>
                <c:pt idx="14">
                  <c:v>0.385852</c:v>
                </c:pt>
                <c:pt idx="15">
                  <c:v>0.27558</c:v>
                </c:pt>
                <c:pt idx="16">
                  <c:v>0.198854</c:v>
                </c:pt>
                <c:pt idx="17">
                  <c:v>-0.048094</c:v>
                </c:pt>
                <c:pt idx="18">
                  <c:v>0.353172</c:v>
                </c:pt>
                <c:pt idx="19">
                  <c:v>0.166096</c:v>
                </c:pt>
                <c:pt idx="20">
                  <c:v>0.362884</c:v>
                </c:pt>
                <c:pt idx="21">
                  <c:v>0.40538</c:v>
                </c:pt>
                <c:pt idx="22">
                  <c:v>0.064297</c:v>
                </c:pt>
                <c:pt idx="23">
                  <c:v>0.285603</c:v>
                </c:pt>
                <c:pt idx="24">
                  <c:v>0.170325</c:v>
                </c:pt>
                <c:pt idx="25">
                  <c:v>0.18993</c:v>
                </c:pt>
                <c:pt idx="26">
                  <c:v>0.052485</c:v>
                </c:pt>
                <c:pt idx="27">
                  <c:v>0.283923</c:v>
                </c:pt>
                <c:pt idx="28">
                  <c:v>0.084841</c:v>
                </c:pt>
                <c:pt idx="29">
                  <c:v>0.31732</c:v>
                </c:pt>
                <c:pt idx="30">
                  <c:v>0.190664</c:v>
                </c:pt>
                <c:pt idx="31">
                  <c:v>0.296788</c:v>
                </c:pt>
                <c:pt idx="32">
                  <c:v>0.340044</c:v>
                </c:pt>
                <c:pt idx="33">
                  <c:v>0.104953</c:v>
                </c:pt>
                <c:pt idx="34">
                  <c:v>0.293097</c:v>
                </c:pt>
                <c:pt idx="35">
                  <c:v>0.349423</c:v>
                </c:pt>
                <c:pt idx="36">
                  <c:v>0.368716</c:v>
                </c:pt>
                <c:pt idx="37">
                  <c:v>0.410733</c:v>
                </c:pt>
                <c:pt idx="38">
                  <c:v>0.075442</c:v>
                </c:pt>
                <c:pt idx="39">
                  <c:v>0.310855</c:v>
                </c:pt>
                <c:pt idx="40">
                  <c:v>0.340514</c:v>
                </c:pt>
                <c:pt idx="41">
                  <c:v>0.351195</c:v>
                </c:pt>
                <c:pt idx="42">
                  <c:v>0.137298</c:v>
                </c:pt>
                <c:pt idx="43">
                  <c:v>0.073371</c:v>
                </c:pt>
                <c:pt idx="44">
                  <c:v>-0.007477</c:v>
                </c:pt>
                <c:pt idx="45">
                  <c:v>0.2571</c:v>
                </c:pt>
                <c:pt idx="46">
                  <c:v>0.192331</c:v>
                </c:pt>
                <c:pt idx="47">
                  <c:v>0.281945</c:v>
                </c:pt>
                <c:pt idx="48">
                  <c:v>0.309405</c:v>
                </c:pt>
                <c:pt idx="49">
                  <c:v>0.285906</c:v>
                </c:pt>
                <c:pt idx="50">
                  <c:v>0.323706</c:v>
                </c:pt>
                <c:pt idx="51">
                  <c:v>0.197023</c:v>
                </c:pt>
                <c:pt idx="52">
                  <c:v>0.207656</c:v>
                </c:pt>
                <c:pt idx="53">
                  <c:v>0.341475</c:v>
                </c:pt>
                <c:pt idx="54">
                  <c:v>0.239859</c:v>
                </c:pt>
                <c:pt idx="55">
                  <c:v>0.208773</c:v>
                </c:pt>
                <c:pt idx="56">
                  <c:v>0.34381</c:v>
                </c:pt>
                <c:pt idx="57">
                  <c:v>0.348281</c:v>
                </c:pt>
                <c:pt idx="58">
                  <c:v>0.088213</c:v>
                </c:pt>
                <c:pt idx="59">
                  <c:v>0.247912</c:v>
                </c:pt>
                <c:pt idx="60">
                  <c:v>0.314995</c:v>
                </c:pt>
                <c:pt idx="61">
                  <c:v>0.112275</c:v>
                </c:pt>
                <c:pt idx="62">
                  <c:v>0.135957</c:v>
                </c:pt>
                <c:pt idx="63">
                  <c:v>0.08679</c:v>
                </c:pt>
                <c:pt idx="64">
                  <c:v>0.150129</c:v>
                </c:pt>
                <c:pt idx="65">
                  <c:v>0.236968</c:v>
                </c:pt>
                <c:pt idx="66">
                  <c:v>0.381644</c:v>
                </c:pt>
                <c:pt idx="67">
                  <c:v>0.080942</c:v>
                </c:pt>
                <c:pt idx="68">
                  <c:v>0.155208</c:v>
                </c:pt>
                <c:pt idx="69">
                  <c:v>0.151943</c:v>
                </c:pt>
                <c:pt idx="70">
                  <c:v>0.275404</c:v>
                </c:pt>
                <c:pt idx="71">
                  <c:v>0.077645</c:v>
                </c:pt>
                <c:pt idx="72">
                  <c:v>0.139796</c:v>
                </c:pt>
                <c:pt idx="73">
                  <c:v>0.19584</c:v>
                </c:pt>
                <c:pt idx="74">
                  <c:v>0.283615</c:v>
                </c:pt>
                <c:pt idx="75">
                  <c:v>0.120969</c:v>
                </c:pt>
                <c:pt idx="76">
                  <c:v>0.311664</c:v>
                </c:pt>
                <c:pt idx="77">
                  <c:v>0.071934</c:v>
                </c:pt>
                <c:pt idx="78">
                  <c:v>0.15891</c:v>
                </c:pt>
                <c:pt idx="79">
                  <c:v>0.401309</c:v>
                </c:pt>
                <c:pt idx="80">
                  <c:v>0.269594</c:v>
                </c:pt>
                <c:pt idx="81">
                  <c:v>0.254858</c:v>
                </c:pt>
                <c:pt idx="82">
                  <c:v>0.103167</c:v>
                </c:pt>
                <c:pt idx="83">
                  <c:v>0.140462</c:v>
                </c:pt>
                <c:pt idx="84">
                  <c:v>0.170924</c:v>
                </c:pt>
                <c:pt idx="85">
                  <c:v>0.310672</c:v>
                </c:pt>
                <c:pt idx="86">
                  <c:v>0.193729</c:v>
                </c:pt>
                <c:pt idx="87">
                  <c:v>0.27769</c:v>
                </c:pt>
                <c:pt idx="88">
                  <c:v>0.315126</c:v>
                </c:pt>
                <c:pt idx="89">
                  <c:v>0.207301</c:v>
                </c:pt>
                <c:pt idx="90">
                  <c:v>0.203873</c:v>
                </c:pt>
                <c:pt idx="91">
                  <c:v>0.331669</c:v>
                </c:pt>
                <c:pt idx="92">
                  <c:v>0.221753</c:v>
                </c:pt>
                <c:pt idx="93">
                  <c:v>0.302579</c:v>
                </c:pt>
                <c:pt idx="94">
                  <c:v>0.374278</c:v>
                </c:pt>
                <c:pt idx="95">
                  <c:v>0.20144</c:v>
                </c:pt>
                <c:pt idx="96">
                  <c:v>0.133504</c:v>
                </c:pt>
                <c:pt idx="97">
                  <c:v>0.315339</c:v>
                </c:pt>
                <c:pt idx="98">
                  <c:v>0.190134</c:v>
                </c:pt>
                <c:pt idx="99">
                  <c:v>0.400996</c:v>
                </c:pt>
                <c:pt idx="100">
                  <c:v>0.211305</c:v>
                </c:pt>
                <c:pt idx="101">
                  <c:v>0.354942</c:v>
                </c:pt>
                <c:pt idx="102">
                  <c:v>0.324896</c:v>
                </c:pt>
                <c:pt idx="103">
                  <c:v>0.186386</c:v>
                </c:pt>
                <c:pt idx="104">
                  <c:v>0.227322</c:v>
                </c:pt>
                <c:pt idx="105">
                  <c:v>0.473642</c:v>
                </c:pt>
                <c:pt idx="106">
                  <c:v>0.312973</c:v>
                </c:pt>
                <c:pt idx="107">
                  <c:v>0.152284</c:v>
                </c:pt>
                <c:pt idx="108">
                  <c:v>0.088058</c:v>
                </c:pt>
                <c:pt idx="109">
                  <c:v>0.138057</c:v>
                </c:pt>
                <c:pt idx="110">
                  <c:v>0.071801</c:v>
                </c:pt>
                <c:pt idx="111">
                  <c:v>0.247571</c:v>
                </c:pt>
                <c:pt idx="112">
                  <c:v>0.419173</c:v>
                </c:pt>
                <c:pt idx="113">
                  <c:v>0.242438</c:v>
                </c:pt>
                <c:pt idx="114">
                  <c:v>0.265331</c:v>
                </c:pt>
                <c:pt idx="115">
                  <c:v>0.067791</c:v>
                </c:pt>
                <c:pt idx="116">
                  <c:v>0.199718</c:v>
                </c:pt>
                <c:pt idx="117">
                  <c:v>0.172792</c:v>
                </c:pt>
                <c:pt idx="118">
                  <c:v>0.205815</c:v>
                </c:pt>
                <c:pt idx="119">
                  <c:v>-0.014153</c:v>
                </c:pt>
                <c:pt idx="120">
                  <c:v>0.330661</c:v>
                </c:pt>
                <c:pt idx="121">
                  <c:v>-0.010742</c:v>
                </c:pt>
                <c:pt idx="122">
                  <c:v>0.21875</c:v>
                </c:pt>
                <c:pt idx="123">
                  <c:v>0.267091</c:v>
                </c:pt>
                <c:pt idx="124">
                  <c:v>0.314157</c:v>
                </c:pt>
                <c:pt idx="125">
                  <c:v>0.094575</c:v>
                </c:pt>
                <c:pt idx="126">
                  <c:v>0.229349</c:v>
                </c:pt>
                <c:pt idx="127">
                  <c:v>0.350917</c:v>
                </c:pt>
                <c:pt idx="128">
                  <c:v>0.186409</c:v>
                </c:pt>
                <c:pt idx="129">
                  <c:v>0.161881</c:v>
                </c:pt>
                <c:pt idx="130">
                  <c:v>0.242534</c:v>
                </c:pt>
                <c:pt idx="131">
                  <c:v>0.306315</c:v>
                </c:pt>
                <c:pt idx="132">
                  <c:v>0.396551</c:v>
                </c:pt>
                <c:pt idx="133">
                  <c:v>0.077983</c:v>
                </c:pt>
                <c:pt idx="134">
                  <c:v>0.400209</c:v>
                </c:pt>
                <c:pt idx="135">
                  <c:v>0.343745</c:v>
                </c:pt>
                <c:pt idx="136">
                  <c:v>0.046342</c:v>
                </c:pt>
                <c:pt idx="137">
                  <c:v>0.410686</c:v>
                </c:pt>
                <c:pt idx="138">
                  <c:v>0.064301</c:v>
                </c:pt>
                <c:pt idx="139">
                  <c:v>0.378834</c:v>
                </c:pt>
                <c:pt idx="140">
                  <c:v>0.03692</c:v>
                </c:pt>
                <c:pt idx="141">
                  <c:v>0.395903</c:v>
                </c:pt>
                <c:pt idx="142">
                  <c:v>0.195011</c:v>
                </c:pt>
                <c:pt idx="143">
                  <c:v>0.03512</c:v>
                </c:pt>
                <c:pt idx="144">
                  <c:v>0.333942</c:v>
                </c:pt>
                <c:pt idx="145">
                  <c:v>0.176497</c:v>
                </c:pt>
                <c:pt idx="146">
                  <c:v>0.409203</c:v>
                </c:pt>
                <c:pt idx="147">
                  <c:v>0.356515</c:v>
                </c:pt>
                <c:pt idx="148">
                  <c:v>0.41983</c:v>
                </c:pt>
                <c:pt idx="149">
                  <c:v>0.148205</c:v>
                </c:pt>
                <c:pt idx="150">
                  <c:v>0.343796</c:v>
                </c:pt>
                <c:pt idx="151">
                  <c:v>0.294971</c:v>
                </c:pt>
                <c:pt idx="152">
                  <c:v>0.191193</c:v>
                </c:pt>
                <c:pt idx="153">
                  <c:v>0.32292</c:v>
                </c:pt>
                <c:pt idx="154">
                  <c:v>0.227234</c:v>
                </c:pt>
                <c:pt idx="155">
                  <c:v>0.4245</c:v>
                </c:pt>
                <c:pt idx="156">
                  <c:v>0.069228</c:v>
                </c:pt>
                <c:pt idx="157">
                  <c:v>0.224027</c:v>
                </c:pt>
                <c:pt idx="158">
                  <c:v>0.420579</c:v>
                </c:pt>
                <c:pt idx="159">
                  <c:v>0.201425</c:v>
                </c:pt>
                <c:pt idx="160">
                  <c:v>0.320112</c:v>
                </c:pt>
                <c:pt idx="161">
                  <c:v>0.278002</c:v>
                </c:pt>
                <c:pt idx="162">
                  <c:v>0.332934</c:v>
                </c:pt>
                <c:pt idx="163">
                  <c:v>0.219758</c:v>
                </c:pt>
                <c:pt idx="164">
                  <c:v>0.102378</c:v>
                </c:pt>
                <c:pt idx="165">
                  <c:v>0.372262</c:v>
                </c:pt>
                <c:pt idx="166">
                  <c:v>0.262081</c:v>
                </c:pt>
                <c:pt idx="167">
                  <c:v>0.141436</c:v>
                </c:pt>
                <c:pt idx="168">
                  <c:v>0.12519</c:v>
                </c:pt>
                <c:pt idx="169">
                  <c:v>0.238846</c:v>
                </c:pt>
                <c:pt idx="170">
                  <c:v>0.311093</c:v>
                </c:pt>
                <c:pt idx="171">
                  <c:v>0.187642</c:v>
                </c:pt>
                <c:pt idx="172">
                  <c:v>0.170394</c:v>
                </c:pt>
                <c:pt idx="173">
                  <c:v>0.164973</c:v>
                </c:pt>
                <c:pt idx="174">
                  <c:v>0.321353</c:v>
                </c:pt>
                <c:pt idx="175">
                  <c:v>0.021369</c:v>
                </c:pt>
                <c:pt idx="176">
                  <c:v>0.368295</c:v>
                </c:pt>
                <c:pt idx="177">
                  <c:v>0.367459</c:v>
                </c:pt>
                <c:pt idx="178">
                  <c:v>0.387264</c:v>
                </c:pt>
                <c:pt idx="179">
                  <c:v>0.208368</c:v>
                </c:pt>
                <c:pt idx="180">
                  <c:v>0.162496</c:v>
                </c:pt>
                <c:pt idx="181">
                  <c:v>0.330534</c:v>
                </c:pt>
                <c:pt idx="182">
                  <c:v>0.179151</c:v>
                </c:pt>
                <c:pt idx="183">
                  <c:v>0.10367</c:v>
                </c:pt>
                <c:pt idx="184">
                  <c:v>0.112286</c:v>
                </c:pt>
                <c:pt idx="185">
                  <c:v>0.249488</c:v>
                </c:pt>
                <c:pt idx="186">
                  <c:v>0.288443</c:v>
                </c:pt>
                <c:pt idx="187">
                  <c:v>0.363806</c:v>
                </c:pt>
                <c:pt idx="188">
                  <c:v>0.20675</c:v>
                </c:pt>
                <c:pt idx="189">
                  <c:v>0.359703</c:v>
                </c:pt>
                <c:pt idx="190">
                  <c:v>0.321216</c:v>
                </c:pt>
                <c:pt idx="191">
                  <c:v>0.232864</c:v>
                </c:pt>
                <c:pt idx="192">
                  <c:v>0.24775</c:v>
                </c:pt>
                <c:pt idx="193">
                  <c:v>0.105172</c:v>
                </c:pt>
                <c:pt idx="194">
                  <c:v>0.312272</c:v>
                </c:pt>
                <c:pt idx="195">
                  <c:v>0.261058</c:v>
                </c:pt>
                <c:pt idx="196">
                  <c:v>0.166756</c:v>
                </c:pt>
                <c:pt idx="197">
                  <c:v>0.373232</c:v>
                </c:pt>
                <c:pt idx="198">
                  <c:v>0.261746</c:v>
                </c:pt>
                <c:pt idx="199">
                  <c:v>0.259272</c:v>
                </c:pt>
                <c:pt idx="200">
                  <c:v>0.018538</c:v>
                </c:pt>
                <c:pt idx="201">
                  <c:v>0.364729</c:v>
                </c:pt>
                <c:pt idx="202">
                  <c:v>0.337848</c:v>
                </c:pt>
                <c:pt idx="203">
                  <c:v>0.348749</c:v>
                </c:pt>
                <c:pt idx="204">
                  <c:v>0.299359</c:v>
                </c:pt>
                <c:pt idx="205">
                  <c:v>0.284818</c:v>
                </c:pt>
                <c:pt idx="206">
                  <c:v>0.282267</c:v>
                </c:pt>
                <c:pt idx="207">
                  <c:v>0.233854</c:v>
                </c:pt>
                <c:pt idx="208">
                  <c:v>0.436904</c:v>
                </c:pt>
                <c:pt idx="209">
                  <c:v>0.357192</c:v>
                </c:pt>
                <c:pt idx="210">
                  <c:v>0.167572</c:v>
                </c:pt>
                <c:pt idx="211">
                  <c:v>0.327972</c:v>
                </c:pt>
                <c:pt idx="212">
                  <c:v>0.212784</c:v>
                </c:pt>
                <c:pt idx="213">
                  <c:v>0.17455</c:v>
                </c:pt>
                <c:pt idx="214">
                  <c:v>0.074016</c:v>
                </c:pt>
                <c:pt idx="215">
                  <c:v>0.213001</c:v>
                </c:pt>
                <c:pt idx="216">
                  <c:v>0.450968</c:v>
                </c:pt>
                <c:pt idx="217">
                  <c:v>0.240148</c:v>
                </c:pt>
                <c:pt idx="218">
                  <c:v>0.032668</c:v>
                </c:pt>
                <c:pt idx="219">
                  <c:v>0.474178</c:v>
                </c:pt>
                <c:pt idx="220">
                  <c:v>0.201655</c:v>
                </c:pt>
                <c:pt idx="221">
                  <c:v>0.141472</c:v>
                </c:pt>
                <c:pt idx="222">
                  <c:v>0.33389</c:v>
                </c:pt>
                <c:pt idx="223">
                  <c:v>0.273271</c:v>
                </c:pt>
                <c:pt idx="224">
                  <c:v>0.092391</c:v>
                </c:pt>
                <c:pt idx="225">
                  <c:v>0.38323</c:v>
                </c:pt>
                <c:pt idx="226">
                  <c:v>0.087965</c:v>
                </c:pt>
                <c:pt idx="227">
                  <c:v>0.250913</c:v>
                </c:pt>
                <c:pt idx="228">
                  <c:v>0.308923</c:v>
                </c:pt>
                <c:pt idx="229">
                  <c:v>0.127456</c:v>
                </c:pt>
                <c:pt idx="230">
                  <c:v>0.106895</c:v>
                </c:pt>
                <c:pt idx="231">
                  <c:v>0.336053</c:v>
                </c:pt>
                <c:pt idx="232">
                  <c:v>0.214245</c:v>
                </c:pt>
                <c:pt idx="233">
                  <c:v>-0.035435</c:v>
                </c:pt>
                <c:pt idx="234">
                  <c:v>0.088743</c:v>
                </c:pt>
                <c:pt idx="235">
                  <c:v>0.306011</c:v>
                </c:pt>
                <c:pt idx="236">
                  <c:v>0.032108</c:v>
                </c:pt>
                <c:pt idx="237">
                  <c:v>-0.032226</c:v>
                </c:pt>
                <c:pt idx="238">
                  <c:v>0.427701</c:v>
                </c:pt>
                <c:pt idx="239">
                  <c:v>0.139343</c:v>
                </c:pt>
                <c:pt idx="240">
                  <c:v>0.060837</c:v>
                </c:pt>
                <c:pt idx="241">
                  <c:v>0.16298</c:v>
                </c:pt>
                <c:pt idx="242">
                  <c:v>0.33935</c:v>
                </c:pt>
                <c:pt idx="243">
                  <c:v>0.16815</c:v>
                </c:pt>
                <c:pt idx="244">
                  <c:v>0.384215</c:v>
                </c:pt>
                <c:pt idx="245">
                  <c:v>0.138401</c:v>
                </c:pt>
                <c:pt idx="246">
                  <c:v>0.094747</c:v>
                </c:pt>
                <c:pt idx="247">
                  <c:v>0.113443</c:v>
                </c:pt>
                <c:pt idx="248">
                  <c:v>0.027265</c:v>
                </c:pt>
                <c:pt idx="249">
                  <c:v>0.31961</c:v>
                </c:pt>
                <c:pt idx="250">
                  <c:v>0.222685</c:v>
                </c:pt>
                <c:pt idx="251">
                  <c:v>0.098664</c:v>
                </c:pt>
                <c:pt idx="252">
                  <c:v>0.203619</c:v>
                </c:pt>
                <c:pt idx="253">
                  <c:v>0.157081</c:v>
                </c:pt>
                <c:pt idx="254">
                  <c:v>0.138734</c:v>
                </c:pt>
                <c:pt idx="255">
                  <c:v>0.314704</c:v>
                </c:pt>
                <c:pt idx="256">
                  <c:v>0.217525</c:v>
                </c:pt>
                <c:pt idx="257">
                  <c:v>0.177337</c:v>
                </c:pt>
                <c:pt idx="258">
                  <c:v>0.359095</c:v>
                </c:pt>
                <c:pt idx="259">
                  <c:v>0.297279</c:v>
                </c:pt>
                <c:pt idx="260">
                  <c:v>0.295972</c:v>
                </c:pt>
                <c:pt idx="261">
                  <c:v>0.255608</c:v>
                </c:pt>
                <c:pt idx="262">
                  <c:v>0.31156</c:v>
                </c:pt>
                <c:pt idx="263">
                  <c:v>0.336834</c:v>
                </c:pt>
                <c:pt idx="264">
                  <c:v>0.160525</c:v>
                </c:pt>
                <c:pt idx="265">
                  <c:v>0.233138</c:v>
                </c:pt>
                <c:pt idx="266">
                  <c:v>0.395184</c:v>
                </c:pt>
                <c:pt idx="267">
                  <c:v>0.14686</c:v>
                </c:pt>
                <c:pt idx="268">
                  <c:v>0.087633</c:v>
                </c:pt>
                <c:pt idx="269">
                  <c:v>0.20456</c:v>
                </c:pt>
                <c:pt idx="270">
                  <c:v>0.239707</c:v>
                </c:pt>
                <c:pt idx="271">
                  <c:v>0.140571</c:v>
                </c:pt>
                <c:pt idx="272">
                  <c:v>0.407321</c:v>
                </c:pt>
                <c:pt idx="273">
                  <c:v>0.247359</c:v>
                </c:pt>
                <c:pt idx="274">
                  <c:v>0.155059</c:v>
                </c:pt>
                <c:pt idx="275">
                  <c:v>0.395418</c:v>
                </c:pt>
                <c:pt idx="276">
                  <c:v>0.255235</c:v>
                </c:pt>
                <c:pt idx="277">
                  <c:v>0.136781</c:v>
                </c:pt>
                <c:pt idx="278">
                  <c:v>0.087108</c:v>
                </c:pt>
                <c:pt idx="279">
                  <c:v>0.22292</c:v>
                </c:pt>
                <c:pt idx="280">
                  <c:v>0.246793</c:v>
                </c:pt>
                <c:pt idx="281">
                  <c:v>0.130098</c:v>
                </c:pt>
                <c:pt idx="282">
                  <c:v>0.211862</c:v>
                </c:pt>
                <c:pt idx="283">
                  <c:v>0.202292</c:v>
                </c:pt>
                <c:pt idx="284">
                  <c:v>0.375747</c:v>
                </c:pt>
                <c:pt idx="285">
                  <c:v>0.295156</c:v>
                </c:pt>
                <c:pt idx="286">
                  <c:v>0.305147</c:v>
                </c:pt>
                <c:pt idx="287">
                  <c:v>0.217241</c:v>
                </c:pt>
                <c:pt idx="288">
                  <c:v>0.272087</c:v>
                </c:pt>
                <c:pt idx="289">
                  <c:v>0.189557</c:v>
                </c:pt>
                <c:pt idx="290">
                  <c:v>0.371215</c:v>
                </c:pt>
                <c:pt idx="291">
                  <c:v>0.232498</c:v>
                </c:pt>
                <c:pt idx="292">
                  <c:v>0.22644</c:v>
                </c:pt>
                <c:pt idx="293">
                  <c:v>0.221286</c:v>
                </c:pt>
                <c:pt idx="294">
                  <c:v>0.108501</c:v>
                </c:pt>
                <c:pt idx="295">
                  <c:v>0.31363</c:v>
                </c:pt>
                <c:pt idx="296">
                  <c:v>0.190944</c:v>
                </c:pt>
                <c:pt idx="297">
                  <c:v>0.212277</c:v>
                </c:pt>
                <c:pt idx="298">
                  <c:v>0.16708</c:v>
                </c:pt>
                <c:pt idx="299">
                  <c:v>0.104152</c:v>
                </c:pt>
              </c:numCache>
            </c:numRef>
          </c:xVal>
          <c:yVal>
            <c:numRef>
              <c:f>'Chart Data'!$B$2:$B$301</c:f>
              <c:numCache>
                <c:formatCode>0.0</c:formatCode>
                <c:ptCount val="300"/>
                <c:pt idx="0">
                  <c:v>-0.132477</c:v>
                </c:pt>
                <c:pt idx="1">
                  <c:v>0.017137</c:v>
                </c:pt>
                <c:pt idx="2">
                  <c:v>-0.100875</c:v>
                </c:pt>
                <c:pt idx="3">
                  <c:v>-0.149424</c:v>
                </c:pt>
                <c:pt idx="4">
                  <c:v>0.05545</c:v>
                </c:pt>
                <c:pt idx="5">
                  <c:v>0.091977</c:v>
                </c:pt>
                <c:pt idx="6">
                  <c:v>-0.124435</c:v>
                </c:pt>
                <c:pt idx="7">
                  <c:v>0.132424</c:v>
                </c:pt>
                <c:pt idx="8">
                  <c:v>0.079992</c:v>
                </c:pt>
                <c:pt idx="9">
                  <c:v>-0.12797</c:v>
                </c:pt>
                <c:pt idx="10">
                  <c:v>0.203868</c:v>
                </c:pt>
                <c:pt idx="11">
                  <c:v>-0.130959</c:v>
                </c:pt>
                <c:pt idx="12">
                  <c:v>-0.181957</c:v>
                </c:pt>
                <c:pt idx="13">
                  <c:v>0.110051</c:v>
                </c:pt>
                <c:pt idx="14">
                  <c:v>-0.015654</c:v>
                </c:pt>
                <c:pt idx="15">
                  <c:v>0.13131</c:v>
                </c:pt>
                <c:pt idx="16">
                  <c:v>-0.052186</c:v>
                </c:pt>
                <c:pt idx="17">
                  <c:v>-0.139113</c:v>
                </c:pt>
                <c:pt idx="18">
                  <c:v>-0.055185</c:v>
                </c:pt>
                <c:pt idx="19">
                  <c:v>0.059792</c:v>
                </c:pt>
                <c:pt idx="20">
                  <c:v>-0.260516</c:v>
                </c:pt>
                <c:pt idx="21">
                  <c:v>-0.01978</c:v>
                </c:pt>
                <c:pt idx="22">
                  <c:v>0.00345</c:v>
                </c:pt>
                <c:pt idx="23">
                  <c:v>0.009569</c:v>
                </c:pt>
                <c:pt idx="24">
                  <c:v>0.13745</c:v>
                </c:pt>
                <c:pt idx="25">
                  <c:v>0.240166</c:v>
                </c:pt>
                <c:pt idx="26">
                  <c:v>0.033269</c:v>
                </c:pt>
                <c:pt idx="27">
                  <c:v>0.056733</c:v>
                </c:pt>
                <c:pt idx="28">
                  <c:v>-0.080673</c:v>
                </c:pt>
                <c:pt idx="29">
                  <c:v>-0.120241</c:v>
                </c:pt>
                <c:pt idx="30">
                  <c:v>-0.04122</c:v>
                </c:pt>
                <c:pt idx="31">
                  <c:v>-0.105327</c:v>
                </c:pt>
                <c:pt idx="32">
                  <c:v>0.004666</c:v>
                </c:pt>
                <c:pt idx="33">
                  <c:v>0.004189</c:v>
                </c:pt>
                <c:pt idx="34">
                  <c:v>0.01256</c:v>
                </c:pt>
                <c:pt idx="35">
                  <c:v>-0.021138</c:v>
                </c:pt>
                <c:pt idx="36">
                  <c:v>-0.117497</c:v>
                </c:pt>
                <c:pt idx="37">
                  <c:v>-0.122371</c:v>
                </c:pt>
                <c:pt idx="38">
                  <c:v>-0.048289</c:v>
                </c:pt>
                <c:pt idx="39">
                  <c:v>0.202353</c:v>
                </c:pt>
                <c:pt idx="40">
                  <c:v>0.07824</c:v>
                </c:pt>
                <c:pt idx="41">
                  <c:v>-0.117796</c:v>
                </c:pt>
                <c:pt idx="42">
                  <c:v>0.043484</c:v>
                </c:pt>
                <c:pt idx="43">
                  <c:v>0.039546</c:v>
                </c:pt>
                <c:pt idx="44">
                  <c:v>0.117614</c:v>
                </c:pt>
                <c:pt idx="45">
                  <c:v>0.112552</c:v>
                </c:pt>
                <c:pt idx="46">
                  <c:v>0.102475</c:v>
                </c:pt>
                <c:pt idx="47">
                  <c:v>0.11452</c:v>
                </c:pt>
                <c:pt idx="48">
                  <c:v>0.13232</c:v>
                </c:pt>
                <c:pt idx="49">
                  <c:v>-0.173587</c:v>
                </c:pt>
                <c:pt idx="50">
                  <c:v>0.035195</c:v>
                </c:pt>
                <c:pt idx="51">
                  <c:v>-0.001529</c:v>
                </c:pt>
                <c:pt idx="52">
                  <c:v>-0.17004</c:v>
                </c:pt>
                <c:pt idx="53">
                  <c:v>-0.105078</c:v>
                </c:pt>
                <c:pt idx="54">
                  <c:v>-0.002536</c:v>
                </c:pt>
                <c:pt idx="55">
                  <c:v>-0.087668</c:v>
                </c:pt>
                <c:pt idx="56">
                  <c:v>-0.116556</c:v>
                </c:pt>
                <c:pt idx="57">
                  <c:v>-0.146746</c:v>
                </c:pt>
                <c:pt idx="58">
                  <c:v>-0.020602</c:v>
                </c:pt>
                <c:pt idx="59">
                  <c:v>0.000521</c:v>
                </c:pt>
                <c:pt idx="60">
                  <c:v>0.139686</c:v>
                </c:pt>
                <c:pt idx="61">
                  <c:v>-0.123153</c:v>
                </c:pt>
                <c:pt idx="62">
                  <c:v>0.146997</c:v>
                </c:pt>
                <c:pt idx="63">
                  <c:v>0.085142</c:v>
                </c:pt>
                <c:pt idx="64">
                  <c:v>-0.14225</c:v>
                </c:pt>
                <c:pt idx="65">
                  <c:v>0.174916</c:v>
                </c:pt>
                <c:pt idx="66">
                  <c:v>0.074001</c:v>
                </c:pt>
                <c:pt idx="67">
                  <c:v>-0.001632</c:v>
                </c:pt>
                <c:pt idx="68">
                  <c:v>-0.13333</c:v>
                </c:pt>
                <c:pt idx="69">
                  <c:v>0.141384</c:v>
                </c:pt>
                <c:pt idx="70">
                  <c:v>-0.057037</c:v>
                </c:pt>
                <c:pt idx="71">
                  <c:v>0.155015</c:v>
                </c:pt>
                <c:pt idx="72">
                  <c:v>-0.044873</c:v>
                </c:pt>
                <c:pt idx="73">
                  <c:v>0.119631</c:v>
                </c:pt>
                <c:pt idx="74">
                  <c:v>-0.054681</c:v>
                </c:pt>
                <c:pt idx="75">
                  <c:v>-0.110861</c:v>
                </c:pt>
                <c:pt idx="76">
                  <c:v>-0.030194</c:v>
                </c:pt>
                <c:pt idx="77">
                  <c:v>0.132309</c:v>
                </c:pt>
                <c:pt idx="78">
                  <c:v>0.021235</c:v>
                </c:pt>
                <c:pt idx="79">
                  <c:v>0.060078</c:v>
                </c:pt>
                <c:pt idx="80">
                  <c:v>-0.051119</c:v>
                </c:pt>
                <c:pt idx="81">
                  <c:v>0.117068</c:v>
                </c:pt>
                <c:pt idx="82">
                  <c:v>0.031772</c:v>
                </c:pt>
                <c:pt idx="83">
                  <c:v>0.095743</c:v>
                </c:pt>
                <c:pt idx="84">
                  <c:v>0.015115</c:v>
                </c:pt>
                <c:pt idx="85">
                  <c:v>-0.129451</c:v>
                </c:pt>
                <c:pt idx="86">
                  <c:v>0.079941</c:v>
                </c:pt>
                <c:pt idx="87">
                  <c:v>0.046225</c:v>
                </c:pt>
                <c:pt idx="88">
                  <c:v>0.068212</c:v>
                </c:pt>
                <c:pt idx="89">
                  <c:v>-0.261291</c:v>
                </c:pt>
                <c:pt idx="90">
                  <c:v>-0.059326</c:v>
                </c:pt>
                <c:pt idx="91">
                  <c:v>0.04583</c:v>
                </c:pt>
                <c:pt idx="92">
                  <c:v>0.057697</c:v>
                </c:pt>
                <c:pt idx="93">
                  <c:v>0.041494</c:v>
                </c:pt>
                <c:pt idx="94">
                  <c:v>0.034452</c:v>
                </c:pt>
                <c:pt idx="95">
                  <c:v>0.032566</c:v>
                </c:pt>
                <c:pt idx="96">
                  <c:v>0.084663</c:v>
                </c:pt>
                <c:pt idx="97">
                  <c:v>-0.199867</c:v>
                </c:pt>
                <c:pt idx="98">
                  <c:v>-0.048205</c:v>
                </c:pt>
                <c:pt idx="99">
                  <c:v>-0.253429</c:v>
                </c:pt>
                <c:pt idx="100">
                  <c:v>-0.121041</c:v>
                </c:pt>
                <c:pt idx="101">
                  <c:v>-0.074527</c:v>
                </c:pt>
                <c:pt idx="102">
                  <c:v>0.134403</c:v>
                </c:pt>
                <c:pt idx="103">
                  <c:v>0.008108</c:v>
                </c:pt>
                <c:pt idx="104">
                  <c:v>0.033222</c:v>
                </c:pt>
                <c:pt idx="105">
                  <c:v>-0.110271</c:v>
                </c:pt>
                <c:pt idx="106">
                  <c:v>0.12193</c:v>
                </c:pt>
                <c:pt idx="107">
                  <c:v>-0.002522</c:v>
                </c:pt>
                <c:pt idx="108">
                  <c:v>0.116276</c:v>
                </c:pt>
                <c:pt idx="109">
                  <c:v>0.121031</c:v>
                </c:pt>
                <c:pt idx="110">
                  <c:v>0.12883</c:v>
                </c:pt>
                <c:pt idx="111">
                  <c:v>0.062005</c:v>
                </c:pt>
                <c:pt idx="112">
                  <c:v>-0.048068</c:v>
                </c:pt>
                <c:pt idx="113">
                  <c:v>0.113519</c:v>
                </c:pt>
                <c:pt idx="114">
                  <c:v>-0.020613</c:v>
                </c:pt>
                <c:pt idx="115">
                  <c:v>0.112952</c:v>
                </c:pt>
                <c:pt idx="116">
                  <c:v>-0.066412</c:v>
                </c:pt>
                <c:pt idx="117">
                  <c:v>0.102467</c:v>
                </c:pt>
                <c:pt idx="118">
                  <c:v>0.02382</c:v>
                </c:pt>
                <c:pt idx="119">
                  <c:v>-0.157415</c:v>
                </c:pt>
                <c:pt idx="120">
                  <c:v>0.171433</c:v>
                </c:pt>
                <c:pt idx="121">
                  <c:v>-0.042352</c:v>
                </c:pt>
                <c:pt idx="122">
                  <c:v>-0.079644</c:v>
                </c:pt>
                <c:pt idx="123">
                  <c:v>0.030813</c:v>
                </c:pt>
                <c:pt idx="124">
                  <c:v>-0.112286</c:v>
                </c:pt>
                <c:pt idx="125">
                  <c:v>-0.272428</c:v>
                </c:pt>
                <c:pt idx="126">
                  <c:v>-0.012251</c:v>
                </c:pt>
                <c:pt idx="127">
                  <c:v>0.064857</c:v>
                </c:pt>
                <c:pt idx="128">
                  <c:v>0.02932</c:v>
                </c:pt>
                <c:pt idx="129">
                  <c:v>-0.079528</c:v>
                </c:pt>
                <c:pt idx="130">
                  <c:v>-0.02687</c:v>
                </c:pt>
                <c:pt idx="131">
                  <c:v>0.190785</c:v>
                </c:pt>
                <c:pt idx="132">
                  <c:v>0.038648</c:v>
                </c:pt>
                <c:pt idx="133">
                  <c:v>-0.132703</c:v>
                </c:pt>
                <c:pt idx="134">
                  <c:v>-0.02754</c:v>
                </c:pt>
                <c:pt idx="135">
                  <c:v>0.115701</c:v>
                </c:pt>
                <c:pt idx="136">
                  <c:v>0.03313</c:v>
                </c:pt>
                <c:pt idx="137">
                  <c:v>-0.047851</c:v>
                </c:pt>
                <c:pt idx="138">
                  <c:v>-0.075749</c:v>
                </c:pt>
                <c:pt idx="139">
                  <c:v>0.113462</c:v>
                </c:pt>
                <c:pt idx="140">
                  <c:v>-0.092055</c:v>
                </c:pt>
                <c:pt idx="141">
                  <c:v>-0.130019</c:v>
                </c:pt>
                <c:pt idx="142">
                  <c:v>-0.045962</c:v>
                </c:pt>
                <c:pt idx="143">
                  <c:v>-0.245331</c:v>
                </c:pt>
                <c:pt idx="144">
                  <c:v>-0.051502</c:v>
                </c:pt>
                <c:pt idx="145">
                  <c:v>-0.10485</c:v>
                </c:pt>
                <c:pt idx="146">
                  <c:v>-0.078553</c:v>
                </c:pt>
                <c:pt idx="147">
                  <c:v>-0.165527</c:v>
                </c:pt>
                <c:pt idx="148">
                  <c:v>-0.052602</c:v>
                </c:pt>
                <c:pt idx="149">
                  <c:v>-0.028649</c:v>
                </c:pt>
                <c:pt idx="150">
                  <c:v>0.133971</c:v>
                </c:pt>
                <c:pt idx="151">
                  <c:v>-0.026811</c:v>
                </c:pt>
                <c:pt idx="152">
                  <c:v>0.127423</c:v>
                </c:pt>
                <c:pt idx="153">
                  <c:v>0.265448</c:v>
                </c:pt>
                <c:pt idx="154">
                  <c:v>0.101209</c:v>
                </c:pt>
                <c:pt idx="155">
                  <c:v>-0.015501</c:v>
                </c:pt>
                <c:pt idx="156">
                  <c:v>-0.017693</c:v>
                </c:pt>
                <c:pt idx="157">
                  <c:v>-0.030979</c:v>
                </c:pt>
                <c:pt idx="158">
                  <c:v>-0.071899</c:v>
                </c:pt>
                <c:pt idx="159">
                  <c:v>-0.064047</c:v>
                </c:pt>
                <c:pt idx="160">
                  <c:v>0.150397</c:v>
                </c:pt>
                <c:pt idx="161">
                  <c:v>0.032714</c:v>
                </c:pt>
                <c:pt idx="162">
                  <c:v>-0.095748</c:v>
                </c:pt>
                <c:pt idx="163">
                  <c:v>-0.089704</c:v>
                </c:pt>
                <c:pt idx="164">
                  <c:v>-0.101012</c:v>
                </c:pt>
                <c:pt idx="165">
                  <c:v>0.044711</c:v>
                </c:pt>
                <c:pt idx="166">
                  <c:v>0.141499</c:v>
                </c:pt>
                <c:pt idx="167">
                  <c:v>0.207628</c:v>
                </c:pt>
                <c:pt idx="168">
                  <c:v>-0.210633</c:v>
                </c:pt>
                <c:pt idx="169">
                  <c:v>0.000661</c:v>
                </c:pt>
                <c:pt idx="170">
                  <c:v>-0.058455</c:v>
                </c:pt>
                <c:pt idx="171">
                  <c:v>-0.027751</c:v>
                </c:pt>
                <c:pt idx="172">
                  <c:v>0.063999</c:v>
                </c:pt>
                <c:pt idx="173">
                  <c:v>-0.002847</c:v>
                </c:pt>
                <c:pt idx="174">
                  <c:v>0.136007</c:v>
                </c:pt>
                <c:pt idx="175">
                  <c:v>-0.022274</c:v>
                </c:pt>
                <c:pt idx="176">
                  <c:v>-0.174447</c:v>
                </c:pt>
                <c:pt idx="177">
                  <c:v>-0.067838</c:v>
                </c:pt>
                <c:pt idx="178">
                  <c:v>-0.078171</c:v>
                </c:pt>
                <c:pt idx="179">
                  <c:v>0.07534</c:v>
                </c:pt>
                <c:pt idx="180">
                  <c:v>-0.105559</c:v>
                </c:pt>
                <c:pt idx="181">
                  <c:v>0.09192</c:v>
                </c:pt>
                <c:pt idx="182">
                  <c:v>0.060453</c:v>
                </c:pt>
                <c:pt idx="183">
                  <c:v>0.018007</c:v>
                </c:pt>
                <c:pt idx="184">
                  <c:v>-0.157299</c:v>
                </c:pt>
                <c:pt idx="185">
                  <c:v>-0.050136</c:v>
                </c:pt>
                <c:pt idx="186">
                  <c:v>0.048808</c:v>
                </c:pt>
                <c:pt idx="187">
                  <c:v>-0.119852</c:v>
                </c:pt>
                <c:pt idx="188">
                  <c:v>0.032856</c:v>
                </c:pt>
                <c:pt idx="189">
                  <c:v>-0.027012</c:v>
                </c:pt>
                <c:pt idx="190">
                  <c:v>0.131154</c:v>
                </c:pt>
                <c:pt idx="191">
                  <c:v>0.049967</c:v>
                </c:pt>
                <c:pt idx="192">
                  <c:v>-0.302593</c:v>
                </c:pt>
                <c:pt idx="193">
                  <c:v>-0.005049</c:v>
                </c:pt>
                <c:pt idx="194">
                  <c:v>-0.093925</c:v>
                </c:pt>
                <c:pt idx="195">
                  <c:v>-0.067597</c:v>
                </c:pt>
                <c:pt idx="196">
                  <c:v>-0.001955</c:v>
                </c:pt>
                <c:pt idx="197">
                  <c:v>-0.150823</c:v>
                </c:pt>
                <c:pt idx="198">
                  <c:v>-0.03026</c:v>
                </c:pt>
                <c:pt idx="199">
                  <c:v>0.043413</c:v>
                </c:pt>
                <c:pt idx="200">
                  <c:v>0.051558</c:v>
                </c:pt>
                <c:pt idx="201">
                  <c:v>0.03835</c:v>
                </c:pt>
                <c:pt idx="202">
                  <c:v>-0.046044</c:v>
                </c:pt>
                <c:pt idx="203">
                  <c:v>0.146332</c:v>
                </c:pt>
                <c:pt idx="204">
                  <c:v>0.070768</c:v>
                </c:pt>
                <c:pt idx="205">
                  <c:v>0.034672</c:v>
                </c:pt>
                <c:pt idx="206">
                  <c:v>0.096847</c:v>
                </c:pt>
                <c:pt idx="207">
                  <c:v>-0.052303</c:v>
                </c:pt>
                <c:pt idx="208">
                  <c:v>0.022488</c:v>
                </c:pt>
                <c:pt idx="209">
                  <c:v>0.070747</c:v>
                </c:pt>
                <c:pt idx="210">
                  <c:v>-0.005676</c:v>
                </c:pt>
                <c:pt idx="211">
                  <c:v>-0.039696</c:v>
                </c:pt>
                <c:pt idx="212">
                  <c:v>-0.003295</c:v>
                </c:pt>
                <c:pt idx="213">
                  <c:v>0.03605</c:v>
                </c:pt>
                <c:pt idx="214">
                  <c:v>-0.02263</c:v>
                </c:pt>
                <c:pt idx="215">
                  <c:v>0.080508</c:v>
                </c:pt>
                <c:pt idx="216">
                  <c:v>0.038881</c:v>
                </c:pt>
                <c:pt idx="217">
                  <c:v>0.06108</c:v>
                </c:pt>
                <c:pt idx="218">
                  <c:v>-0.039711</c:v>
                </c:pt>
                <c:pt idx="219">
                  <c:v>0.001143</c:v>
                </c:pt>
                <c:pt idx="220">
                  <c:v>0.063495</c:v>
                </c:pt>
                <c:pt idx="221">
                  <c:v>-0.018646</c:v>
                </c:pt>
                <c:pt idx="222">
                  <c:v>-0.146638</c:v>
                </c:pt>
                <c:pt idx="223">
                  <c:v>0.144251</c:v>
                </c:pt>
                <c:pt idx="224">
                  <c:v>0.220152</c:v>
                </c:pt>
                <c:pt idx="225">
                  <c:v>-0.240281</c:v>
                </c:pt>
                <c:pt idx="226">
                  <c:v>0.045403</c:v>
                </c:pt>
                <c:pt idx="227">
                  <c:v>-0.071836</c:v>
                </c:pt>
                <c:pt idx="228">
                  <c:v>-0.017525</c:v>
                </c:pt>
                <c:pt idx="229">
                  <c:v>0.01749</c:v>
                </c:pt>
                <c:pt idx="230">
                  <c:v>0.08</c:v>
                </c:pt>
                <c:pt idx="231">
                  <c:v>-0.026177</c:v>
                </c:pt>
                <c:pt idx="232">
                  <c:v>0.072816</c:v>
                </c:pt>
                <c:pt idx="233">
                  <c:v>-0.053027</c:v>
                </c:pt>
                <c:pt idx="234">
                  <c:v>-0.105216</c:v>
                </c:pt>
                <c:pt idx="235">
                  <c:v>-0.076723</c:v>
                </c:pt>
                <c:pt idx="236">
                  <c:v>0.096206</c:v>
                </c:pt>
                <c:pt idx="237">
                  <c:v>0.072971</c:v>
                </c:pt>
                <c:pt idx="238">
                  <c:v>-0.117041</c:v>
                </c:pt>
                <c:pt idx="239">
                  <c:v>0.121034</c:v>
                </c:pt>
                <c:pt idx="240">
                  <c:v>-0.141649</c:v>
                </c:pt>
                <c:pt idx="241">
                  <c:v>0.076739</c:v>
                </c:pt>
                <c:pt idx="242">
                  <c:v>-0.018752</c:v>
                </c:pt>
                <c:pt idx="243">
                  <c:v>0.146139</c:v>
                </c:pt>
                <c:pt idx="244">
                  <c:v>0.015381</c:v>
                </c:pt>
                <c:pt idx="245">
                  <c:v>-0.047862</c:v>
                </c:pt>
                <c:pt idx="246">
                  <c:v>0.015959</c:v>
                </c:pt>
                <c:pt idx="247">
                  <c:v>-0.028832</c:v>
                </c:pt>
                <c:pt idx="248">
                  <c:v>-0.028856</c:v>
                </c:pt>
                <c:pt idx="249">
                  <c:v>0.15344</c:v>
                </c:pt>
                <c:pt idx="250">
                  <c:v>0.116592</c:v>
                </c:pt>
                <c:pt idx="251">
                  <c:v>0.138409</c:v>
                </c:pt>
                <c:pt idx="252">
                  <c:v>0.051151</c:v>
                </c:pt>
                <c:pt idx="253">
                  <c:v>-0.069735</c:v>
                </c:pt>
                <c:pt idx="254">
                  <c:v>-0.077543</c:v>
                </c:pt>
                <c:pt idx="255">
                  <c:v>-0.013111</c:v>
                </c:pt>
                <c:pt idx="256">
                  <c:v>-0.049787</c:v>
                </c:pt>
                <c:pt idx="257">
                  <c:v>0.036286</c:v>
                </c:pt>
                <c:pt idx="258">
                  <c:v>0.023094</c:v>
                </c:pt>
                <c:pt idx="259">
                  <c:v>-0.150172</c:v>
                </c:pt>
                <c:pt idx="260">
                  <c:v>0.057977</c:v>
                </c:pt>
                <c:pt idx="261">
                  <c:v>0.053228</c:v>
                </c:pt>
                <c:pt idx="262">
                  <c:v>0.249327</c:v>
                </c:pt>
                <c:pt idx="263">
                  <c:v>0.04525</c:v>
                </c:pt>
                <c:pt idx="264">
                  <c:v>0.036238</c:v>
                </c:pt>
                <c:pt idx="265">
                  <c:v>0.073441</c:v>
                </c:pt>
                <c:pt idx="266">
                  <c:v>0.056589</c:v>
                </c:pt>
                <c:pt idx="267">
                  <c:v>0.132169</c:v>
                </c:pt>
                <c:pt idx="268">
                  <c:v>-0.130855</c:v>
                </c:pt>
                <c:pt idx="269">
                  <c:v>-0.09473</c:v>
                </c:pt>
                <c:pt idx="270">
                  <c:v>-0.003576</c:v>
                </c:pt>
                <c:pt idx="271">
                  <c:v>-0.145557</c:v>
                </c:pt>
                <c:pt idx="272">
                  <c:v>0.060555</c:v>
                </c:pt>
                <c:pt idx="273">
                  <c:v>0.051484</c:v>
                </c:pt>
                <c:pt idx="274">
                  <c:v>-0.09825</c:v>
                </c:pt>
                <c:pt idx="275">
                  <c:v>0.108192</c:v>
                </c:pt>
                <c:pt idx="276">
                  <c:v>-0.090338</c:v>
                </c:pt>
                <c:pt idx="277">
                  <c:v>0.064256</c:v>
                </c:pt>
                <c:pt idx="278">
                  <c:v>-0.022859</c:v>
                </c:pt>
                <c:pt idx="279">
                  <c:v>0.058169</c:v>
                </c:pt>
                <c:pt idx="280">
                  <c:v>-0.214255</c:v>
                </c:pt>
                <c:pt idx="281">
                  <c:v>0.116314</c:v>
                </c:pt>
                <c:pt idx="282">
                  <c:v>0.152847</c:v>
                </c:pt>
                <c:pt idx="283">
                  <c:v>0.059648</c:v>
                </c:pt>
                <c:pt idx="284">
                  <c:v>-0.026864</c:v>
                </c:pt>
                <c:pt idx="285">
                  <c:v>-0.015717</c:v>
                </c:pt>
                <c:pt idx="286">
                  <c:v>0.170386</c:v>
                </c:pt>
                <c:pt idx="287">
                  <c:v>0.039459</c:v>
                </c:pt>
                <c:pt idx="288">
                  <c:v>-0.076715</c:v>
                </c:pt>
                <c:pt idx="289">
                  <c:v>0.13948</c:v>
                </c:pt>
                <c:pt idx="290">
                  <c:v>-0.042841</c:v>
                </c:pt>
                <c:pt idx="291">
                  <c:v>0.046053</c:v>
                </c:pt>
                <c:pt idx="292">
                  <c:v>0.144029</c:v>
                </c:pt>
                <c:pt idx="293">
                  <c:v>-0.23425</c:v>
                </c:pt>
                <c:pt idx="294">
                  <c:v>-0.118109</c:v>
                </c:pt>
                <c:pt idx="295">
                  <c:v>-0.105037</c:v>
                </c:pt>
                <c:pt idx="296">
                  <c:v>-0.093955</c:v>
                </c:pt>
                <c:pt idx="297">
                  <c:v>-0.179822</c:v>
                </c:pt>
                <c:pt idx="298">
                  <c:v>0.089513</c:v>
                </c:pt>
                <c:pt idx="299">
                  <c:v>0.026732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6"/>
        </c:scaling>
        <c:delete val="0"/>
        <c:axPos val="l"/>
        <c:majorGridlines>
          <c:spPr>
            <a:ln xmlns:a="http://schemas.openxmlformats.org/drawingml/2006/main" w="5715">
              <a:solidFill>
                <a:srgbClr val="E5E7EA"/>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majorUnit val="0.6"/>
      </c:valAx>
      <c:valAx>
        <c:axId val="48650112"/>
        <c:scaling>
          <c:orientation val="minMax"/>
          <c:max val="0.6"/>
          <c:min val="-0.6"/>
        </c:scaling>
        <c:delete val="0"/>
        <c:axPos val="b"/>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majorUnit val="0.6"/>
      </c:valAx>
    </c:plotArea>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b="1">
                <a:solidFill>
                  <a:srgbClr val="00A2AE"/>
                </a:solidFill>
                <a:latin typeface="Arial"/>
                <a:ea typeface="Arial"/>
                <a:cs typeface="Arial"/>
              </a:rPr>
              <a:t>C5  (n = 194)</a:t>
            </a:r>
          </a:p>
        </c:rich>
      </c:tx>
      <c:overlay val="0"/>
      <c:txPr>
        <a:bodyPr xmlns:a="http://schemas.openxmlformats.org/drawingml/2006/main" anchorCtr="1"/>
        <a:lstStyle xmlns:a="http://schemas.openxmlformats.org/drawingml/2006/main"/>
        <a:p xmlns:a="http://schemas.openxmlformats.org/drawingml/2006/main">
          <a:pPr>
            <a:defRPr sz="1500" b="1">
              <a:solidFill>
                <a:srgbClr val="00A2AE"/>
              </a:solidFill>
              <a:latin typeface="Arial"/>
              <a:ea typeface="Arial"/>
              <a:cs typeface="Arial"/>
            </a:defRPr>
          </a:pPr>
        </a:p>
      </c:txPr>
    </c:title>
    <c:plotArea>
      <c:scatterChart>
        <c:scatterStyle val="marker"/>
        <c:ser>
          <c:idx val="0"/>
          <c:order val="0"/>
          <c:tx>
            <c:v>C5</c:v>
          </c:tx>
          <c:spPr>
            <a:solidFill xmlns:a="http://schemas.openxmlformats.org/drawingml/2006/main">
              <a:srgbClr val="00A2AE"/>
            </a:solidFill>
            <a:ln xmlns:a="http://schemas.openxmlformats.org/drawingml/2006/main" w="0">
              <a:noFill/>
            </a:ln>
          </c:spPr>
          <c:marker>
            <c:symbol val="circle"/>
            <c:size val="3"/>
            <c:spPr>
              <ns0:solidFill xmlns:ns0="http://schemas.openxmlformats.org/drawingml/2006/main">
                <ns0:srgbClr val="00A2AE"/>
              </ns0:solidFill>
              <ns1:ln xmlns:ns1="http://schemas.openxmlformats.org/drawingml/2006/main" w="0">
                <ns1:noFill/>
              </ns1:ln>
            </c:spPr>
          </c:marker>
          <c:xVal>
            <c:numRef>
              <c:f>'Chart Data'!$A$2:$A$195</c:f>
              <c:numCache>
                <c:formatCode>General</c:formatCode>
                <c:ptCount val="194"/>
                <c:pt idx="0">
                  <c:v>-0.100428</c:v>
                </c:pt>
                <c:pt idx="1">
                  <c:v>0.249102</c:v>
                </c:pt>
                <c:pt idx="2">
                  <c:v>0.060563</c:v>
                </c:pt>
                <c:pt idx="3">
                  <c:v>0.080645</c:v>
                </c:pt>
                <c:pt idx="4">
                  <c:v>0.027407</c:v>
                </c:pt>
                <c:pt idx="5">
                  <c:v>0.213768</c:v>
                </c:pt>
                <c:pt idx="6">
                  <c:v>0.143132</c:v>
                </c:pt>
                <c:pt idx="7">
                  <c:v>-0.004493</c:v>
                </c:pt>
                <c:pt idx="8">
                  <c:v>0.127371</c:v>
                </c:pt>
                <c:pt idx="9">
                  <c:v>-0.04892</c:v>
                </c:pt>
                <c:pt idx="10">
                  <c:v>0.095778</c:v>
                </c:pt>
                <c:pt idx="11">
                  <c:v>0.093743</c:v>
                </c:pt>
                <c:pt idx="12">
                  <c:v>0.07925</c:v>
                </c:pt>
                <c:pt idx="13">
                  <c:v>0.058835</c:v>
                </c:pt>
                <c:pt idx="14">
                  <c:v>-0.006277</c:v>
                </c:pt>
                <c:pt idx="15">
                  <c:v>0.090907</c:v>
                </c:pt>
                <c:pt idx="16">
                  <c:v>0.164928</c:v>
                </c:pt>
                <c:pt idx="17">
                  <c:v>0.223512</c:v>
                </c:pt>
                <c:pt idx="18">
                  <c:v>-0.107073</c:v>
                </c:pt>
                <c:pt idx="19">
                  <c:v>0.025802</c:v>
                </c:pt>
                <c:pt idx="20">
                  <c:v>0.032058</c:v>
                </c:pt>
                <c:pt idx="21">
                  <c:v>0.03386</c:v>
                </c:pt>
                <c:pt idx="22">
                  <c:v>0.14129</c:v>
                </c:pt>
                <c:pt idx="23">
                  <c:v>0.05018</c:v>
                </c:pt>
                <c:pt idx="24">
                  <c:v>0.193279</c:v>
                </c:pt>
                <c:pt idx="25">
                  <c:v>0.202067</c:v>
                </c:pt>
                <c:pt idx="26">
                  <c:v>0.002988</c:v>
                </c:pt>
                <c:pt idx="27">
                  <c:v>-0.047609</c:v>
                </c:pt>
                <c:pt idx="28">
                  <c:v>0.17027</c:v>
                </c:pt>
                <c:pt idx="29">
                  <c:v>-0.175437</c:v>
                </c:pt>
                <c:pt idx="30">
                  <c:v>0.161335</c:v>
                </c:pt>
                <c:pt idx="31">
                  <c:v>-0.03728</c:v>
                </c:pt>
                <c:pt idx="32">
                  <c:v>0.073289</c:v>
                </c:pt>
                <c:pt idx="33">
                  <c:v>0.193184</c:v>
                </c:pt>
                <c:pt idx="34">
                  <c:v>0.041235</c:v>
                </c:pt>
                <c:pt idx="35">
                  <c:v>0.354918</c:v>
                </c:pt>
                <c:pt idx="36">
                  <c:v>-0.076629</c:v>
                </c:pt>
                <c:pt idx="37">
                  <c:v>0.125523</c:v>
                </c:pt>
                <c:pt idx="38">
                  <c:v>-0.062577</c:v>
                </c:pt>
                <c:pt idx="39">
                  <c:v>0.285682</c:v>
                </c:pt>
                <c:pt idx="40">
                  <c:v>-0.09401</c:v>
                </c:pt>
                <c:pt idx="41">
                  <c:v>0.134946</c:v>
                </c:pt>
                <c:pt idx="42">
                  <c:v>-0.002641</c:v>
                </c:pt>
                <c:pt idx="43">
                  <c:v>0.000582</c:v>
                </c:pt>
                <c:pt idx="44">
                  <c:v>0.154759</c:v>
                </c:pt>
                <c:pt idx="45">
                  <c:v>0.087647</c:v>
                </c:pt>
                <c:pt idx="46">
                  <c:v>0.080205</c:v>
                </c:pt>
                <c:pt idx="47">
                  <c:v>0.038788</c:v>
                </c:pt>
                <c:pt idx="48">
                  <c:v>0.199922</c:v>
                </c:pt>
                <c:pt idx="49">
                  <c:v>0.049078</c:v>
                </c:pt>
                <c:pt idx="50">
                  <c:v>0.276349</c:v>
                </c:pt>
                <c:pt idx="51">
                  <c:v>0.102225</c:v>
                </c:pt>
                <c:pt idx="52">
                  <c:v>0.085096</c:v>
                </c:pt>
                <c:pt idx="53">
                  <c:v>0.125421</c:v>
                </c:pt>
                <c:pt idx="54">
                  <c:v>0.127318</c:v>
                </c:pt>
                <c:pt idx="55">
                  <c:v>0.081474</c:v>
                </c:pt>
                <c:pt idx="56">
                  <c:v>0.023034</c:v>
                </c:pt>
                <c:pt idx="57">
                  <c:v>0.354027</c:v>
                </c:pt>
                <c:pt idx="58">
                  <c:v>-0.074061</c:v>
                </c:pt>
                <c:pt idx="59">
                  <c:v>0.160481</c:v>
                </c:pt>
                <c:pt idx="60">
                  <c:v>0.249734</c:v>
                </c:pt>
                <c:pt idx="61">
                  <c:v>-0.091281</c:v>
                </c:pt>
                <c:pt idx="62">
                  <c:v>0.347993</c:v>
                </c:pt>
                <c:pt idx="63">
                  <c:v>-0.038267</c:v>
                </c:pt>
                <c:pt idx="64">
                  <c:v>0.093962</c:v>
                </c:pt>
                <c:pt idx="65">
                  <c:v>0.148502</c:v>
                </c:pt>
                <c:pt idx="66">
                  <c:v>0.022519</c:v>
                </c:pt>
                <c:pt idx="67">
                  <c:v>-0.095256</c:v>
                </c:pt>
                <c:pt idx="68">
                  <c:v>0.110912</c:v>
                </c:pt>
                <c:pt idx="69">
                  <c:v>-0.15334</c:v>
                </c:pt>
                <c:pt idx="70">
                  <c:v>0.163107</c:v>
                </c:pt>
                <c:pt idx="71">
                  <c:v>0.210829</c:v>
                </c:pt>
                <c:pt idx="72">
                  <c:v>0.215102</c:v>
                </c:pt>
                <c:pt idx="73">
                  <c:v>0.038729</c:v>
                </c:pt>
                <c:pt idx="74">
                  <c:v>0.044898</c:v>
                </c:pt>
                <c:pt idx="75">
                  <c:v>-0.0685</c:v>
                </c:pt>
                <c:pt idx="76">
                  <c:v>-0.00127</c:v>
                </c:pt>
                <c:pt idx="77">
                  <c:v>-0.065699</c:v>
                </c:pt>
                <c:pt idx="78">
                  <c:v>0.115137</c:v>
                </c:pt>
                <c:pt idx="79">
                  <c:v>-0.069081</c:v>
                </c:pt>
                <c:pt idx="80">
                  <c:v>0.374452</c:v>
                </c:pt>
                <c:pt idx="81">
                  <c:v>-0.031111</c:v>
                </c:pt>
                <c:pt idx="82">
                  <c:v>0.224456</c:v>
                </c:pt>
                <c:pt idx="83">
                  <c:v>-0.011735</c:v>
                </c:pt>
                <c:pt idx="84">
                  <c:v>0.16389</c:v>
                </c:pt>
                <c:pt idx="85">
                  <c:v>-0.077202</c:v>
                </c:pt>
                <c:pt idx="86">
                  <c:v>0.083305</c:v>
                </c:pt>
                <c:pt idx="87">
                  <c:v>0.066969</c:v>
                </c:pt>
                <c:pt idx="88">
                  <c:v>0.279967</c:v>
                </c:pt>
                <c:pt idx="89">
                  <c:v>0.044712</c:v>
                </c:pt>
                <c:pt idx="90">
                  <c:v>-0.135768</c:v>
                </c:pt>
                <c:pt idx="91">
                  <c:v>0.024019</c:v>
                </c:pt>
                <c:pt idx="92">
                  <c:v>0.122639</c:v>
                </c:pt>
                <c:pt idx="93">
                  <c:v>-0.109681</c:v>
                </c:pt>
                <c:pt idx="94">
                  <c:v>0.219367</c:v>
                </c:pt>
                <c:pt idx="95">
                  <c:v>0.052714</c:v>
                </c:pt>
                <c:pt idx="96">
                  <c:v>0.166813</c:v>
                </c:pt>
                <c:pt idx="97">
                  <c:v>0.042393</c:v>
                </c:pt>
                <c:pt idx="98">
                  <c:v>0.019607</c:v>
                </c:pt>
                <c:pt idx="99">
                  <c:v>-0.049062</c:v>
                </c:pt>
                <c:pt idx="100">
                  <c:v>-0.054477</c:v>
                </c:pt>
                <c:pt idx="101">
                  <c:v>0.090537</c:v>
                </c:pt>
                <c:pt idx="102">
                  <c:v>0.073284</c:v>
                </c:pt>
                <c:pt idx="103">
                  <c:v>0.123032</c:v>
                </c:pt>
                <c:pt idx="104">
                  <c:v>0.005613</c:v>
                </c:pt>
                <c:pt idx="105">
                  <c:v>-0.040541</c:v>
                </c:pt>
                <c:pt idx="106">
                  <c:v>0.047642</c:v>
                </c:pt>
                <c:pt idx="107">
                  <c:v>0.273529</c:v>
                </c:pt>
                <c:pt idx="108">
                  <c:v>0.311045</c:v>
                </c:pt>
                <c:pt idx="109">
                  <c:v>0.117322</c:v>
                </c:pt>
                <c:pt idx="110">
                  <c:v>0.063204</c:v>
                </c:pt>
                <c:pt idx="111">
                  <c:v>0.246135</c:v>
                </c:pt>
                <c:pt idx="112">
                  <c:v>0.22089</c:v>
                </c:pt>
                <c:pt idx="113">
                  <c:v>0.061051</c:v>
                </c:pt>
                <c:pt idx="114">
                  <c:v>0.163871</c:v>
                </c:pt>
                <c:pt idx="115">
                  <c:v>0.002421</c:v>
                </c:pt>
                <c:pt idx="116">
                  <c:v>-0.051683</c:v>
                </c:pt>
                <c:pt idx="117">
                  <c:v>-0.076087</c:v>
                </c:pt>
                <c:pt idx="118">
                  <c:v>-0.049633</c:v>
                </c:pt>
                <c:pt idx="119">
                  <c:v>-0.027894</c:v>
                </c:pt>
                <c:pt idx="120">
                  <c:v>-0.118003</c:v>
                </c:pt>
                <c:pt idx="121">
                  <c:v>0.140819</c:v>
                </c:pt>
                <c:pt idx="122">
                  <c:v>0.222373</c:v>
                </c:pt>
                <c:pt idx="123">
                  <c:v>-0.005366</c:v>
                </c:pt>
                <c:pt idx="124">
                  <c:v>-0.126114</c:v>
                </c:pt>
                <c:pt idx="125">
                  <c:v>0.298316</c:v>
                </c:pt>
                <c:pt idx="126">
                  <c:v>-0.045867</c:v>
                </c:pt>
                <c:pt idx="127">
                  <c:v>0.330982</c:v>
                </c:pt>
                <c:pt idx="128">
                  <c:v>0.013222</c:v>
                </c:pt>
                <c:pt idx="129">
                  <c:v>-0.068192</c:v>
                </c:pt>
                <c:pt idx="130">
                  <c:v>-0.147757</c:v>
                </c:pt>
                <c:pt idx="131">
                  <c:v>0.070402</c:v>
                </c:pt>
                <c:pt idx="132">
                  <c:v>0.21106</c:v>
                </c:pt>
                <c:pt idx="133">
                  <c:v>0.116009</c:v>
                </c:pt>
                <c:pt idx="134">
                  <c:v>0.085485</c:v>
                </c:pt>
                <c:pt idx="135">
                  <c:v>0.081617</c:v>
                </c:pt>
                <c:pt idx="136">
                  <c:v>0.121949</c:v>
                </c:pt>
                <c:pt idx="137">
                  <c:v>0.047638</c:v>
                </c:pt>
                <c:pt idx="138">
                  <c:v>0.161153</c:v>
                </c:pt>
                <c:pt idx="139">
                  <c:v>0.130121</c:v>
                </c:pt>
                <c:pt idx="140">
                  <c:v>0.423255</c:v>
                </c:pt>
                <c:pt idx="141">
                  <c:v>0.039414</c:v>
                </c:pt>
                <c:pt idx="142">
                  <c:v>0.08525</c:v>
                </c:pt>
                <c:pt idx="143">
                  <c:v>0.243406</c:v>
                </c:pt>
                <c:pt idx="144">
                  <c:v>0.182499</c:v>
                </c:pt>
                <c:pt idx="145">
                  <c:v>0.23991</c:v>
                </c:pt>
                <c:pt idx="146">
                  <c:v>0.071613</c:v>
                </c:pt>
                <c:pt idx="147">
                  <c:v>0.139655</c:v>
                </c:pt>
                <c:pt idx="148">
                  <c:v>0.086332</c:v>
                </c:pt>
                <c:pt idx="149">
                  <c:v>0.003411</c:v>
                </c:pt>
                <c:pt idx="150">
                  <c:v>0.120715</c:v>
                </c:pt>
                <c:pt idx="151">
                  <c:v>0.263945</c:v>
                </c:pt>
                <c:pt idx="152">
                  <c:v>-0.046781</c:v>
                </c:pt>
                <c:pt idx="153">
                  <c:v>-0.130878</c:v>
                </c:pt>
                <c:pt idx="154">
                  <c:v>-0.027582</c:v>
                </c:pt>
                <c:pt idx="155">
                  <c:v>0.069897</c:v>
                </c:pt>
                <c:pt idx="156">
                  <c:v>0.073966</c:v>
                </c:pt>
                <c:pt idx="157">
                  <c:v>0.077605</c:v>
                </c:pt>
                <c:pt idx="158">
                  <c:v>-0.104824</c:v>
                </c:pt>
                <c:pt idx="159">
                  <c:v>-0.065658</c:v>
                </c:pt>
                <c:pt idx="160">
                  <c:v>0.102221</c:v>
                </c:pt>
                <c:pt idx="161">
                  <c:v>0.371053</c:v>
                </c:pt>
                <c:pt idx="162">
                  <c:v>0.175832</c:v>
                </c:pt>
                <c:pt idx="163">
                  <c:v>0.107729</c:v>
                </c:pt>
                <c:pt idx="164">
                  <c:v>0.271408</c:v>
                </c:pt>
                <c:pt idx="165">
                  <c:v>0.075386</c:v>
                </c:pt>
                <c:pt idx="166">
                  <c:v>-0.044852</c:v>
                </c:pt>
                <c:pt idx="167">
                  <c:v>0.082246</c:v>
                </c:pt>
                <c:pt idx="168">
                  <c:v>-0.000346</c:v>
                </c:pt>
                <c:pt idx="169">
                  <c:v>-0.150392</c:v>
                </c:pt>
                <c:pt idx="170">
                  <c:v>0.081234</c:v>
                </c:pt>
                <c:pt idx="171">
                  <c:v>0.035637</c:v>
                </c:pt>
                <c:pt idx="172">
                  <c:v>0.115228</c:v>
                </c:pt>
                <c:pt idx="173">
                  <c:v>-0.137183</c:v>
                </c:pt>
                <c:pt idx="174">
                  <c:v>-0.005188</c:v>
                </c:pt>
                <c:pt idx="175">
                  <c:v>-0.067239</c:v>
                </c:pt>
                <c:pt idx="176">
                  <c:v>-0.007814</c:v>
                </c:pt>
                <c:pt idx="177">
                  <c:v>0.166244</c:v>
                </c:pt>
                <c:pt idx="178">
                  <c:v>-0.088567</c:v>
                </c:pt>
                <c:pt idx="179">
                  <c:v>0.314319</c:v>
                </c:pt>
                <c:pt idx="180">
                  <c:v>-0.103898</c:v>
                </c:pt>
                <c:pt idx="181">
                  <c:v>0.096307</c:v>
                </c:pt>
                <c:pt idx="182">
                  <c:v>0.095494</c:v>
                </c:pt>
                <c:pt idx="183">
                  <c:v>0.264304</c:v>
                </c:pt>
                <c:pt idx="184">
                  <c:v>0.109918</c:v>
                </c:pt>
                <c:pt idx="185">
                  <c:v>-0.041216</c:v>
                </c:pt>
                <c:pt idx="186">
                  <c:v>0.14882</c:v>
                </c:pt>
                <c:pt idx="187">
                  <c:v>0.064428</c:v>
                </c:pt>
                <c:pt idx="188">
                  <c:v>0.254123</c:v>
                </c:pt>
                <c:pt idx="189">
                  <c:v>0.334403</c:v>
                </c:pt>
                <c:pt idx="190">
                  <c:v>0.11298</c:v>
                </c:pt>
                <c:pt idx="191">
                  <c:v>-0.170499</c:v>
                </c:pt>
                <c:pt idx="192">
                  <c:v>0.168227</c:v>
                </c:pt>
                <c:pt idx="193">
                  <c:v>0.065308</c:v>
                </c:pt>
              </c:numCache>
            </c:numRef>
          </c:xVal>
          <c:yVal>
            <c:numRef>
              <c:f>'Chart Data'!$B$2:$B$195</c:f>
              <c:numCache>
                <c:formatCode>0.0</c:formatCode>
                <c:ptCount val="194"/>
                <c:pt idx="0">
                  <c:v>0.016307</c:v>
                </c:pt>
                <c:pt idx="1">
                  <c:v>0.109156</c:v>
                </c:pt>
                <c:pt idx="2">
                  <c:v>0.109559</c:v>
                </c:pt>
                <c:pt idx="3">
                  <c:v>0.093188</c:v>
                </c:pt>
                <c:pt idx="4">
                  <c:v>0.0512</c:v>
                </c:pt>
                <c:pt idx="5">
                  <c:v>0.050868</c:v>
                </c:pt>
                <c:pt idx="6">
                  <c:v>0.156797</c:v>
                </c:pt>
                <c:pt idx="7">
                  <c:v>0.007425</c:v>
                </c:pt>
                <c:pt idx="8">
                  <c:v>0.011045</c:v>
                </c:pt>
                <c:pt idx="9">
                  <c:v>-0.191643</c:v>
                </c:pt>
                <c:pt idx="10">
                  <c:v>0.030864</c:v>
                </c:pt>
                <c:pt idx="11">
                  <c:v>0.115966</c:v>
                </c:pt>
                <c:pt idx="12">
                  <c:v>-0.062822</c:v>
                </c:pt>
                <c:pt idx="13">
                  <c:v>-0.164406</c:v>
                </c:pt>
                <c:pt idx="14">
                  <c:v>0.119624</c:v>
                </c:pt>
                <c:pt idx="15">
                  <c:v>0.140722</c:v>
                </c:pt>
                <c:pt idx="16">
                  <c:v>0.130361</c:v>
                </c:pt>
                <c:pt idx="17">
                  <c:v>0.085449</c:v>
                </c:pt>
                <c:pt idx="18">
                  <c:v>0.12724</c:v>
                </c:pt>
                <c:pt idx="19">
                  <c:v>0.21132</c:v>
                </c:pt>
                <c:pt idx="20">
                  <c:v>-0.014737</c:v>
                </c:pt>
                <c:pt idx="21">
                  <c:v>-0.029044</c:v>
                </c:pt>
                <c:pt idx="22">
                  <c:v>-0.055395</c:v>
                </c:pt>
                <c:pt idx="23">
                  <c:v>0.107749</c:v>
                </c:pt>
                <c:pt idx="24">
                  <c:v>0.189734</c:v>
                </c:pt>
                <c:pt idx="25">
                  <c:v>0.197451</c:v>
                </c:pt>
                <c:pt idx="26">
                  <c:v>0.192232</c:v>
                </c:pt>
                <c:pt idx="27">
                  <c:v>0.255105</c:v>
                </c:pt>
                <c:pt idx="28">
                  <c:v>0.121451</c:v>
                </c:pt>
                <c:pt idx="29">
                  <c:v>0.13576</c:v>
                </c:pt>
                <c:pt idx="30">
                  <c:v>0.1081</c:v>
                </c:pt>
                <c:pt idx="31">
                  <c:v>0.268051</c:v>
                </c:pt>
                <c:pt idx="32">
                  <c:v>0.139371</c:v>
                </c:pt>
                <c:pt idx="33">
                  <c:v>0.223401</c:v>
                </c:pt>
                <c:pt idx="34">
                  <c:v>0.062534</c:v>
                </c:pt>
                <c:pt idx="35">
                  <c:v>0.062458</c:v>
                </c:pt>
                <c:pt idx="36">
                  <c:v>0.31086</c:v>
                </c:pt>
                <c:pt idx="37">
                  <c:v>0.062067</c:v>
                </c:pt>
                <c:pt idx="38">
                  <c:v>0.189386</c:v>
                </c:pt>
                <c:pt idx="39">
                  <c:v>0.103766</c:v>
                </c:pt>
                <c:pt idx="40">
                  <c:v>-0.017794</c:v>
                </c:pt>
                <c:pt idx="41">
                  <c:v>0.216132</c:v>
                </c:pt>
                <c:pt idx="42">
                  <c:v>-0.041354</c:v>
                </c:pt>
                <c:pt idx="43">
                  <c:v>0.195457</c:v>
                </c:pt>
                <c:pt idx="44">
                  <c:v>0.016853</c:v>
                </c:pt>
                <c:pt idx="45">
                  <c:v>-0.226157</c:v>
                </c:pt>
                <c:pt idx="46">
                  <c:v>0.2171</c:v>
                </c:pt>
                <c:pt idx="47">
                  <c:v>0.227882</c:v>
                </c:pt>
                <c:pt idx="48">
                  <c:v>0.205258</c:v>
                </c:pt>
                <c:pt idx="49">
                  <c:v>0.151107</c:v>
                </c:pt>
                <c:pt idx="50">
                  <c:v>0.043854</c:v>
                </c:pt>
                <c:pt idx="51">
                  <c:v>-0.024674</c:v>
                </c:pt>
                <c:pt idx="52">
                  <c:v>-0.195731</c:v>
                </c:pt>
                <c:pt idx="53">
                  <c:v>0.052045</c:v>
                </c:pt>
                <c:pt idx="54">
                  <c:v>-0.132861</c:v>
                </c:pt>
                <c:pt idx="55">
                  <c:v>0.113932</c:v>
                </c:pt>
                <c:pt idx="56">
                  <c:v>0.182446</c:v>
                </c:pt>
                <c:pt idx="57">
                  <c:v>0.117751</c:v>
                </c:pt>
                <c:pt idx="58">
                  <c:v>-0.135745</c:v>
                </c:pt>
                <c:pt idx="59">
                  <c:v>-0.027921</c:v>
                </c:pt>
                <c:pt idx="60">
                  <c:v>0.045617</c:v>
                </c:pt>
                <c:pt idx="61">
                  <c:v>0.023579</c:v>
                </c:pt>
                <c:pt idx="62">
                  <c:v>0.137603</c:v>
                </c:pt>
                <c:pt idx="63">
                  <c:v>-0.088229</c:v>
                </c:pt>
                <c:pt idx="64">
                  <c:v>0.279753</c:v>
                </c:pt>
                <c:pt idx="65">
                  <c:v>0.286366</c:v>
                </c:pt>
                <c:pt idx="66">
                  <c:v>0.015594</c:v>
                </c:pt>
                <c:pt idx="67">
                  <c:v>-0.070128</c:v>
                </c:pt>
                <c:pt idx="68">
                  <c:v>-0.04478</c:v>
                </c:pt>
                <c:pt idx="69">
                  <c:v>0.107898</c:v>
                </c:pt>
                <c:pt idx="70">
                  <c:v>0.194558</c:v>
                </c:pt>
                <c:pt idx="71">
                  <c:v>0.073513</c:v>
                </c:pt>
                <c:pt idx="72">
                  <c:v>0.074109</c:v>
                </c:pt>
                <c:pt idx="73">
                  <c:v>0.258527</c:v>
                </c:pt>
                <c:pt idx="74">
                  <c:v>0.181912</c:v>
                </c:pt>
                <c:pt idx="75">
                  <c:v>0.1167</c:v>
                </c:pt>
                <c:pt idx="76">
                  <c:v>0.2856</c:v>
                </c:pt>
                <c:pt idx="77">
                  <c:v>0.004487</c:v>
                </c:pt>
                <c:pt idx="78">
                  <c:v>0.15941</c:v>
                </c:pt>
                <c:pt idx="79">
                  <c:v>0.058793</c:v>
                </c:pt>
                <c:pt idx="80">
                  <c:v>0.090614</c:v>
                </c:pt>
                <c:pt idx="81">
                  <c:v>0.013104</c:v>
                </c:pt>
                <c:pt idx="82">
                  <c:v>-0.079425</c:v>
                </c:pt>
                <c:pt idx="83">
                  <c:v>0.13552</c:v>
                </c:pt>
                <c:pt idx="84">
                  <c:v>0.15199</c:v>
                </c:pt>
                <c:pt idx="85">
                  <c:v>-0.03736</c:v>
                </c:pt>
                <c:pt idx="86">
                  <c:v>0.057409</c:v>
                </c:pt>
                <c:pt idx="87">
                  <c:v>0.123067</c:v>
                </c:pt>
                <c:pt idx="88">
                  <c:v>0.159465</c:v>
                </c:pt>
                <c:pt idx="89">
                  <c:v>0.05547</c:v>
                </c:pt>
                <c:pt idx="90">
                  <c:v>0.027999</c:v>
                </c:pt>
                <c:pt idx="91">
                  <c:v>0.338429</c:v>
                </c:pt>
                <c:pt idx="92">
                  <c:v>0.121938</c:v>
                </c:pt>
                <c:pt idx="93">
                  <c:v>0.042172</c:v>
                </c:pt>
                <c:pt idx="94">
                  <c:v>0.188907</c:v>
                </c:pt>
                <c:pt idx="95">
                  <c:v>0.163516</c:v>
                </c:pt>
                <c:pt idx="96">
                  <c:v>-0.044171</c:v>
                </c:pt>
                <c:pt idx="97">
                  <c:v>0.237745</c:v>
                </c:pt>
                <c:pt idx="98">
                  <c:v>0.094461</c:v>
                </c:pt>
                <c:pt idx="99">
                  <c:v>0.25263</c:v>
                </c:pt>
                <c:pt idx="100">
                  <c:v>0.187068</c:v>
                </c:pt>
                <c:pt idx="101">
                  <c:v>0.003809</c:v>
                </c:pt>
                <c:pt idx="102">
                  <c:v>0.251859</c:v>
                </c:pt>
                <c:pt idx="103">
                  <c:v>0.045539</c:v>
                </c:pt>
                <c:pt idx="104">
                  <c:v>-0.005169</c:v>
                </c:pt>
                <c:pt idx="105">
                  <c:v>-0.012796</c:v>
                </c:pt>
                <c:pt idx="106">
                  <c:v>0.077026</c:v>
                </c:pt>
                <c:pt idx="107">
                  <c:v>0.104133</c:v>
                </c:pt>
                <c:pt idx="108">
                  <c:v>-0.079307</c:v>
                </c:pt>
                <c:pt idx="109">
                  <c:v>0.234523</c:v>
                </c:pt>
                <c:pt idx="110">
                  <c:v>0.063371</c:v>
                </c:pt>
                <c:pt idx="111">
                  <c:v>0.095557</c:v>
                </c:pt>
                <c:pt idx="112">
                  <c:v>-0.05587</c:v>
                </c:pt>
                <c:pt idx="113">
                  <c:v>0.209772</c:v>
                </c:pt>
                <c:pt idx="114">
                  <c:v>-0.018303</c:v>
                </c:pt>
                <c:pt idx="115">
                  <c:v>0.088187</c:v>
                </c:pt>
                <c:pt idx="116">
                  <c:v>0.118477</c:v>
                </c:pt>
                <c:pt idx="117">
                  <c:v>0.16532</c:v>
                </c:pt>
                <c:pt idx="118">
                  <c:v>0.055552</c:v>
                </c:pt>
                <c:pt idx="119">
                  <c:v>0.104595</c:v>
                </c:pt>
                <c:pt idx="120">
                  <c:v>0.023469</c:v>
                </c:pt>
                <c:pt idx="121">
                  <c:v>0.087477</c:v>
                </c:pt>
                <c:pt idx="122">
                  <c:v>-0.0936</c:v>
                </c:pt>
                <c:pt idx="123">
                  <c:v>0.096815</c:v>
                </c:pt>
                <c:pt idx="124">
                  <c:v>0.068297</c:v>
                </c:pt>
                <c:pt idx="125">
                  <c:v>0.210831</c:v>
                </c:pt>
                <c:pt idx="126">
                  <c:v>0.101912</c:v>
                </c:pt>
                <c:pt idx="127">
                  <c:v>0.172751</c:v>
                </c:pt>
                <c:pt idx="128">
                  <c:v>0.288423</c:v>
                </c:pt>
                <c:pt idx="129">
                  <c:v>0.058107</c:v>
                </c:pt>
                <c:pt idx="130">
                  <c:v>-0.021199</c:v>
                </c:pt>
                <c:pt idx="131">
                  <c:v>-0.045824</c:v>
                </c:pt>
                <c:pt idx="132">
                  <c:v>0.186691</c:v>
                </c:pt>
                <c:pt idx="133">
                  <c:v>0.176933</c:v>
                </c:pt>
                <c:pt idx="134">
                  <c:v>0.056893</c:v>
                </c:pt>
                <c:pt idx="135">
                  <c:v>0.201714</c:v>
                </c:pt>
                <c:pt idx="136">
                  <c:v>0.036096</c:v>
                </c:pt>
                <c:pt idx="137">
                  <c:v>0.145725</c:v>
                </c:pt>
                <c:pt idx="138">
                  <c:v>0.097329</c:v>
                </c:pt>
                <c:pt idx="139">
                  <c:v>-0.019171</c:v>
                </c:pt>
                <c:pt idx="140">
                  <c:v>0.065337</c:v>
                </c:pt>
                <c:pt idx="141">
                  <c:v>-0.330431</c:v>
                </c:pt>
                <c:pt idx="142">
                  <c:v>-0.033527</c:v>
                </c:pt>
                <c:pt idx="143">
                  <c:v>0.129739</c:v>
                </c:pt>
                <c:pt idx="144">
                  <c:v>0.190736</c:v>
                </c:pt>
                <c:pt idx="145">
                  <c:v>-0.122332</c:v>
                </c:pt>
                <c:pt idx="146">
                  <c:v>-0.030237</c:v>
                </c:pt>
                <c:pt idx="147">
                  <c:v>0.200938</c:v>
                </c:pt>
                <c:pt idx="148">
                  <c:v>0.100859</c:v>
                </c:pt>
                <c:pt idx="149">
                  <c:v>0.135371</c:v>
                </c:pt>
                <c:pt idx="150">
                  <c:v>0.013368</c:v>
                </c:pt>
                <c:pt idx="151">
                  <c:v>0.143075</c:v>
                </c:pt>
                <c:pt idx="152">
                  <c:v>0.142618</c:v>
                </c:pt>
                <c:pt idx="153">
                  <c:v>0.223023</c:v>
                </c:pt>
                <c:pt idx="154">
                  <c:v>0.408814</c:v>
                </c:pt>
                <c:pt idx="155">
                  <c:v>0.20617</c:v>
                </c:pt>
                <c:pt idx="156">
                  <c:v>-0.023026</c:v>
                </c:pt>
                <c:pt idx="157">
                  <c:v>0.221302</c:v>
                </c:pt>
                <c:pt idx="158">
                  <c:v>0.257602</c:v>
                </c:pt>
                <c:pt idx="159">
                  <c:v>0.375779</c:v>
                </c:pt>
                <c:pt idx="160">
                  <c:v>0.098999</c:v>
                </c:pt>
                <c:pt idx="161">
                  <c:v>0.224237</c:v>
                </c:pt>
                <c:pt idx="162">
                  <c:v>-0.087191</c:v>
                </c:pt>
                <c:pt idx="163">
                  <c:v>-0.10504</c:v>
                </c:pt>
                <c:pt idx="164">
                  <c:v>0.022708</c:v>
                </c:pt>
                <c:pt idx="165">
                  <c:v>0.184324</c:v>
                </c:pt>
                <c:pt idx="166">
                  <c:v>0.147055</c:v>
                </c:pt>
                <c:pt idx="167">
                  <c:v>0.044906</c:v>
                </c:pt>
                <c:pt idx="168">
                  <c:v>0.238541</c:v>
                </c:pt>
                <c:pt idx="169">
                  <c:v>0.166623</c:v>
                </c:pt>
                <c:pt idx="170">
                  <c:v>-0.02805</c:v>
                </c:pt>
                <c:pt idx="171">
                  <c:v>-0.081371</c:v>
                </c:pt>
                <c:pt idx="172">
                  <c:v>0.295115</c:v>
                </c:pt>
                <c:pt idx="173">
                  <c:v>0.300545</c:v>
                </c:pt>
                <c:pt idx="174">
                  <c:v>0.250678</c:v>
                </c:pt>
                <c:pt idx="175">
                  <c:v>0.087024</c:v>
                </c:pt>
                <c:pt idx="176">
                  <c:v>0.136165</c:v>
                </c:pt>
                <c:pt idx="177">
                  <c:v>-0.065101</c:v>
                </c:pt>
                <c:pt idx="178">
                  <c:v>0.132979</c:v>
                </c:pt>
                <c:pt idx="179">
                  <c:v>0.136212</c:v>
                </c:pt>
                <c:pt idx="180">
                  <c:v>0.015868</c:v>
                </c:pt>
                <c:pt idx="181">
                  <c:v>0.091524</c:v>
                </c:pt>
                <c:pt idx="182">
                  <c:v>0.075277</c:v>
                </c:pt>
                <c:pt idx="183">
                  <c:v>0.14708</c:v>
                </c:pt>
                <c:pt idx="184">
                  <c:v>0.005394</c:v>
                </c:pt>
                <c:pt idx="185">
                  <c:v>0.110185</c:v>
                </c:pt>
                <c:pt idx="186">
                  <c:v>0.302634</c:v>
                </c:pt>
                <c:pt idx="187">
                  <c:v>0.090538</c:v>
                </c:pt>
                <c:pt idx="188">
                  <c:v>0.253399</c:v>
                </c:pt>
                <c:pt idx="189">
                  <c:v>0.029752</c:v>
                </c:pt>
                <c:pt idx="190">
                  <c:v>0.210825</c:v>
                </c:pt>
                <c:pt idx="191">
                  <c:v>0.153981</c:v>
                </c:pt>
                <c:pt idx="192">
                  <c:v>0.189295</c:v>
                </c:pt>
                <c:pt idx="193">
                  <c:v>-0.019062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6"/>
        </c:scaling>
        <c:delete val="0"/>
        <c:axPos val="l"/>
        <c:majorGridlines>
          <c:spPr>
            <a:ln xmlns:a="http://schemas.openxmlformats.org/drawingml/2006/main" w="5715">
              <a:solidFill>
                <a:srgbClr val="E5E7EA"/>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majorUnit val="0.6"/>
      </c:valAx>
      <c:valAx>
        <c:axId val="48650112"/>
        <c:scaling>
          <c:orientation val="minMax"/>
          <c:max val="0.6"/>
          <c:min val="-0.6"/>
        </c:scaling>
        <c:delete val="0"/>
        <c:axPos val="b"/>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majorUnit val="0.6"/>
      </c:valAx>
    </c:plotArea>
    <c:plotVisOnly val="1"/>
  </c:chart>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b="1">
                <a:solidFill>
                  <a:srgbClr val="805A43"/>
                </a:solidFill>
                <a:latin typeface="Arial"/>
                <a:ea typeface="Arial"/>
                <a:cs typeface="Arial"/>
              </a:rPr>
              <a:t>C6  (n = 379)</a:t>
            </a:r>
          </a:p>
        </c:rich>
      </c:tx>
      <c:overlay val="0"/>
      <c:txPr>
        <a:bodyPr xmlns:a="http://schemas.openxmlformats.org/drawingml/2006/main" anchorCtr="1"/>
        <a:lstStyle xmlns:a="http://schemas.openxmlformats.org/drawingml/2006/main"/>
        <a:p xmlns:a="http://schemas.openxmlformats.org/drawingml/2006/main">
          <a:pPr>
            <a:defRPr sz="1500" b="1">
              <a:solidFill>
                <a:srgbClr val="805A43"/>
              </a:solidFill>
              <a:latin typeface="Arial"/>
              <a:ea typeface="Arial"/>
              <a:cs typeface="Arial"/>
            </a:defRPr>
          </a:pPr>
        </a:p>
      </c:txPr>
    </c:title>
    <c:plotArea>
      <c:scatterChart>
        <c:scatterStyle val="marker"/>
        <c:ser>
          <c:idx val="0"/>
          <c:order val="0"/>
          <c:tx>
            <c:v>C6</c:v>
          </c:tx>
          <c:spPr>
            <a:solidFill xmlns:a="http://schemas.openxmlformats.org/drawingml/2006/main">
              <a:srgbClr val="805A43"/>
            </a:solidFill>
            <a:ln xmlns:a="http://schemas.openxmlformats.org/drawingml/2006/main" w="0">
              <a:noFill/>
            </a:ln>
          </c:spPr>
          <c:marker>
            <c:symbol val="circle"/>
            <c:size val="3"/>
            <c:spPr>
              <ns0:solidFill xmlns:ns0="http://schemas.openxmlformats.org/drawingml/2006/main">
                <ns0:srgbClr val="805A43"/>
              </ns0:solidFill>
              <ns1:ln xmlns:ns1="http://schemas.openxmlformats.org/drawingml/2006/main" w="0">
                <ns1:noFill/>
              </ns1:ln>
            </c:spPr>
          </c:marker>
          <c:xVal>
            <c:numRef>
              <c:f>'Chart Data'!$A$2:$A$380</c:f>
              <c:numCache>
                <c:formatCode>General</c:formatCode>
                <c:ptCount val="379"/>
                <c:pt idx="0">
                  <c:v>0.158903</c:v>
                </c:pt>
                <c:pt idx="1">
                  <c:v>0.216883</c:v>
                </c:pt>
                <c:pt idx="2">
                  <c:v>0.186298</c:v>
                </c:pt>
                <c:pt idx="3">
                  <c:v>0.18732</c:v>
                </c:pt>
                <c:pt idx="4">
                  <c:v>0.059978</c:v>
                </c:pt>
                <c:pt idx="5">
                  <c:v>-0.043113</c:v>
                </c:pt>
                <c:pt idx="6">
                  <c:v>0.056809</c:v>
                </c:pt>
                <c:pt idx="7">
                  <c:v>-0.083905</c:v>
                </c:pt>
                <c:pt idx="8">
                  <c:v>0.236552</c:v>
                </c:pt>
                <c:pt idx="9">
                  <c:v>0.075527</c:v>
                </c:pt>
                <c:pt idx="10">
                  <c:v>0.008769</c:v>
                </c:pt>
                <c:pt idx="11">
                  <c:v>0.12551</c:v>
                </c:pt>
                <c:pt idx="12">
                  <c:v>-0.042864</c:v>
                </c:pt>
                <c:pt idx="13">
                  <c:v>-0.042268</c:v>
                </c:pt>
                <c:pt idx="14">
                  <c:v>-0.177713</c:v>
                </c:pt>
                <c:pt idx="15">
                  <c:v>-0.06045</c:v>
                </c:pt>
                <c:pt idx="16">
                  <c:v>-0.054904</c:v>
                </c:pt>
                <c:pt idx="17">
                  <c:v>-0.142382</c:v>
                </c:pt>
                <c:pt idx="18">
                  <c:v>-0.142796</c:v>
                </c:pt>
                <c:pt idx="19">
                  <c:v>0.132951</c:v>
                </c:pt>
                <c:pt idx="20">
                  <c:v>0.004307</c:v>
                </c:pt>
                <c:pt idx="21">
                  <c:v>-0.007297</c:v>
                </c:pt>
                <c:pt idx="22">
                  <c:v>-0.05011</c:v>
                </c:pt>
                <c:pt idx="23">
                  <c:v>-0.152997</c:v>
                </c:pt>
                <c:pt idx="24">
                  <c:v>0.032033</c:v>
                </c:pt>
                <c:pt idx="25">
                  <c:v>0.221372</c:v>
                </c:pt>
                <c:pt idx="26">
                  <c:v>0.271448</c:v>
                </c:pt>
                <c:pt idx="27">
                  <c:v>-0.166507</c:v>
                </c:pt>
                <c:pt idx="28">
                  <c:v>-0.019996</c:v>
                </c:pt>
                <c:pt idx="29">
                  <c:v>-0.063912</c:v>
                </c:pt>
                <c:pt idx="30">
                  <c:v>0.252104</c:v>
                </c:pt>
                <c:pt idx="31">
                  <c:v>0.057208</c:v>
                </c:pt>
                <c:pt idx="32">
                  <c:v>-0.092018</c:v>
                </c:pt>
                <c:pt idx="33">
                  <c:v>0.136104</c:v>
                </c:pt>
                <c:pt idx="34">
                  <c:v>-0.060559</c:v>
                </c:pt>
                <c:pt idx="35">
                  <c:v>-0.134126</c:v>
                </c:pt>
                <c:pt idx="36">
                  <c:v>0.067826</c:v>
                </c:pt>
                <c:pt idx="37">
                  <c:v>0.085118</c:v>
                </c:pt>
                <c:pt idx="38">
                  <c:v>-0.032602</c:v>
                </c:pt>
                <c:pt idx="39">
                  <c:v>-0.142052</c:v>
                </c:pt>
                <c:pt idx="40">
                  <c:v>0.075777</c:v>
                </c:pt>
                <c:pt idx="41">
                  <c:v>-0.023271</c:v>
                </c:pt>
                <c:pt idx="42">
                  <c:v>0.053449</c:v>
                </c:pt>
                <c:pt idx="43">
                  <c:v>-0.061413</c:v>
                </c:pt>
                <c:pt idx="44">
                  <c:v>-0.004673</c:v>
                </c:pt>
                <c:pt idx="45">
                  <c:v>0.109157</c:v>
                </c:pt>
                <c:pt idx="46">
                  <c:v>-0.038054</c:v>
                </c:pt>
                <c:pt idx="47">
                  <c:v>-0.006971</c:v>
                </c:pt>
                <c:pt idx="48">
                  <c:v>-0.060657</c:v>
                </c:pt>
                <c:pt idx="49">
                  <c:v>0.128028</c:v>
                </c:pt>
                <c:pt idx="50">
                  <c:v>0.029939</c:v>
                </c:pt>
                <c:pt idx="51">
                  <c:v>-0.188956</c:v>
                </c:pt>
                <c:pt idx="52">
                  <c:v>0.048646</c:v>
                </c:pt>
                <c:pt idx="53">
                  <c:v>0.143749</c:v>
                </c:pt>
                <c:pt idx="54">
                  <c:v>-0.0607</c:v>
                </c:pt>
                <c:pt idx="55">
                  <c:v>-0.278089</c:v>
                </c:pt>
                <c:pt idx="56">
                  <c:v>-0.184754</c:v>
                </c:pt>
                <c:pt idx="57">
                  <c:v>0.147071</c:v>
                </c:pt>
                <c:pt idx="58">
                  <c:v>-0.011892</c:v>
                </c:pt>
                <c:pt idx="59">
                  <c:v>0.243252</c:v>
                </c:pt>
                <c:pt idx="60">
                  <c:v>-0.076134</c:v>
                </c:pt>
                <c:pt idx="61">
                  <c:v>-0.05421</c:v>
                </c:pt>
                <c:pt idx="62">
                  <c:v>0.038862</c:v>
                </c:pt>
                <c:pt idx="63">
                  <c:v>-0.04996</c:v>
                </c:pt>
                <c:pt idx="64">
                  <c:v>0.028384</c:v>
                </c:pt>
                <c:pt idx="65">
                  <c:v>0.050559</c:v>
                </c:pt>
                <c:pt idx="66">
                  <c:v>0.049351</c:v>
                </c:pt>
                <c:pt idx="67">
                  <c:v>0.115519</c:v>
                </c:pt>
                <c:pt idx="68">
                  <c:v>-0.141875</c:v>
                </c:pt>
                <c:pt idx="69">
                  <c:v>0.14859</c:v>
                </c:pt>
                <c:pt idx="70">
                  <c:v>0.047244</c:v>
                </c:pt>
                <c:pt idx="71">
                  <c:v>-0.044435</c:v>
                </c:pt>
                <c:pt idx="72">
                  <c:v>0.149507</c:v>
                </c:pt>
                <c:pt idx="73">
                  <c:v>0.039608</c:v>
                </c:pt>
                <c:pt idx="74">
                  <c:v>-0.107817</c:v>
                </c:pt>
                <c:pt idx="75">
                  <c:v>-0.07391</c:v>
                </c:pt>
                <c:pt idx="76">
                  <c:v>0.171219</c:v>
                </c:pt>
                <c:pt idx="77">
                  <c:v>0.184727</c:v>
                </c:pt>
                <c:pt idx="78">
                  <c:v>-0.150677</c:v>
                </c:pt>
                <c:pt idx="79">
                  <c:v>-0.189692</c:v>
                </c:pt>
                <c:pt idx="80">
                  <c:v>0.042161</c:v>
                </c:pt>
                <c:pt idx="81">
                  <c:v>-0.109512</c:v>
                </c:pt>
                <c:pt idx="82">
                  <c:v>0.152572</c:v>
                </c:pt>
                <c:pt idx="83">
                  <c:v>0.000679</c:v>
                </c:pt>
                <c:pt idx="84">
                  <c:v>-0.020043</c:v>
                </c:pt>
                <c:pt idx="85">
                  <c:v>0.029664</c:v>
                </c:pt>
                <c:pt idx="86">
                  <c:v>0.099141</c:v>
                </c:pt>
                <c:pt idx="87">
                  <c:v>0.193148</c:v>
                </c:pt>
                <c:pt idx="88">
                  <c:v>0.131149</c:v>
                </c:pt>
                <c:pt idx="89">
                  <c:v>0.119612</c:v>
                </c:pt>
                <c:pt idx="90">
                  <c:v>-0.049027</c:v>
                </c:pt>
                <c:pt idx="91">
                  <c:v>0.073052</c:v>
                </c:pt>
                <c:pt idx="92">
                  <c:v>0.173072</c:v>
                </c:pt>
                <c:pt idx="93">
                  <c:v>-0.071297</c:v>
                </c:pt>
                <c:pt idx="94">
                  <c:v>0.067849</c:v>
                </c:pt>
                <c:pt idx="95">
                  <c:v>-0.214512</c:v>
                </c:pt>
                <c:pt idx="96">
                  <c:v>0.105891</c:v>
                </c:pt>
                <c:pt idx="97">
                  <c:v>0.248046</c:v>
                </c:pt>
                <c:pt idx="98">
                  <c:v>-0.027447</c:v>
                </c:pt>
                <c:pt idx="99">
                  <c:v>0.082216</c:v>
                </c:pt>
                <c:pt idx="100">
                  <c:v>-0.09866</c:v>
                </c:pt>
                <c:pt idx="101">
                  <c:v>0.211951</c:v>
                </c:pt>
                <c:pt idx="102">
                  <c:v>0.03068</c:v>
                </c:pt>
                <c:pt idx="103">
                  <c:v>0.012912</c:v>
                </c:pt>
                <c:pt idx="104">
                  <c:v>-0.006411</c:v>
                </c:pt>
                <c:pt idx="105">
                  <c:v>0.062377</c:v>
                </c:pt>
                <c:pt idx="106">
                  <c:v>0.071057</c:v>
                </c:pt>
                <c:pt idx="107">
                  <c:v>-0.118233</c:v>
                </c:pt>
                <c:pt idx="108">
                  <c:v>-0.115988</c:v>
                </c:pt>
                <c:pt idx="109">
                  <c:v>-0.20815</c:v>
                </c:pt>
                <c:pt idx="110">
                  <c:v>0.037466</c:v>
                </c:pt>
                <c:pt idx="111">
                  <c:v>0.148935</c:v>
                </c:pt>
                <c:pt idx="112">
                  <c:v>0.188957</c:v>
                </c:pt>
                <c:pt idx="113">
                  <c:v>0.110977</c:v>
                </c:pt>
                <c:pt idx="114">
                  <c:v>0.016102</c:v>
                </c:pt>
                <c:pt idx="115">
                  <c:v>0.21757</c:v>
                </c:pt>
                <c:pt idx="116">
                  <c:v>0.252718</c:v>
                </c:pt>
                <c:pt idx="117">
                  <c:v>0.131025</c:v>
                </c:pt>
                <c:pt idx="118">
                  <c:v>0.018166</c:v>
                </c:pt>
                <c:pt idx="119">
                  <c:v>-0.014088</c:v>
                </c:pt>
                <c:pt idx="120">
                  <c:v>-0.070127</c:v>
                </c:pt>
                <c:pt idx="121">
                  <c:v>0.024913</c:v>
                </c:pt>
                <c:pt idx="122">
                  <c:v>0.034414</c:v>
                </c:pt>
                <c:pt idx="123">
                  <c:v>0.023882</c:v>
                </c:pt>
                <c:pt idx="124">
                  <c:v>0.032629</c:v>
                </c:pt>
                <c:pt idx="125">
                  <c:v>0.130346</c:v>
                </c:pt>
                <c:pt idx="126">
                  <c:v>-0.010749</c:v>
                </c:pt>
                <c:pt idx="127">
                  <c:v>0.063376</c:v>
                </c:pt>
                <c:pt idx="128">
                  <c:v>0.005878</c:v>
                </c:pt>
                <c:pt idx="129">
                  <c:v>0.075243</c:v>
                </c:pt>
                <c:pt idx="130">
                  <c:v>0.130715</c:v>
                </c:pt>
                <c:pt idx="131">
                  <c:v>-0.14319</c:v>
                </c:pt>
                <c:pt idx="132">
                  <c:v>-0.002949</c:v>
                </c:pt>
                <c:pt idx="133">
                  <c:v>0.001968</c:v>
                </c:pt>
                <c:pt idx="134">
                  <c:v>0.064922</c:v>
                </c:pt>
                <c:pt idx="135">
                  <c:v>0.139563</c:v>
                </c:pt>
                <c:pt idx="136">
                  <c:v>0.126854</c:v>
                </c:pt>
                <c:pt idx="137">
                  <c:v>0.24199</c:v>
                </c:pt>
                <c:pt idx="138">
                  <c:v>0.031044</c:v>
                </c:pt>
                <c:pt idx="139">
                  <c:v>0.136002</c:v>
                </c:pt>
                <c:pt idx="140">
                  <c:v>-0.090828</c:v>
                </c:pt>
                <c:pt idx="141">
                  <c:v>0.121521</c:v>
                </c:pt>
                <c:pt idx="142">
                  <c:v>0.288746</c:v>
                </c:pt>
                <c:pt idx="143">
                  <c:v>0.018703</c:v>
                </c:pt>
                <c:pt idx="144">
                  <c:v>0.016563</c:v>
                </c:pt>
                <c:pt idx="145">
                  <c:v>0.074988</c:v>
                </c:pt>
                <c:pt idx="146">
                  <c:v>0.076904</c:v>
                </c:pt>
                <c:pt idx="147">
                  <c:v>-0.078898</c:v>
                </c:pt>
                <c:pt idx="148">
                  <c:v>-0.025617</c:v>
                </c:pt>
                <c:pt idx="149">
                  <c:v>0.283042</c:v>
                </c:pt>
                <c:pt idx="150">
                  <c:v>-0.108249</c:v>
                </c:pt>
                <c:pt idx="151">
                  <c:v>0.124987</c:v>
                </c:pt>
                <c:pt idx="152">
                  <c:v>-0.164489</c:v>
                </c:pt>
                <c:pt idx="153">
                  <c:v>-0.021577</c:v>
                </c:pt>
                <c:pt idx="154">
                  <c:v>0.127314</c:v>
                </c:pt>
                <c:pt idx="155">
                  <c:v>0.022538</c:v>
                </c:pt>
                <c:pt idx="156">
                  <c:v>0.036631</c:v>
                </c:pt>
                <c:pt idx="157">
                  <c:v>0.095295</c:v>
                </c:pt>
                <c:pt idx="158">
                  <c:v>-0.147648</c:v>
                </c:pt>
                <c:pt idx="159">
                  <c:v>0.002716</c:v>
                </c:pt>
                <c:pt idx="160">
                  <c:v>0.218643</c:v>
                </c:pt>
                <c:pt idx="161">
                  <c:v>-0.088893</c:v>
                </c:pt>
                <c:pt idx="162">
                  <c:v>-0.016838</c:v>
                </c:pt>
                <c:pt idx="163">
                  <c:v>-0.054368</c:v>
                </c:pt>
                <c:pt idx="164">
                  <c:v>-0.20324</c:v>
                </c:pt>
                <c:pt idx="165">
                  <c:v>0.047881</c:v>
                </c:pt>
                <c:pt idx="166">
                  <c:v>-0.141246</c:v>
                </c:pt>
                <c:pt idx="167">
                  <c:v>-0.124182</c:v>
                </c:pt>
                <c:pt idx="168">
                  <c:v>0.15161</c:v>
                </c:pt>
                <c:pt idx="169">
                  <c:v>0.055563</c:v>
                </c:pt>
                <c:pt idx="170">
                  <c:v>0.21031</c:v>
                </c:pt>
                <c:pt idx="171">
                  <c:v>0.196088</c:v>
                </c:pt>
                <c:pt idx="172">
                  <c:v>0.041773</c:v>
                </c:pt>
                <c:pt idx="173">
                  <c:v>-0.162939</c:v>
                </c:pt>
                <c:pt idx="174">
                  <c:v>-0.123888</c:v>
                </c:pt>
                <c:pt idx="175">
                  <c:v>0.004507</c:v>
                </c:pt>
                <c:pt idx="176">
                  <c:v>0.074687</c:v>
                </c:pt>
                <c:pt idx="177">
                  <c:v>-0.008969</c:v>
                </c:pt>
                <c:pt idx="178">
                  <c:v>0.154794</c:v>
                </c:pt>
                <c:pt idx="179">
                  <c:v>-0.05475</c:v>
                </c:pt>
                <c:pt idx="180">
                  <c:v>-0.031482</c:v>
                </c:pt>
                <c:pt idx="181">
                  <c:v>0.013539</c:v>
                </c:pt>
                <c:pt idx="182">
                  <c:v>0.128779</c:v>
                </c:pt>
                <c:pt idx="183">
                  <c:v>0.046857</c:v>
                </c:pt>
                <c:pt idx="184">
                  <c:v>-0.158255</c:v>
                </c:pt>
                <c:pt idx="185">
                  <c:v>0.06501</c:v>
                </c:pt>
                <c:pt idx="186">
                  <c:v>0.098837</c:v>
                </c:pt>
                <c:pt idx="187">
                  <c:v>0.120908</c:v>
                </c:pt>
                <c:pt idx="188">
                  <c:v>0.055059</c:v>
                </c:pt>
                <c:pt idx="189">
                  <c:v>0.179397</c:v>
                </c:pt>
                <c:pt idx="190">
                  <c:v>0.027731</c:v>
                </c:pt>
                <c:pt idx="191">
                  <c:v>0.010101</c:v>
                </c:pt>
                <c:pt idx="192">
                  <c:v>0.117834</c:v>
                </c:pt>
                <c:pt idx="193">
                  <c:v>-0.028107</c:v>
                </c:pt>
                <c:pt idx="194">
                  <c:v>0.144212</c:v>
                </c:pt>
                <c:pt idx="195">
                  <c:v>-0.086654</c:v>
                </c:pt>
                <c:pt idx="196">
                  <c:v>-0.032148</c:v>
                </c:pt>
                <c:pt idx="197">
                  <c:v>-0.07195</c:v>
                </c:pt>
                <c:pt idx="198">
                  <c:v>-0.096666</c:v>
                </c:pt>
                <c:pt idx="199">
                  <c:v>-0.039424</c:v>
                </c:pt>
                <c:pt idx="200">
                  <c:v>-0.16702</c:v>
                </c:pt>
                <c:pt idx="201">
                  <c:v>-0.023211</c:v>
                </c:pt>
                <c:pt idx="202">
                  <c:v>-0.065315</c:v>
                </c:pt>
                <c:pt idx="203">
                  <c:v>-0.017794</c:v>
                </c:pt>
                <c:pt idx="204">
                  <c:v>0.116925</c:v>
                </c:pt>
                <c:pt idx="205">
                  <c:v>-0.060636</c:v>
                </c:pt>
                <c:pt idx="206">
                  <c:v>-0.012364</c:v>
                </c:pt>
                <c:pt idx="207">
                  <c:v>0.01453</c:v>
                </c:pt>
                <c:pt idx="208">
                  <c:v>0.042898</c:v>
                </c:pt>
                <c:pt idx="209">
                  <c:v>-0.047616</c:v>
                </c:pt>
                <c:pt idx="210">
                  <c:v>0.192363</c:v>
                </c:pt>
                <c:pt idx="211">
                  <c:v>0.151963</c:v>
                </c:pt>
                <c:pt idx="212">
                  <c:v>0.114293</c:v>
                </c:pt>
                <c:pt idx="213">
                  <c:v>0.104468</c:v>
                </c:pt>
                <c:pt idx="214">
                  <c:v>0.078078</c:v>
                </c:pt>
                <c:pt idx="215">
                  <c:v>0.200441</c:v>
                </c:pt>
                <c:pt idx="216">
                  <c:v>-0.189384</c:v>
                </c:pt>
                <c:pt idx="217">
                  <c:v>0.083594</c:v>
                </c:pt>
                <c:pt idx="218">
                  <c:v>0.249546</c:v>
                </c:pt>
                <c:pt idx="219">
                  <c:v>-0.072201</c:v>
                </c:pt>
                <c:pt idx="220">
                  <c:v>0.075994</c:v>
                </c:pt>
                <c:pt idx="221">
                  <c:v>-0.149002</c:v>
                </c:pt>
                <c:pt idx="222">
                  <c:v>-0.231955</c:v>
                </c:pt>
                <c:pt idx="223">
                  <c:v>0.111807</c:v>
                </c:pt>
                <c:pt idx="224">
                  <c:v>-0.063618</c:v>
                </c:pt>
                <c:pt idx="225">
                  <c:v>0.173515</c:v>
                </c:pt>
                <c:pt idx="226">
                  <c:v>0.167075</c:v>
                </c:pt>
                <c:pt idx="227">
                  <c:v>0.112632</c:v>
                </c:pt>
                <c:pt idx="228">
                  <c:v>-0.141132</c:v>
                </c:pt>
                <c:pt idx="229">
                  <c:v>0.075779</c:v>
                </c:pt>
                <c:pt idx="230">
                  <c:v>0.049872</c:v>
                </c:pt>
                <c:pt idx="231">
                  <c:v>0.05164</c:v>
                </c:pt>
                <c:pt idx="232">
                  <c:v>0.117113</c:v>
                </c:pt>
                <c:pt idx="233">
                  <c:v>0.196072</c:v>
                </c:pt>
                <c:pt idx="234">
                  <c:v>-0.016817</c:v>
                </c:pt>
                <c:pt idx="235">
                  <c:v>0.093255</c:v>
                </c:pt>
                <c:pt idx="236">
                  <c:v>0.17148</c:v>
                </c:pt>
                <c:pt idx="237">
                  <c:v>0.060187</c:v>
                </c:pt>
                <c:pt idx="238">
                  <c:v>-0.169984</c:v>
                </c:pt>
                <c:pt idx="239">
                  <c:v>-0.068541</c:v>
                </c:pt>
                <c:pt idx="240">
                  <c:v>0.126982</c:v>
                </c:pt>
                <c:pt idx="241">
                  <c:v>0.134659</c:v>
                </c:pt>
                <c:pt idx="242">
                  <c:v>-0.019554</c:v>
                </c:pt>
                <c:pt idx="243">
                  <c:v>0.088501</c:v>
                </c:pt>
                <c:pt idx="244">
                  <c:v>0.165826</c:v>
                </c:pt>
                <c:pt idx="245">
                  <c:v>-0.009359</c:v>
                </c:pt>
                <c:pt idx="246">
                  <c:v>-0.039166</c:v>
                </c:pt>
                <c:pt idx="247">
                  <c:v>-0.097754</c:v>
                </c:pt>
                <c:pt idx="248">
                  <c:v>0.09885</c:v>
                </c:pt>
                <c:pt idx="249">
                  <c:v>0.118114</c:v>
                </c:pt>
                <c:pt idx="250">
                  <c:v>0.005537</c:v>
                </c:pt>
                <c:pt idx="251">
                  <c:v>-0.107066</c:v>
                </c:pt>
                <c:pt idx="252">
                  <c:v>0.108346</c:v>
                </c:pt>
                <c:pt idx="253">
                  <c:v>0.051435</c:v>
                </c:pt>
                <c:pt idx="254">
                  <c:v>0.226011</c:v>
                </c:pt>
                <c:pt idx="255">
                  <c:v>-0.122476</c:v>
                </c:pt>
                <c:pt idx="256">
                  <c:v>0.078706</c:v>
                </c:pt>
                <c:pt idx="257">
                  <c:v>-0.008696</c:v>
                </c:pt>
                <c:pt idx="258">
                  <c:v>0.029636</c:v>
                </c:pt>
                <c:pt idx="259">
                  <c:v>0.12098</c:v>
                </c:pt>
                <c:pt idx="260">
                  <c:v>0.05074</c:v>
                </c:pt>
                <c:pt idx="261">
                  <c:v>-0.097724</c:v>
                </c:pt>
                <c:pt idx="262">
                  <c:v>-0.03564</c:v>
                </c:pt>
                <c:pt idx="263">
                  <c:v>-0.039358</c:v>
                </c:pt>
                <c:pt idx="264">
                  <c:v>0.199165</c:v>
                </c:pt>
                <c:pt idx="265">
                  <c:v>0.131354</c:v>
                </c:pt>
                <c:pt idx="266">
                  <c:v>-0.02296</c:v>
                </c:pt>
                <c:pt idx="267">
                  <c:v>0.092109</c:v>
                </c:pt>
                <c:pt idx="268">
                  <c:v>-0.096927</c:v>
                </c:pt>
                <c:pt idx="269">
                  <c:v>0.085151</c:v>
                </c:pt>
                <c:pt idx="270">
                  <c:v>0.043439</c:v>
                </c:pt>
                <c:pt idx="271">
                  <c:v>-0.170514</c:v>
                </c:pt>
                <c:pt idx="272">
                  <c:v>-0.039169</c:v>
                </c:pt>
                <c:pt idx="273">
                  <c:v>0.023009</c:v>
                </c:pt>
                <c:pt idx="274">
                  <c:v>0.080863</c:v>
                </c:pt>
                <c:pt idx="275">
                  <c:v>-0.002133</c:v>
                </c:pt>
                <c:pt idx="276">
                  <c:v>0.10536</c:v>
                </c:pt>
                <c:pt idx="277">
                  <c:v>-0.086166</c:v>
                </c:pt>
                <c:pt idx="278">
                  <c:v>-0.133595</c:v>
                </c:pt>
                <c:pt idx="279">
                  <c:v>-0.025415</c:v>
                </c:pt>
                <c:pt idx="280">
                  <c:v>0.149699</c:v>
                </c:pt>
                <c:pt idx="281">
                  <c:v>0.108551</c:v>
                </c:pt>
                <c:pt idx="282">
                  <c:v>-0.071285</c:v>
                </c:pt>
                <c:pt idx="283">
                  <c:v>0.052119</c:v>
                </c:pt>
                <c:pt idx="284">
                  <c:v>-0.207906</c:v>
                </c:pt>
                <c:pt idx="285">
                  <c:v>-0.031126</c:v>
                </c:pt>
                <c:pt idx="286">
                  <c:v>0.121378</c:v>
                </c:pt>
                <c:pt idx="287">
                  <c:v>-0.018159</c:v>
                </c:pt>
                <c:pt idx="288">
                  <c:v>0.115803</c:v>
                </c:pt>
                <c:pt idx="289">
                  <c:v>0.110624</c:v>
                </c:pt>
                <c:pt idx="290">
                  <c:v>-0.05164</c:v>
                </c:pt>
                <c:pt idx="291">
                  <c:v>-0.016375</c:v>
                </c:pt>
                <c:pt idx="292">
                  <c:v>0.032411</c:v>
                </c:pt>
                <c:pt idx="293">
                  <c:v>-0.075434</c:v>
                </c:pt>
                <c:pt idx="294">
                  <c:v>0.024529</c:v>
                </c:pt>
                <c:pt idx="295">
                  <c:v>0.261558</c:v>
                </c:pt>
                <c:pt idx="296">
                  <c:v>-0.00541</c:v>
                </c:pt>
                <c:pt idx="297">
                  <c:v>-0.072012</c:v>
                </c:pt>
                <c:pt idx="298">
                  <c:v>0.120603</c:v>
                </c:pt>
                <c:pt idx="299">
                  <c:v>0.044741</c:v>
                </c:pt>
                <c:pt idx="300">
                  <c:v>0.018737</c:v>
                </c:pt>
                <c:pt idx="301">
                  <c:v>0.098139</c:v>
                </c:pt>
                <c:pt idx="302">
                  <c:v>0.009393</c:v>
                </c:pt>
                <c:pt idx="303">
                  <c:v>-0.192236</c:v>
                </c:pt>
                <c:pt idx="304">
                  <c:v>0.124451</c:v>
                </c:pt>
                <c:pt idx="305">
                  <c:v>-0.023658</c:v>
                </c:pt>
                <c:pt idx="306">
                  <c:v>0.073256</c:v>
                </c:pt>
                <c:pt idx="307">
                  <c:v>-0.072249</c:v>
                </c:pt>
                <c:pt idx="308">
                  <c:v>0.021944</c:v>
                </c:pt>
                <c:pt idx="309">
                  <c:v>-0.14818</c:v>
                </c:pt>
                <c:pt idx="310">
                  <c:v>0.08063</c:v>
                </c:pt>
                <c:pt idx="311">
                  <c:v>-0.13238</c:v>
                </c:pt>
                <c:pt idx="312">
                  <c:v>-0.076594</c:v>
                </c:pt>
                <c:pt idx="313">
                  <c:v>0.054355</c:v>
                </c:pt>
                <c:pt idx="314">
                  <c:v>0.066858</c:v>
                </c:pt>
                <c:pt idx="315">
                  <c:v>0.085614</c:v>
                </c:pt>
                <c:pt idx="316">
                  <c:v>-0.101733</c:v>
                </c:pt>
                <c:pt idx="317">
                  <c:v>-0.003193</c:v>
                </c:pt>
                <c:pt idx="318">
                  <c:v>0.066344</c:v>
                </c:pt>
                <c:pt idx="319">
                  <c:v>-0.118608</c:v>
                </c:pt>
                <c:pt idx="320">
                  <c:v>0.086242</c:v>
                </c:pt>
                <c:pt idx="321">
                  <c:v>0.085287</c:v>
                </c:pt>
                <c:pt idx="322">
                  <c:v>-0.065867</c:v>
                </c:pt>
                <c:pt idx="323">
                  <c:v>-0.138278</c:v>
                </c:pt>
                <c:pt idx="324">
                  <c:v>0.010943</c:v>
                </c:pt>
                <c:pt idx="325">
                  <c:v>0.140523</c:v>
                </c:pt>
                <c:pt idx="326">
                  <c:v>-0.006427</c:v>
                </c:pt>
                <c:pt idx="327">
                  <c:v>0.111566</c:v>
                </c:pt>
                <c:pt idx="328">
                  <c:v>0.079339</c:v>
                </c:pt>
                <c:pt idx="329">
                  <c:v>-0.181142</c:v>
                </c:pt>
                <c:pt idx="330">
                  <c:v>0.001193</c:v>
                </c:pt>
                <c:pt idx="331">
                  <c:v>0.188661</c:v>
                </c:pt>
                <c:pt idx="332">
                  <c:v>-0.051617</c:v>
                </c:pt>
                <c:pt idx="333">
                  <c:v>-0.042249</c:v>
                </c:pt>
                <c:pt idx="334">
                  <c:v>-0.004572</c:v>
                </c:pt>
                <c:pt idx="335">
                  <c:v>0.028241</c:v>
                </c:pt>
                <c:pt idx="336">
                  <c:v>0.120151</c:v>
                </c:pt>
                <c:pt idx="337">
                  <c:v>0.209296</c:v>
                </c:pt>
                <c:pt idx="338">
                  <c:v>-0.097815</c:v>
                </c:pt>
                <c:pt idx="339">
                  <c:v>-0.078863</c:v>
                </c:pt>
                <c:pt idx="340">
                  <c:v>-0.068542</c:v>
                </c:pt>
                <c:pt idx="341">
                  <c:v>-0.058416</c:v>
                </c:pt>
                <c:pt idx="342">
                  <c:v>0.217451</c:v>
                </c:pt>
                <c:pt idx="343">
                  <c:v>-0.015576</c:v>
                </c:pt>
                <c:pt idx="344">
                  <c:v>-0.154326</c:v>
                </c:pt>
                <c:pt idx="345">
                  <c:v>0.198356</c:v>
                </c:pt>
                <c:pt idx="346">
                  <c:v>0.196092</c:v>
                </c:pt>
                <c:pt idx="347">
                  <c:v>-0.017467</c:v>
                </c:pt>
                <c:pt idx="348">
                  <c:v>0.023424</c:v>
                </c:pt>
                <c:pt idx="349">
                  <c:v>-0.086667</c:v>
                </c:pt>
                <c:pt idx="350">
                  <c:v>-0.032515</c:v>
                </c:pt>
                <c:pt idx="351">
                  <c:v>0.069579</c:v>
                </c:pt>
                <c:pt idx="352">
                  <c:v>0.10546</c:v>
                </c:pt>
                <c:pt idx="353">
                  <c:v>-0.069142</c:v>
                </c:pt>
                <c:pt idx="354">
                  <c:v>0.060992</c:v>
                </c:pt>
                <c:pt idx="355">
                  <c:v>-0.017768</c:v>
                </c:pt>
                <c:pt idx="356">
                  <c:v>0.233282</c:v>
                </c:pt>
                <c:pt idx="357">
                  <c:v>0.08823</c:v>
                </c:pt>
                <c:pt idx="358">
                  <c:v>0.206118</c:v>
                </c:pt>
                <c:pt idx="359">
                  <c:v>-0.260462</c:v>
                </c:pt>
                <c:pt idx="360">
                  <c:v>-0.057742</c:v>
                </c:pt>
                <c:pt idx="361">
                  <c:v>0.097018</c:v>
                </c:pt>
                <c:pt idx="362">
                  <c:v>0.008698</c:v>
                </c:pt>
                <c:pt idx="363">
                  <c:v>0.114658</c:v>
                </c:pt>
                <c:pt idx="364">
                  <c:v>0.250197</c:v>
                </c:pt>
                <c:pt idx="365">
                  <c:v>-0.126153</c:v>
                </c:pt>
                <c:pt idx="366">
                  <c:v>0.211425</c:v>
                </c:pt>
                <c:pt idx="367">
                  <c:v>-0.117243</c:v>
                </c:pt>
                <c:pt idx="368">
                  <c:v>0.044579</c:v>
                </c:pt>
                <c:pt idx="369">
                  <c:v>-0.232635</c:v>
                </c:pt>
                <c:pt idx="370">
                  <c:v>0.18454</c:v>
                </c:pt>
                <c:pt idx="371">
                  <c:v>-0.128571</c:v>
                </c:pt>
                <c:pt idx="372">
                  <c:v>0.057913</c:v>
                </c:pt>
                <c:pt idx="373">
                  <c:v>0.07521</c:v>
                </c:pt>
                <c:pt idx="374">
                  <c:v>0.069951</c:v>
                </c:pt>
                <c:pt idx="375">
                  <c:v>0.11261</c:v>
                </c:pt>
                <c:pt idx="376">
                  <c:v>0.122907</c:v>
                </c:pt>
                <c:pt idx="377">
                  <c:v>-0.014766</c:v>
                </c:pt>
                <c:pt idx="378">
                  <c:v>-0.049259</c:v>
                </c:pt>
              </c:numCache>
            </c:numRef>
          </c:xVal>
          <c:yVal>
            <c:numRef>
              <c:f>'Chart Data'!$B$2:$B$380</c:f>
              <c:numCache>
                <c:formatCode>0.0</c:formatCode>
                <c:ptCount val="379"/>
                <c:pt idx="0">
                  <c:v>0.204641</c:v>
                </c:pt>
                <c:pt idx="1">
                  <c:v>0.207698</c:v>
                </c:pt>
                <c:pt idx="2">
                  <c:v>0.078944</c:v>
                </c:pt>
                <c:pt idx="3">
                  <c:v>0.292198</c:v>
                </c:pt>
                <c:pt idx="4">
                  <c:v>0.164014</c:v>
                </c:pt>
                <c:pt idx="5">
                  <c:v>0.268793</c:v>
                </c:pt>
                <c:pt idx="6">
                  <c:v>0.12066</c:v>
                </c:pt>
                <c:pt idx="7">
                  <c:v>0.181078</c:v>
                </c:pt>
                <c:pt idx="8">
                  <c:v>0.236331</c:v>
                </c:pt>
                <c:pt idx="9">
                  <c:v>0.020159</c:v>
                </c:pt>
                <c:pt idx="10">
                  <c:v>0.050486</c:v>
                </c:pt>
                <c:pt idx="11">
                  <c:v>0.151569</c:v>
                </c:pt>
                <c:pt idx="12">
                  <c:v>-0.034893</c:v>
                </c:pt>
                <c:pt idx="13">
                  <c:v>0.2488</c:v>
                </c:pt>
                <c:pt idx="14">
                  <c:v>0.140377</c:v>
                </c:pt>
                <c:pt idx="15">
                  <c:v>0.333322</c:v>
                </c:pt>
                <c:pt idx="16">
                  <c:v>0.125085</c:v>
                </c:pt>
                <c:pt idx="17">
                  <c:v>0.09989</c:v>
                </c:pt>
                <c:pt idx="18">
                  <c:v>0.061899</c:v>
                </c:pt>
                <c:pt idx="19">
                  <c:v>0.038539</c:v>
                </c:pt>
                <c:pt idx="20">
                  <c:v>0.142829</c:v>
                </c:pt>
                <c:pt idx="21">
                  <c:v>0.30705</c:v>
                </c:pt>
                <c:pt idx="22">
                  <c:v>0.126848</c:v>
                </c:pt>
                <c:pt idx="23">
                  <c:v>0.125121</c:v>
                </c:pt>
                <c:pt idx="24">
                  <c:v>0.211603</c:v>
                </c:pt>
                <c:pt idx="25">
                  <c:v>0.174777</c:v>
                </c:pt>
                <c:pt idx="26">
                  <c:v>0.121864</c:v>
                </c:pt>
                <c:pt idx="27">
                  <c:v>0.062845</c:v>
                </c:pt>
                <c:pt idx="28">
                  <c:v>0.095716</c:v>
                </c:pt>
                <c:pt idx="29">
                  <c:v>0.093021</c:v>
                </c:pt>
                <c:pt idx="30">
                  <c:v>0.299254</c:v>
                </c:pt>
                <c:pt idx="31">
                  <c:v>0.373299</c:v>
                </c:pt>
                <c:pt idx="32">
                  <c:v>0.138218</c:v>
                </c:pt>
                <c:pt idx="33">
                  <c:v>0.02489</c:v>
                </c:pt>
                <c:pt idx="34">
                  <c:v>0.194356</c:v>
                </c:pt>
                <c:pt idx="35">
                  <c:v>0.116593</c:v>
                </c:pt>
                <c:pt idx="36">
                  <c:v>0.238644</c:v>
                </c:pt>
                <c:pt idx="37">
                  <c:v>0.251309</c:v>
                </c:pt>
                <c:pt idx="38">
                  <c:v>0.262408</c:v>
                </c:pt>
                <c:pt idx="39">
                  <c:v>0.277109</c:v>
                </c:pt>
                <c:pt idx="40">
                  <c:v>0.177786</c:v>
                </c:pt>
                <c:pt idx="41">
                  <c:v>0.120481</c:v>
                </c:pt>
                <c:pt idx="42">
                  <c:v>0.173323</c:v>
                </c:pt>
                <c:pt idx="43">
                  <c:v>0.108772</c:v>
                </c:pt>
                <c:pt idx="44">
                  <c:v>0.168761</c:v>
                </c:pt>
                <c:pt idx="45">
                  <c:v>0.259347</c:v>
                </c:pt>
                <c:pt idx="46">
                  <c:v>0.225762</c:v>
                </c:pt>
                <c:pt idx="47">
                  <c:v>0.060841</c:v>
                </c:pt>
                <c:pt idx="48">
                  <c:v>0.290856</c:v>
                </c:pt>
                <c:pt idx="49">
                  <c:v>0.23092</c:v>
                </c:pt>
                <c:pt idx="50">
                  <c:v>0.186933</c:v>
                </c:pt>
                <c:pt idx="51">
                  <c:v>0.210593</c:v>
                </c:pt>
                <c:pt idx="52">
                  <c:v>0.18456</c:v>
                </c:pt>
                <c:pt idx="53">
                  <c:v>0.104167</c:v>
                </c:pt>
                <c:pt idx="54">
                  <c:v>0.262804</c:v>
                </c:pt>
                <c:pt idx="55">
                  <c:v>0.161043</c:v>
                </c:pt>
                <c:pt idx="56">
                  <c:v>0.256743</c:v>
                </c:pt>
                <c:pt idx="57">
                  <c:v>0.060061</c:v>
                </c:pt>
                <c:pt idx="58">
                  <c:v>0.167862</c:v>
                </c:pt>
                <c:pt idx="59">
                  <c:v>0.226438</c:v>
                </c:pt>
                <c:pt idx="60">
                  <c:v>0.263395</c:v>
                </c:pt>
                <c:pt idx="61">
                  <c:v>0.160712</c:v>
                </c:pt>
                <c:pt idx="62">
                  <c:v>0.160276</c:v>
                </c:pt>
                <c:pt idx="63">
                  <c:v>0.024849</c:v>
                </c:pt>
                <c:pt idx="64">
                  <c:v>0.257488</c:v>
                </c:pt>
                <c:pt idx="65">
                  <c:v>0.188066</c:v>
                </c:pt>
                <c:pt idx="66">
                  <c:v>-0.073801</c:v>
                </c:pt>
                <c:pt idx="67">
                  <c:v>0.279137</c:v>
                </c:pt>
                <c:pt idx="68">
                  <c:v>0.209268</c:v>
                </c:pt>
                <c:pt idx="69">
                  <c:v>0.277003</c:v>
                </c:pt>
                <c:pt idx="70">
                  <c:v>0.19615</c:v>
                </c:pt>
                <c:pt idx="71">
                  <c:v>0.112495</c:v>
                </c:pt>
                <c:pt idx="72">
                  <c:v>0.291941</c:v>
                </c:pt>
                <c:pt idx="73">
                  <c:v>0.166552</c:v>
                </c:pt>
                <c:pt idx="74">
                  <c:v>0.274715</c:v>
                </c:pt>
                <c:pt idx="75">
                  <c:v>0.220202</c:v>
                </c:pt>
                <c:pt idx="76">
                  <c:v>0.222019</c:v>
                </c:pt>
                <c:pt idx="77">
                  <c:v>0.21233</c:v>
                </c:pt>
                <c:pt idx="78">
                  <c:v>0.15049</c:v>
                </c:pt>
                <c:pt idx="79">
                  <c:v>0.355476</c:v>
                </c:pt>
                <c:pt idx="80">
                  <c:v>0.129222</c:v>
                </c:pt>
                <c:pt idx="81">
                  <c:v>-0.010265</c:v>
                </c:pt>
                <c:pt idx="82">
                  <c:v>0.010985</c:v>
                </c:pt>
                <c:pt idx="83">
                  <c:v>0.249633</c:v>
                </c:pt>
                <c:pt idx="84">
                  <c:v>0.054566</c:v>
                </c:pt>
                <c:pt idx="85">
                  <c:v>0.276973</c:v>
                </c:pt>
                <c:pt idx="86">
                  <c:v>0.013867</c:v>
                </c:pt>
                <c:pt idx="87">
                  <c:v>0.155759</c:v>
                </c:pt>
                <c:pt idx="88">
                  <c:v>0.275794</c:v>
                </c:pt>
                <c:pt idx="89">
                  <c:v>0.177539</c:v>
                </c:pt>
                <c:pt idx="90">
                  <c:v>0.070775</c:v>
                </c:pt>
                <c:pt idx="91">
                  <c:v>-0.119703</c:v>
                </c:pt>
                <c:pt idx="92">
                  <c:v>0.02046</c:v>
                </c:pt>
                <c:pt idx="93">
                  <c:v>0.122918</c:v>
                </c:pt>
                <c:pt idx="94">
                  <c:v>0.305455</c:v>
                </c:pt>
                <c:pt idx="95">
                  <c:v>0.141532</c:v>
                </c:pt>
                <c:pt idx="96">
                  <c:v>0.060189</c:v>
                </c:pt>
                <c:pt idx="97">
                  <c:v>0.132381</c:v>
                </c:pt>
                <c:pt idx="98">
                  <c:v>0.091178</c:v>
                </c:pt>
                <c:pt idx="99">
                  <c:v>0.069455</c:v>
                </c:pt>
                <c:pt idx="100">
                  <c:v>0.330697</c:v>
                </c:pt>
                <c:pt idx="101">
                  <c:v>0.13967</c:v>
                </c:pt>
                <c:pt idx="102">
                  <c:v>0.181064</c:v>
                </c:pt>
                <c:pt idx="103">
                  <c:v>0.20342</c:v>
                </c:pt>
                <c:pt idx="104">
                  <c:v>0.278739</c:v>
                </c:pt>
                <c:pt idx="105">
                  <c:v>0.108987</c:v>
                </c:pt>
                <c:pt idx="106">
                  <c:v>0.235622</c:v>
                </c:pt>
                <c:pt idx="107">
                  <c:v>0.267626</c:v>
                </c:pt>
                <c:pt idx="108">
                  <c:v>0.177567</c:v>
                </c:pt>
                <c:pt idx="109">
                  <c:v>0.042103</c:v>
                </c:pt>
                <c:pt idx="110">
                  <c:v>0.112404</c:v>
                </c:pt>
                <c:pt idx="111">
                  <c:v>0.12221</c:v>
                </c:pt>
                <c:pt idx="112">
                  <c:v>0.143063</c:v>
                </c:pt>
                <c:pt idx="113">
                  <c:v>0.09054</c:v>
                </c:pt>
                <c:pt idx="114">
                  <c:v>0.345815</c:v>
                </c:pt>
                <c:pt idx="115">
                  <c:v>0.293535</c:v>
                </c:pt>
                <c:pt idx="116">
                  <c:v>0.066778</c:v>
                </c:pt>
                <c:pt idx="117">
                  <c:v>0.279186</c:v>
                </c:pt>
                <c:pt idx="118">
                  <c:v>0.280121</c:v>
                </c:pt>
                <c:pt idx="119">
                  <c:v>0.189987</c:v>
                </c:pt>
                <c:pt idx="120">
                  <c:v>0.104681</c:v>
                </c:pt>
                <c:pt idx="121">
                  <c:v>0.158908</c:v>
                </c:pt>
                <c:pt idx="122">
                  <c:v>0.183267</c:v>
                </c:pt>
                <c:pt idx="123">
                  <c:v>0.207283</c:v>
                </c:pt>
                <c:pt idx="124">
                  <c:v>0.301657</c:v>
                </c:pt>
                <c:pt idx="125">
                  <c:v>0.016174</c:v>
                </c:pt>
                <c:pt idx="126">
                  <c:v>0.239412</c:v>
                </c:pt>
                <c:pt idx="127">
                  <c:v>0.077747</c:v>
                </c:pt>
                <c:pt idx="128">
                  <c:v>0.13148</c:v>
                </c:pt>
                <c:pt idx="129">
                  <c:v>0.247821</c:v>
                </c:pt>
                <c:pt idx="130">
                  <c:v>0.284609</c:v>
                </c:pt>
                <c:pt idx="131">
                  <c:v>0.11482</c:v>
                </c:pt>
                <c:pt idx="132">
                  <c:v>0.091832</c:v>
                </c:pt>
                <c:pt idx="133">
                  <c:v>0.151521</c:v>
                </c:pt>
                <c:pt idx="134">
                  <c:v>0.234362</c:v>
                </c:pt>
                <c:pt idx="135">
                  <c:v>0.173124</c:v>
                </c:pt>
                <c:pt idx="136">
                  <c:v>0.034303</c:v>
                </c:pt>
                <c:pt idx="137">
                  <c:v>0.285392</c:v>
                </c:pt>
                <c:pt idx="138">
                  <c:v>0.233777</c:v>
                </c:pt>
                <c:pt idx="139">
                  <c:v>0.155218</c:v>
                </c:pt>
                <c:pt idx="140">
                  <c:v>0.142568</c:v>
                </c:pt>
                <c:pt idx="141">
                  <c:v>0.250891</c:v>
                </c:pt>
                <c:pt idx="142">
                  <c:v>0.184171</c:v>
                </c:pt>
                <c:pt idx="143">
                  <c:v>-0.014196</c:v>
                </c:pt>
                <c:pt idx="144">
                  <c:v>0.193788</c:v>
                </c:pt>
                <c:pt idx="145">
                  <c:v>0.246098</c:v>
                </c:pt>
                <c:pt idx="146">
                  <c:v>0.024156</c:v>
                </c:pt>
                <c:pt idx="147">
                  <c:v>0.211872</c:v>
                </c:pt>
                <c:pt idx="148">
                  <c:v>0.19478</c:v>
                </c:pt>
                <c:pt idx="149">
                  <c:v>0.183882</c:v>
                </c:pt>
                <c:pt idx="150">
                  <c:v>-0.041914</c:v>
                </c:pt>
                <c:pt idx="151">
                  <c:v>0.082758</c:v>
                </c:pt>
                <c:pt idx="152">
                  <c:v>0.220014</c:v>
                </c:pt>
                <c:pt idx="153">
                  <c:v>0.185667</c:v>
                </c:pt>
                <c:pt idx="154">
                  <c:v>0.192733</c:v>
                </c:pt>
                <c:pt idx="155">
                  <c:v>0.140454</c:v>
                </c:pt>
                <c:pt idx="156">
                  <c:v>0.155634</c:v>
                </c:pt>
                <c:pt idx="157">
                  <c:v>0.042309</c:v>
                </c:pt>
                <c:pt idx="158">
                  <c:v>0.247795</c:v>
                </c:pt>
                <c:pt idx="159">
                  <c:v>0.112339</c:v>
                </c:pt>
                <c:pt idx="160">
                  <c:v>0.200177</c:v>
                </c:pt>
                <c:pt idx="161">
                  <c:v>0.297477</c:v>
                </c:pt>
                <c:pt idx="162">
                  <c:v>0.094094</c:v>
                </c:pt>
                <c:pt idx="163">
                  <c:v>0.190032</c:v>
                </c:pt>
                <c:pt idx="164">
                  <c:v>0.186496</c:v>
                </c:pt>
                <c:pt idx="165">
                  <c:v>0.115226</c:v>
                </c:pt>
                <c:pt idx="166">
                  <c:v>0.290879</c:v>
                </c:pt>
                <c:pt idx="167">
                  <c:v>0.22728</c:v>
                </c:pt>
                <c:pt idx="168">
                  <c:v>0.251715</c:v>
                </c:pt>
                <c:pt idx="169">
                  <c:v>0.129633</c:v>
                </c:pt>
                <c:pt idx="170">
                  <c:v>0.170069</c:v>
                </c:pt>
                <c:pt idx="171">
                  <c:v>0.320768</c:v>
                </c:pt>
                <c:pt idx="172">
                  <c:v>0.077224</c:v>
                </c:pt>
                <c:pt idx="173">
                  <c:v>0.038985</c:v>
                </c:pt>
                <c:pt idx="174">
                  <c:v>0.020871</c:v>
                </c:pt>
                <c:pt idx="175">
                  <c:v>0.070686</c:v>
                </c:pt>
                <c:pt idx="176">
                  <c:v>0.230116</c:v>
                </c:pt>
                <c:pt idx="177">
                  <c:v>0.095835</c:v>
                </c:pt>
                <c:pt idx="178">
                  <c:v>0.229347</c:v>
                </c:pt>
                <c:pt idx="179">
                  <c:v>0.044608</c:v>
                </c:pt>
                <c:pt idx="180">
                  <c:v>0.31909</c:v>
                </c:pt>
                <c:pt idx="181">
                  <c:v>0.302146</c:v>
                </c:pt>
                <c:pt idx="182">
                  <c:v>0.136737</c:v>
                </c:pt>
                <c:pt idx="183">
                  <c:v>0.00716</c:v>
                </c:pt>
                <c:pt idx="184">
                  <c:v>0.354319</c:v>
                </c:pt>
                <c:pt idx="185">
                  <c:v>0.043996</c:v>
                </c:pt>
                <c:pt idx="186">
                  <c:v>0.134223</c:v>
                </c:pt>
                <c:pt idx="187">
                  <c:v>0.204832</c:v>
                </c:pt>
                <c:pt idx="188">
                  <c:v>0.152656</c:v>
                </c:pt>
                <c:pt idx="189">
                  <c:v>0.126008</c:v>
                </c:pt>
                <c:pt idx="190">
                  <c:v>0.327199</c:v>
                </c:pt>
                <c:pt idx="191">
                  <c:v>0.287899</c:v>
                </c:pt>
                <c:pt idx="192">
                  <c:v>0.318284</c:v>
                </c:pt>
                <c:pt idx="193">
                  <c:v>0.129983</c:v>
                </c:pt>
                <c:pt idx="194">
                  <c:v>0.310225</c:v>
                </c:pt>
                <c:pt idx="195">
                  <c:v>0.265073</c:v>
                </c:pt>
                <c:pt idx="196">
                  <c:v>0.277843</c:v>
                </c:pt>
                <c:pt idx="197">
                  <c:v>0.023214</c:v>
                </c:pt>
                <c:pt idx="198">
                  <c:v>0.240761</c:v>
                </c:pt>
                <c:pt idx="199">
                  <c:v>0.100122</c:v>
                </c:pt>
                <c:pt idx="200">
                  <c:v>0.057219</c:v>
                </c:pt>
                <c:pt idx="201">
                  <c:v>0.081997</c:v>
                </c:pt>
                <c:pt idx="202">
                  <c:v>0.313772</c:v>
                </c:pt>
                <c:pt idx="203">
                  <c:v>0.161531</c:v>
                </c:pt>
                <c:pt idx="204">
                  <c:v>0.176122</c:v>
                </c:pt>
                <c:pt idx="205">
                  <c:v>0.253729</c:v>
                </c:pt>
                <c:pt idx="206">
                  <c:v>0.196367</c:v>
                </c:pt>
                <c:pt idx="207">
                  <c:v>0.338583</c:v>
                </c:pt>
                <c:pt idx="208">
                  <c:v>-0.075605</c:v>
                </c:pt>
                <c:pt idx="209">
                  <c:v>0.239219</c:v>
                </c:pt>
                <c:pt idx="210">
                  <c:v>0.061223</c:v>
                </c:pt>
                <c:pt idx="211">
                  <c:v>0.12742</c:v>
                </c:pt>
                <c:pt idx="212">
                  <c:v>0.191463</c:v>
                </c:pt>
                <c:pt idx="213">
                  <c:v>0.183011</c:v>
                </c:pt>
                <c:pt idx="214">
                  <c:v>0.262693</c:v>
                </c:pt>
                <c:pt idx="215">
                  <c:v>0.197109</c:v>
                </c:pt>
                <c:pt idx="216">
                  <c:v>0.008242</c:v>
                </c:pt>
                <c:pt idx="217">
                  <c:v>0.154343</c:v>
                </c:pt>
                <c:pt idx="218">
                  <c:v>0.219299</c:v>
                </c:pt>
                <c:pt idx="219">
                  <c:v>0.178274</c:v>
                </c:pt>
                <c:pt idx="220">
                  <c:v>0.28578</c:v>
                </c:pt>
                <c:pt idx="221">
                  <c:v>0.12717</c:v>
                </c:pt>
                <c:pt idx="222">
                  <c:v>0.160075</c:v>
                </c:pt>
                <c:pt idx="223">
                  <c:v>0.075439</c:v>
                </c:pt>
                <c:pt idx="224">
                  <c:v>0.250963</c:v>
                </c:pt>
                <c:pt idx="225">
                  <c:v>0.224651</c:v>
                </c:pt>
                <c:pt idx="226">
                  <c:v>0.279547</c:v>
                </c:pt>
                <c:pt idx="227">
                  <c:v>0.114032</c:v>
                </c:pt>
                <c:pt idx="228">
                  <c:v>0.238706</c:v>
                </c:pt>
                <c:pt idx="229">
                  <c:v>0.261194</c:v>
                </c:pt>
                <c:pt idx="230">
                  <c:v>0.187022</c:v>
                </c:pt>
                <c:pt idx="231">
                  <c:v>0.112861</c:v>
                </c:pt>
                <c:pt idx="232">
                  <c:v>0.115883</c:v>
                </c:pt>
                <c:pt idx="233">
                  <c:v>0.070485</c:v>
                </c:pt>
                <c:pt idx="234">
                  <c:v>0.207979</c:v>
                </c:pt>
                <c:pt idx="235">
                  <c:v>0.141041</c:v>
                </c:pt>
                <c:pt idx="236">
                  <c:v>0.06974</c:v>
                </c:pt>
                <c:pt idx="237">
                  <c:v>0.193697</c:v>
                </c:pt>
                <c:pt idx="238">
                  <c:v>0.098456</c:v>
                </c:pt>
                <c:pt idx="239">
                  <c:v>-0.124156</c:v>
                </c:pt>
                <c:pt idx="240">
                  <c:v>0.236235</c:v>
                </c:pt>
                <c:pt idx="241">
                  <c:v>0.073568</c:v>
                </c:pt>
                <c:pt idx="242">
                  <c:v>0.063239</c:v>
                </c:pt>
                <c:pt idx="243">
                  <c:v>-0.046722</c:v>
                </c:pt>
                <c:pt idx="244">
                  <c:v>0.244557</c:v>
                </c:pt>
                <c:pt idx="245">
                  <c:v>0.219019</c:v>
                </c:pt>
                <c:pt idx="246">
                  <c:v>0.061369</c:v>
                </c:pt>
                <c:pt idx="247">
                  <c:v>0.035262</c:v>
                </c:pt>
                <c:pt idx="248">
                  <c:v>0.280722</c:v>
                </c:pt>
                <c:pt idx="249">
                  <c:v>0.234163</c:v>
                </c:pt>
                <c:pt idx="250">
                  <c:v>0.274514</c:v>
                </c:pt>
                <c:pt idx="251">
                  <c:v>0.235827</c:v>
                </c:pt>
                <c:pt idx="252">
                  <c:v>-0.002676</c:v>
                </c:pt>
                <c:pt idx="253">
                  <c:v>0.117707</c:v>
                </c:pt>
                <c:pt idx="254">
                  <c:v>0.196149</c:v>
                </c:pt>
                <c:pt idx="255">
                  <c:v>0.159775</c:v>
                </c:pt>
                <c:pt idx="256">
                  <c:v>-0.065488</c:v>
                </c:pt>
                <c:pt idx="257">
                  <c:v>0.182958</c:v>
                </c:pt>
                <c:pt idx="258">
                  <c:v>0.295479</c:v>
                </c:pt>
                <c:pt idx="259">
                  <c:v>0.216691</c:v>
                </c:pt>
                <c:pt idx="260">
                  <c:v>0.305209</c:v>
                </c:pt>
                <c:pt idx="261">
                  <c:v>0.335341</c:v>
                </c:pt>
                <c:pt idx="262">
                  <c:v>-0.063166</c:v>
                </c:pt>
                <c:pt idx="263">
                  <c:v>0.077129</c:v>
                </c:pt>
                <c:pt idx="264">
                  <c:v>0.167754</c:v>
                </c:pt>
                <c:pt idx="265">
                  <c:v>0.156304</c:v>
                </c:pt>
                <c:pt idx="266">
                  <c:v>-0.073725</c:v>
                </c:pt>
                <c:pt idx="267">
                  <c:v>0.258558</c:v>
                </c:pt>
                <c:pt idx="268">
                  <c:v>0.206753</c:v>
                </c:pt>
                <c:pt idx="269">
                  <c:v>0.277148</c:v>
                </c:pt>
                <c:pt idx="270">
                  <c:v>0.297708</c:v>
                </c:pt>
                <c:pt idx="271">
                  <c:v>0.209449</c:v>
                </c:pt>
                <c:pt idx="272">
                  <c:v>0.078794</c:v>
                </c:pt>
                <c:pt idx="273">
                  <c:v>0.116681</c:v>
                </c:pt>
                <c:pt idx="274">
                  <c:v>0.261922</c:v>
                </c:pt>
                <c:pt idx="275">
                  <c:v>0.032463</c:v>
                </c:pt>
                <c:pt idx="276">
                  <c:v>0.125174</c:v>
                </c:pt>
                <c:pt idx="277">
                  <c:v>0.169315</c:v>
                </c:pt>
                <c:pt idx="278">
                  <c:v>-0.064636</c:v>
                </c:pt>
                <c:pt idx="279">
                  <c:v>0.099482</c:v>
                </c:pt>
                <c:pt idx="280">
                  <c:v>0.226595</c:v>
                </c:pt>
                <c:pt idx="281">
                  <c:v>0.214904</c:v>
                </c:pt>
                <c:pt idx="282">
                  <c:v>0.227675</c:v>
                </c:pt>
                <c:pt idx="283">
                  <c:v>0.386494</c:v>
                </c:pt>
                <c:pt idx="284">
                  <c:v>0.054173</c:v>
                </c:pt>
                <c:pt idx="285">
                  <c:v>0.173055</c:v>
                </c:pt>
                <c:pt idx="286">
                  <c:v>0.188343</c:v>
                </c:pt>
                <c:pt idx="287">
                  <c:v>0.115573</c:v>
                </c:pt>
                <c:pt idx="288">
                  <c:v>0.234795</c:v>
                </c:pt>
                <c:pt idx="289">
                  <c:v>0.25428</c:v>
                </c:pt>
                <c:pt idx="290">
                  <c:v>-0.052107</c:v>
                </c:pt>
                <c:pt idx="291">
                  <c:v>0.110533</c:v>
                </c:pt>
                <c:pt idx="292">
                  <c:v>0.204085</c:v>
                </c:pt>
                <c:pt idx="293">
                  <c:v>-0.046757</c:v>
                </c:pt>
                <c:pt idx="294">
                  <c:v>0.146839</c:v>
                </c:pt>
                <c:pt idx="295">
                  <c:v>0.2188</c:v>
                </c:pt>
                <c:pt idx="296">
                  <c:v>0.235015</c:v>
                </c:pt>
                <c:pt idx="297">
                  <c:v>0.338976</c:v>
                </c:pt>
                <c:pt idx="298">
                  <c:v>0.128255</c:v>
                </c:pt>
                <c:pt idx="299">
                  <c:v>0.288573</c:v>
                </c:pt>
                <c:pt idx="300">
                  <c:v>0.336646</c:v>
                </c:pt>
                <c:pt idx="301">
                  <c:v>0.258928</c:v>
                </c:pt>
                <c:pt idx="302">
                  <c:v>0.028045</c:v>
                </c:pt>
                <c:pt idx="303">
                  <c:v>0.259315</c:v>
                </c:pt>
                <c:pt idx="304">
                  <c:v>0.287412</c:v>
                </c:pt>
                <c:pt idx="305">
                  <c:v>0.261462</c:v>
                </c:pt>
                <c:pt idx="306">
                  <c:v>-0.007424</c:v>
                </c:pt>
                <c:pt idx="307">
                  <c:v>0.120205</c:v>
                </c:pt>
                <c:pt idx="308">
                  <c:v>0.171673</c:v>
                </c:pt>
                <c:pt idx="309">
                  <c:v>0.278781</c:v>
                </c:pt>
                <c:pt idx="310">
                  <c:v>0.196859</c:v>
                </c:pt>
                <c:pt idx="311">
                  <c:v>0.272791</c:v>
                </c:pt>
                <c:pt idx="312">
                  <c:v>0.004654</c:v>
                </c:pt>
                <c:pt idx="313">
                  <c:v>0.202457</c:v>
                </c:pt>
                <c:pt idx="314">
                  <c:v>-0.032529</c:v>
                </c:pt>
                <c:pt idx="315">
                  <c:v>0.208561</c:v>
                </c:pt>
                <c:pt idx="316">
                  <c:v>0.200919</c:v>
                </c:pt>
                <c:pt idx="317">
                  <c:v>0.081988</c:v>
                </c:pt>
                <c:pt idx="318">
                  <c:v>0.275201</c:v>
                </c:pt>
                <c:pt idx="319">
                  <c:v>0.115965</c:v>
                </c:pt>
                <c:pt idx="320">
                  <c:v>0.102767</c:v>
                </c:pt>
                <c:pt idx="321">
                  <c:v>-0.017843</c:v>
                </c:pt>
                <c:pt idx="322">
                  <c:v>0.167505</c:v>
                </c:pt>
                <c:pt idx="323">
                  <c:v>0.162827</c:v>
                </c:pt>
                <c:pt idx="324">
                  <c:v>0.201149</c:v>
                </c:pt>
                <c:pt idx="325">
                  <c:v>0.276514</c:v>
                </c:pt>
                <c:pt idx="326">
                  <c:v>0.132444</c:v>
                </c:pt>
                <c:pt idx="327">
                  <c:v>0.092354</c:v>
                </c:pt>
                <c:pt idx="328">
                  <c:v>0.173053</c:v>
                </c:pt>
                <c:pt idx="329">
                  <c:v>0.125307</c:v>
                </c:pt>
                <c:pt idx="330">
                  <c:v>0.096645</c:v>
                </c:pt>
                <c:pt idx="331">
                  <c:v>0.315496</c:v>
                </c:pt>
                <c:pt idx="332">
                  <c:v>0.342588</c:v>
                </c:pt>
                <c:pt idx="333">
                  <c:v>0.297534</c:v>
                </c:pt>
                <c:pt idx="334">
                  <c:v>0.125132</c:v>
                </c:pt>
                <c:pt idx="335">
                  <c:v>-0.03511</c:v>
                </c:pt>
                <c:pt idx="336">
                  <c:v>0.250095</c:v>
                </c:pt>
                <c:pt idx="337">
                  <c:v>0.09135</c:v>
                </c:pt>
                <c:pt idx="338">
                  <c:v>-0.00769</c:v>
                </c:pt>
                <c:pt idx="339">
                  <c:v>0.26225</c:v>
                </c:pt>
                <c:pt idx="340">
                  <c:v>0.300551</c:v>
                </c:pt>
                <c:pt idx="341">
                  <c:v>-0.02563</c:v>
                </c:pt>
                <c:pt idx="342">
                  <c:v>0.263779</c:v>
                </c:pt>
                <c:pt idx="343">
                  <c:v>0.182828</c:v>
                </c:pt>
                <c:pt idx="344">
                  <c:v>0.229782</c:v>
                </c:pt>
                <c:pt idx="345">
                  <c:v>0.199578</c:v>
                </c:pt>
                <c:pt idx="346">
                  <c:v>0.227952</c:v>
                </c:pt>
                <c:pt idx="347">
                  <c:v>0.004241</c:v>
                </c:pt>
                <c:pt idx="348">
                  <c:v>0.154312</c:v>
                </c:pt>
                <c:pt idx="349">
                  <c:v>0.326313</c:v>
                </c:pt>
                <c:pt idx="350">
                  <c:v>0.214783</c:v>
                </c:pt>
                <c:pt idx="351">
                  <c:v>0.19674</c:v>
                </c:pt>
                <c:pt idx="352">
                  <c:v>0.071294</c:v>
                </c:pt>
                <c:pt idx="353">
                  <c:v>0.024502</c:v>
                </c:pt>
                <c:pt idx="354">
                  <c:v>0.178455</c:v>
                </c:pt>
                <c:pt idx="355">
                  <c:v>-0.012114</c:v>
                </c:pt>
                <c:pt idx="356">
                  <c:v>0.32362</c:v>
                </c:pt>
                <c:pt idx="357">
                  <c:v>0.052737</c:v>
                </c:pt>
                <c:pt idx="358">
                  <c:v>0.15173</c:v>
                </c:pt>
                <c:pt idx="359">
                  <c:v>0.11003</c:v>
                </c:pt>
                <c:pt idx="360">
                  <c:v>0.004935</c:v>
                </c:pt>
                <c:pt idx="361">
                  <c:v>0.145908</c:v>
                </c:pt>
                <c:pt idx="362">
                  <c:v>0.144482</c:v>
                </c:pt>
                <c:pt idx="363">
                  <c:v>0.103211</c:v>
                </c:pt>
                <c:pt idx="364">
                  <c:v>0.183516</c:v>
                </c:pt>
                <c:pt idx="365">
                  <c:v>0.300235</c:v>
                </c:pt>
                <c:pt idx="366">
                  <c:v>0.00742</c:v>
                </c:pt>
                <c:pt idx="367">
                  <c:v>0.178969</c:v>
                </c:pt>
                <c:pt idx="368">
                  <c:v>-0.033905</c:v>
                </c:pt>
                <c:pt idx="369">
                  <c:v>0.230708</c:v>
                </c:pt>
                <c:pt idx="370">
                  <c:v>0.15527</c:v>
                </c:pt>
                <c:pt idx="371">
                  <c:v>0.266609</c:v>
                </c:pt>
                <c:pt idx="372">
                  <c:v>0.261257</c:v>
                </c:pt>
                <c:pt idx="373">
                  <c:v>0.189114</c:v>
                </c:pt>
                <c:pt idx="374">
                  <c:v>0.248165</c:v>
                </c:pt>
                <c:pt idx="375">
                  <c:v>0.151462</c:v>
                </c:pt>
                <c:pt idx="376">
                  <c:v>0.259067</c:v>
                </c:pt>
                <c:pt idx="377">
                  <c:v>0.118957</c:v>
                </c:pt>
                <c:pt idx="378">
                  <c:v>0.268358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6"/>
        </c:scaling>
        <c:delete val="0"/>
        <c:axPos val="l"/>
        <c:majorGridlines>
          <c:spPr>
            <a:ln xmlns:a="http://schemas.openxmlformats.org/drawingml/2006/main" w="5715">
              <a:solidFill>
                <a:srgbClr val="E5E7EA"/>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majorUnit val="0.6"/>
      </c:valAx>
      <c:valAx>
        <c:axId val="48650112"/>
        <c:scaling>
          <c:orientation val="minMax"/>
          <c:max val="0.6"/>
          <c:min val="-0.6"/>
        </c:scaling>
        <c:delete val="0"/>
        <c:axPos val="b"/>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majorUnit val="0.6"/>
      </c:valAx>
    </c:plotArea>
    <c:plotVisOnly val="1"/>
  </c:chart>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b="1">
                <a:solidFill>
                  <a:srgbClr val="CB4F9E"/>
                </a:solidFill>
                <a:latin typeface="Arial"/>
                <a:ea typeface="Arial"/>
                <a:cs typeface="Arial"/>
              </a:rPr>
              <a:t>C7  (n = 128)</a:t>
            </a:r>
          </a:p>
        </c:rich>
      </c:tx>
      <c:overlay val="0"/>
      <c:txPr>
        <a:bodyPr xmlns:a="http://schemas.openxmlformats.org/drawingml/2006/main" anchorCtr="1"/>
        <a:lstStyle xmlns:a="http://schemas.openxmlformats.org/drawingml/2006/main"/>
        <a:p xmlns:a="http://schemas.openxmlformats.org/drawingml/2006/main">
          <a:pPr>
            <a:defRPr sz="1500" b="1">
              <a:solidFill>
                <a:srgbClr val="CB4F9E"/>
              </a:solidFill>
              <a:latin typeface="Arial"/>
              <a:ea typeface="Arial"/>
              <a:cs typeface="Arial"/>
            </a:defRPr>
          </a:pPr>
        </a:p>
      </c:txPr>
    </c:title>
    <c:plotArea>
      <c:scatterChart>
        <c:scatterStyle val="marker"/>
        <c:ser>
          <c:idx val="0"/>
          <c:order val="0"/>
          <c:tx>
            <c:v>C7</c:v>
          </c:tx>
          <c:spPr>
            <a:solidFill xmlns:a="http://schemas.openxmlformats.org/drawingml/2006/main">
              <a:srgbClr val="CB4F9E"/>
            </a:solidFill>
            <a:ln xmlns:a="http://schemas.openxmlformats.org/drawingml/2006/main" w="0">
              <a:noFill/>
            </a:ln>
          </c:spPr>
          <c:marker>
            <c:symbol val="circle"/>
            <c:size val="3"/>
            <c:spPr>
              <ns0:solidFill xmlns:ns0="http://schemas.openxmlformats.org/drawingml/2006/main">
                <ns0:srgbClr val="CB4F9E"/>
              </ns0:solidFill>
              <ns1:ln xmlns:ns1="http://schemas.openxmlformats.org/drawingml/2006/main" w="0">
                <ns1:noFill/>
              </ns1:ln>
            </c:spPr>
          </c:marker>
          <c:xVal>
            <c:numRef>
              <c:f>'Chart Data'!$A$2:$A$129</c:f>
              <c:numCache>
                <c:formatCode>General</c:formatCode>
                <c:ptCount val="128"/>
                <c:pt idx="0">
                  <c:v>-0.007806</c:v>
                </c:pt>
                <c:pt idx="1">
                  <c:v>-0.144175</c:v>
                </c:pt>
                <c:pt idx="2">
                  <c:v>-0.170292</c:v>
                </c:pt>
                <c:pt idx="3">
                  <c:v>0.183254</c:v>
                </c:pt>
                <c:pt idx="4">
                  <c:v>0.189064</c:v>
                </c:pt>
                <c:pt idx="5">
                  <c:v>-0.151448</c:v>
                </c:pt>
                <c:pt idx="6">
                  <c:v>-0.184152</c:v>
                </c:pt>
                <c:pt idx="7">
                  <c:v>-0.190344</c:v>
                </c:pt>
                <c:pt idx="8">
                  <c:v>0.042914</c:v>
                </c:pt>
                <c:pt idx="9">
                  <c:v>-0.125931</c:v>
                </c:pt>
                <c:pt idx="10">
                  <c:v>-0.240697</c:v>
                </c:pt>
                <c:pt idx="11">
                  <c:v>-0.227259</c:v>
                </c:pt>
                <c:pt idx="12">
                  <c:v>-0.004406</c:v>
                </c:pt>
                <c:pt idx="13">
                  <c:v>-0.283113</c:v>
                </c:pt>
                <c:pt idx="14">
                  <c:v>-0.319967</c:v>
                </c:pt>
                <c:pt idx="15">
                  <c:v>-0.131514</c:v>
                </c:pt>
                <c:pt idx="16">
                  <c:v>-0.154822</c:v>
                </c:pt>
                <c:pt idx="17">
                  <c:v>-0.110463</c:v>
                </c:pt>
                <c:pt idx="18">
                  <c:v>-0.266801</c:v>
                </c:pt>
                <c:pt idx="19">
                  <c:v>-0.251083</c:v>
                </c:pt>
                <c:pt idx="20">
                  <c:v>-0.307665</c:v>
                </c:pt>
                <c:pt idx="21">
                  <c:v>-0.183133</c:v>
                </c:pt>
                <c:pt idx="22">
                  <c:v>-0.292142</c:v>
                </c:pt>
                <c:pt idx="23">
                  <c:v>0.002502</c:v>
                </c:pt>
                <c:pt idx="24">
                  <c:v>0.004262</c:v>
                </c:pt>
                <c:pt idx="25">
                  <c:v>0.02739</c:v>
                </c:pt>
                <c:pt idx="26">
                  <c:v>-0.125016</c:v>
                </c:pt>
                <c:pt idx="27">
                  <c:v>-0.245077</c:v>
                </c:pt>
                <c:pt idx="28">
                  <c:v>0.063055</c:v>
                </c:pt>
                <c:pt idx="29">
                  <c:v>-0.185471</c:v>
                </c:pt>
                <c:pt idx="30">
                  <c:v>-0.045358</c:v>
                </c:pt>
                <c:pt idx="31">
                  <c:v>-0.024749</c:v>
                </c:pt>
                <c:pt idx="32">
                  <c:v>0.205367</c:v>
                </c:pt>
                <c:pt idx="33">
                  <c:v>-0.094346</c:v>
                </c:pt>
                <c:pt idx="34">
                  <c:v>-0.04</c:v>
                </c:pt>
                <c:pt idx="35">
                  <c:v>-0.118346</c:v>
                </c:pt>
                <c:pt idx="36">
                  <c:v>-0.284928</c:v>
                </c:pt>
                <c:pt idx="37">
                  <c:v>-0.14688</c:v>
                </c:pt>
                <c:pt idx="38">
                  <c:v>-0.140419</c:v>
                </c:pt>
                <c:pt idx="39">
                  <c:v>-0.333455</c:v>
                </c:pt>
                <c:pt idx="40">
                  <c:v>-0.283651</c:v>
                </c:pt>
                <c:pt idx="41">
                  <c:v>-0.059116</c:v>
                </c:pt>
                <c:pt idx="42">
                  <c:v>0.023731</c:v>
                </c:pt>
                <c:pt idx="43">
                  <c:v>-0.222089</c:v>
                </c:pt>
                <c:pt idx="44">
                  <c:v>-0.077033</c:v>
                </c:pt>
                <c:pt idx="45">
                  <c:v>-0.018246</c:v>
                </c:pt>
                <c:pt idx="46">
                  <c:v>0.128404</c:v>
                </c:pt>
                <c:pt idx="47">
                  <c:v>-0.095858</c:v>
                </c:pt>
                <c:pt idx="48">
                  <c:v>-0.05859</c:v>
                </c:pt>
                <c:pt idx="49">
                  <c:v>0.040325</c:v>
                </c:pt>
                <c:pt idx="50">
                  <c:v>-0.231781</c:v>
                </c:pt>
                <c:pt idx="51">
                  <c:v>-0.112965</c:v>
                </c:pt>
                <c:pt idx="52">
                  <c:v>-0.141253</c:v>
                </c:pt>
                <c:pt idx="53">
                  <c:v>-0.205184</c:v>
                </c:pt>
                <c:pt idx="54">
                  <c:v>-0.052568</c:v>
                </c:pt>
                <c:pt idx="55">
                  <c:v>-0.091631</c:v>
                </c:pt>
                <c:pt idx="56">
                  <c:v>0.095743</c:v>
                </c:pt>
                <c:pt idx="57">
                  <c:v>-0.319101</c:v>
                </c:pt>
                <c:pt idx="58">
                  <c:v>-0.039459</c:v>
                </c:pt>
                <c:pt idx="59">
                  <c:v>0.017961</c:v>
                </c:pt>
                <c:pt idx="60">
                  <c:v>-0.216108</c:v>
                </c:pt>
                <c:pt idx="61">
                  <c:v>0.044904</c:v>
                </c:pt>
                <c:pt idx="62">
                  <c:v>-0.110053</c:v>
                </c:pt>
                <c:pt idx="63">
                  <c:v>-0.012799</c:v>
                </c:pt>
                <c:pt idx="64">
                  <c:v>-0.156544</c:v>
                </c:pt>
                <c:pt idx="65">
                  <c:v>-0.02586</c:v>
                </c:pt>
                <c:pt idx="66">
                  <c:v>-0.282302</c:v>
                </c:pt>
                <c:pt idx="67">
                  <c:v>-0.09532</c:v>
                </c:pt>
                <c:pt idx="68">
                  <c:v>-0.027767</c:v>
                </c:pt>
                <c:pt idx="69">
                  <c:v>-0.144518</c:v>
                </c:pt>
                <c:pt idx="70">
                  <c:v>0.066805</c:v>
                </c:pt>
                <c:pt idx="71">
                  <c:v>-0.053195</c:v>
                </c:pt>
                <c:pt idx="72">
                  <c:v>-0.009993</c:v>
                </c:pt>
                <c:pt idx="73">
                  <c:v>-0.128583</c:v>
                </c:pt>
                <c:pt idx="74">
                  <c:v>0.108718</c:v>
                </c:pt>
                <c:pt idx="75">
                  <c:v>-0.110709</c:v>
                </c:pt>
                <c:pt idx="76">
                  <c:v>-0.004591</c:v>
                </c:pt>
                <c:pt idx="77">
                  <c:v>-7.7E-05</c:v>
                </c:pt>
                <c:pt idx="78">
                  <c:v>-0.198115</c:v>
                </c:pt>
                <c:pt idx="79">
                  <c:v>-0.203939</c:v>
                </c:pt>
                <c:pt idx="80">
                  <c:v>-0.196541</c:v>
                </c:pt>
                <c:pt idx="81">
                  <c:v>-0.283287</c:v>
                </c:pt>
                <c:pt idx="82">
                  <c:v>-0.228821</c:v>
                </c:pt>
                <c:pt idx="83">
                  <c:v>-0.031969</c:v>
                </c:pt>
                <c:pt idx="84">
                  <c:v>-0.173373</c:v>
                </c:pt>
                <c:pt idx="85">
                  <c:v>-0.057654</c:v>
                </c:pt>
                <c:pt idx="86">
                  <c:v>-0.144449</c:v>
                </c:pt>
                <c:pt idx="87">
                  <c:v>-0.26482</c:v>
                </c:pt>
                <c:pt idx="88">
                  <c:v>-0.03974</c:v>
                </c:pt>
                <c:pt idx="89">
                  <c:v>-0.018714</c:v>
                </c:pt>
                <c:pt idx="90">
                  <c:v>-0.096435</c:v>
                </c:pt>
                <c:pt idx="91">
                  <c:v>-0.127611</c:v>
                </c:pt>
                <c:pt idx="92">
                  <c:v>0.0217</c:v>
                </c:pt>
                <c:pt idx="93">
                  <c:v>-0.197222</c:v>
                </c:pt>
                <c:pt idx="94">
                  <c:v>-0.12464</c:v>
                </c:pt>
                <c:pt idx="95">
                  <c:v>-0.059874</c:v>
                </c:pt>
                <c:pt idx="96">
                  <c:v>-0.004283</c:v>
                </c:pt>
                <c:pt idx="97">
                  <c:v>-0.104879</c:v>
                </c:pt>
                <c:pt idx="98">
                  <c:v>-0.024572</c:v>
                </c:pt>
                <c:pt idx="99">
                  <c:v>-0.043383</c:v>
                </c:pt>
                <c:pt idx="100">
                  <c:v>-0.095235</c:v>
                </c:pt>
                <c:pt idx="101">
                  <c:v>0.088811</c:v>
                </c:pt>
                <c:pt idx="102">
                  <c:v>-0.053895</c:v>
                </c:pt>
                <c:pt idx="103">
                  <c:v>-0.260945</c:v>
                </c:pt>
                <c:pt idx="104">
                  <c:v>0.154288</c:v>
                </c:pt>
                <c:pt idx="105">
                  <c:v>-0.084866</c:v>
                </c:pt>
                <c:pt idx="106">
                  <c:v>-0.145179</c:v>
                </c:pt>
                <c:pt idx="107">
                  <c:v>-0.084229</c:v>
                </c:pt>
                <c:pt idx="108">
                  <c:v>-0.034456</c:v>
                </c:pt>
                <c:pt idx="109">
                  <c:v>-0.124847</c:v>
                </c:pt>
                <c:pt idx="110">
                  <c:v>-0.166783</c:v>
                </c:pt>
                <c:pt idx="111">
                  <c:v>-0.171286</c:v>
                </c:pt>
                <c:pt idx="112">
                  <c:v>-0.290938</c:v>
                </c:pt>
                <c:pt idx="113">
                  <c:v>-0.009628</c:v>
                </c:pt>
                <c:pt idx="114">
                  <c:v>0.161529</c:v>
                </c:pt>
                <c:pt idx="115">
                  <c:v>0.188273</c:v>
                </c:pt>
                <c:pt idx="116">
                  <c:v>-0.118917</c:v>
                </c:pt>
                <c:pt idx="117">
                  <c:v>-0.045639</c:v>
                </c:pt>
                <c:pt idx="118">
                  <c:v>-0.178424</c:v>
                </c:pt>
                <c:pt idx="119">
                  <c:v>-0.05721</c:v>
                </c:pt>
                <c:pt idx="120">
                  <c:v>-0.101309</c:v>
                </c:pt>
                <c:pt idx="121">
                  <c:v>-0.169417</c:v>
                </c:pt>
                <c:pt idx="122">
                  <c:v>-0.190366</c:v>
                </c:pt>
                <c:pt idx="123">
                  <c:v>-0.25296</c:v>
                </c:pt>
                <c:pt idx="124">
                  <c:v>-0.054242</c:v>
                </c:pt>
                <c:pt idx="125">
                  <c:v>-0.278678</c:v>
                </c:pt>
                <c:pt idx="126">
                  <c:v>0.024081</c:v>
                </c:pt>
                <c:pt idx="127">
                  <c:v>-0.10591</c:v>
                </c:pt>
              </c:numCache>
            </c:numRef>
          </c:xVal>
          <c:yVal>
            <c:numRef>
              <c:f>'Chart Data'!$B$2:$B$129</c:f>
              <c:numCache>
                <c:formatCode>0.0</c:formatCode>
                <c:ptCount val="128"/>
                <c:pt idx="0">
                  <c:v>-0.299762</c:v>
                </c:pt>
                <c:pt idx="1">
                  <c:v>0.077093</c:v>
                </c:pt>
                <c:pt idx="2">
                  <c:v>0.0415</c:v>
                </c:pt>
                <c:pt idx="3">
                  <c:v>-0.207799</c:v>
                </c:pt>
                <c:pt idx="4">
                  <c:v>0.123168</c:v>
                </c:pt>
                <c:pt idx="5">
                  <c:v>0.139329</c:v>
                </c:pt>
                <c:pt idx="6">
                  <c:v>0.007974</c:v>
                </c:pt>
                <c:pt idx="7">
                  <c:v>-0.18793</c:v>
                </c:pt>
                <c:pt idx="8">
                  <c:v>0.014309</c:v>
                </c:pt>
                <c:pt idx="9">
                  <c:v>-0.146213</c:v>
                </c:pt>
                <c:pt idx="10">
                  <c:v>0.119264</c:v>
                </c:pt>
                <c:pt idx="11">
                  <c:v>0.07074</c:v>
                </c:pt>
                <c:pt idx="12">
                  <c:v>0.088094</c:v>
                </c:pt>
                <c:pt idx="13">
                  <c:v>0.135537</c:v>
                </c:pt>
                <c:pt idx="14">
                  <c:v>0.021882</c:v>
                </c:pt>
                <c:pt idx="15">
                  <c:v>-0.26656</c:v>
                </c:pt>
                <c:pt idx="16">
                  <c:v>0.111258</c:v>
                </c:pt>
                <c:pt idx="17">
                  <c:v>-0.094182</c:v>
                </c:pt>
                <c:pt idx="18">
                  <c:v>0.091566</c:v>
                </c:pt>
                <c:pt idx="19">
                  <c:v>0.209776</c:v>
                </c:pt>
                <c:pt idx="20">
                  <c:v>-0.032752</c:v>
                </c:pt>
                <c:pt idx="21">
                  <c:v>-0.1425</c:v>
                </c:pt>
                <c:pt idx="22">
                  <c:v>0.048453</c:v>
                </c:pt>
                <c:pt idx="23">
                  <c:v>-0.172112</c:v>
                </c:pt>
                <c:pt idx="24">
                  <c:v>0.195748</c:v>
                </c:pt>
                <c:pt idx="25">
                  <c:v>0.135678</c:v>
                </c:pt>
                <c:pt idx="26">
                  <c:v>-0.106178</c:v>
                </c:pt>
                <c:pt idx="27">
                  <c:v>-0.088023</c:v>
                </c:pt>
                <c:pt idx="28">
                  <c:v>-0.265467</c:v>
                </c:pt>
                <c:pt idx="29">
                  <c:v>-0.371236</c:v>
                </c:pt>
                <c:pt idx="30">
                  <c:v>-0.026241</c:v>
                </c:pt>
                <c:pt idx="31">
                  <c:v>0.082163</c:v>
                </c:pt>
                <c:pt idx="32">
                  <c:v>-0.070705</c:v>
                </c:pt>
                <c:pt idx="33">
                  <c:v>0.164917</c:v>
                </c:pt>
                <c:pt idx="34">
                  <c:v>-0.181416</c:v>
                </c:pt>
                <c:pt idx="35">
                  <c:v>-0.132747</c:v>
                </c:pt>
                <c:pt idx="36">
                  <c:v>0.041597</c:v>
                </c:pt>
                <c:pt idx="37">
                  <c:v>0.165912</c:v>
                </c:pt>
                <c:pt idx="38">
                  <c:v>0.125187</c:v>
                </c:pt>
                <c:pt idx="39">
                  <c:v>0.097263</c:v>
                </c:pt>
                <c:pt idx="40">
                  <c:v>0.174847</c:v>
                </c:pt>
                <c:pt idx="41">
                  <c:v>-0.146429</c:v>
                </c:pt>
                <c:pt idx="42">
                  <c:v>-0.156121</c:v>
                </c:pt>
                <c:pt idx="43">
                  <c:v>-0.071222</c:v>
                </c:pt>
                <c:pt idx="44">
                  <c:v>0.086246</c:v>
                </c:pt>
                <c:pt idx="45">
                  <c:v>-0.088945</c:v>
                </c:pt>
                <c:pt idx="46">
                  <c:v>-0.137689</c:v>
                </c:pt>
                <c:pt idx="47">
                  <c:v>0.216922</c:v>
                </c:pt>
                <c:pt idx="48">
                  <c:v>0.12135</c:v>
                </c:pt>
                <c:pt idx="49">
                  <c:v>-0.034575</c:v>
                </c:pt>
                <c:pt idx="50">
                  <c:v>0.051397</c:v>
                </c:pt>
                <c:pt idx="51">
                  <c:v>-0.083727</c:v>
                </c:pt>
                <c:pt idx="52">
                  <c:v>0.100537</c:v>
                </c:pt>
                <c:pt idx="53">
                  <c:v>0.098096</c:v>
                </c:pt>
                <c:pt idx="54">
                  <c:v>0.272647</c:v>
                </c:pt>
                <c:pt idx="55">
                  <c:v>-0.101722</c:v>
                </c:pt>
                <c:pt idx="56">
                  <c:v>0.023783</c:v>
                </c:pt>
                <c:pt idx="57">
                  <c:v>-0.244037</c:v>
                </c:pt>
                <c:pt idx="58">
                  <c:v>0.246918</c:v>
                </c:pt>
                <c:pt idx="59">
                  <c:v>0.089586</c:v>
                </c:pt>
                <c:pt idx="60">
                  <c:v>-0.278929</c:v>
                </c:pt>
                <c:pt idx="61">
                  <c:v>0.025395</c:v>
                </c:pt>
                <c:pt idx="62">
                  <c:v>0.275838</c:v>
                </c:pt>
                <c:pt idx="63">
                  <c:v>-0.053903</c:v>
                </c:pt>
                <c:pt idx="64">
                  <c:v>0.097723</c:v>
                </c:pt>
                <c:pt idx="65">
                  <c:v>0.276431</c:v>
                </c:pt>
                <c:pt idx="66">
                  <c:v>0.11381</c:v>
                </c:pt>
                <c:pt idx="67">
                  <c:v>0.02631</c:v>
                </c:pt>
                <c:pt idx="68">
                  <c:v>-0.024476</c:v>
                </c:pt>
                <c:pt idx="69">
                  <c:v>0.061466</c:v>
                </c:pt>
                <c:pt idx="70">
                  <c:v>-0.075931</c:v>
                </c:pt>
                <c:pt idx="71">
                  <c:v>0.100219</c:v>
                </c:pt>
                <c:pt idx="72">
                  <c:v>0.053881</c:v>
                </c:pt>
                <c:pt idx="73">
                  <c:v>-0.292335</c:v>
                </c:pt>
                <c:pt idx="74">
                  <c:v>0.115618</c:v>
                </c:pt>
                <c:pt idx="75">
                  <c:v>0.108322</c:v>
                </c:pt>
                <c:pt idx="76">
                  <c:v>-0.124937</c:v>
                </c:pt>
                <c:pt idx="77">
                  <c:v>0.081978</c:v>
                </c:pt>
                <c:pt idx="78">
                  <c:v>0.209738</c:v>
                </c:pt>
                <c:pt idx="79">
                  <c:v>0.145102</c:v>
                </c:pt>
                <c:pt idx="80">
                  <c:v>0.051176</c:v>
                </c:pt>
                <c:pt idx="81">
                  <c:v>-0.191944</c:v>
                </c:pt>
                <c:pt idx="82">
                  <c:v>0.058934</c:v>
                </c:pt>
                <c:pt idx="83">
                  <c:v>0.055919</c:v>
                </c:pt>
                <c:pt idx="84">
                  <c:v>0.030578</c:v>
                </c:pt>
                <c:pt idx="85">
                  <c:v>0.218756</c:v>
                </c:pt>
                <c:pt idx="86">
                  <c:v>0.114757</c:v>
                </c:pt>
                <c:pt idx="87">
                  <c:v>0.122041</c:v>
                </c:pt>
                <c:pt idx="88">
                  <c:v>-0.328131</c:v>
                </c:pt>
                <c:pt idx="89">
                  <c:v>0.048715</c:v>
                </c:pt>
                <c:pt idx="90">
                  <c:v>0.128223</c:v>
                </c:pt>
                <c:pt idx="91">
                  <c:v>0.078378</c:v>
                </c:pt>
                <c:pt idx="92">
                  <c:v>-0.353804</c:v>
                </c:pt>
                <c:pt idx="93">
                  <c:v>-0.006034</c:v>
                </c:pt>
                <c:pt idx="94">
                  <c:v>0.064148</c:v>
                </c:pt>
                <c:pt idx="95">
                  <c:v>0.132333</c:v>
                </c:pt>
                <c:pt idx="96">
                  <c:v>-0.049969</c:v>
                </c:pt>
                <c:pt idx="97">
                  <c:v>0.227916</c:v>
                </c:pt>
                <c:pt idx="98">
                  <c:v>0.191376</c:v>
                </c:pt>
                <c:pt idx="99">
                  <c:v>0.066675</c:v>
                </c:pt>
                <c:pt idx="100">
                  <c:v>-0.045478</c:v>
                </c:pt>
                <c:pt idx="101">
                  <c:v>0.083333</c:v>
                </c:pt>
                <c:pt idx="102">
                  <c:v>-0.110095</c:v>
                </c:pt>
                <c:pt idx="103">
                  <c:v>0.008014</c:v>
                </c:pt>
                <c:pt idx="104">
                  <c:v>-0.318484</c:v>
                </c:pt>
                <c:pt idx="105">
                  <c:v>-0.291747</c:v>
                </c:pt>
                <c:pt idx="106">
                  <c:v>-0.077787</c:v>
                </c:pt>
                <c:pt idx="107">
                  <c:v>0.235666</c:v>
                </c:pt>
                <c:pt idx="108">
                  <c:v>-0.101389</c:v>
                </c:pt>
                <c:pt idx="109">
                  <c:v>-0.027679</c:v>
                </c:pt>
                <c:pt idx="110">
                  <c:v>0.179461</c:v>
                </c:pt>
                <c:pt idx="111">
                  <c:v>0.115949</c:v>
                </c:pt>
                <c:pt idx="112">
                  <c:v>0.069525</c:v>
                </c:pt>
                <c:pt idx="113">
                  <c:v>-0.137662</c:v>
                </c:pt>
                <c:pt idx="114">
                  <c:v>-0.065161</c:v>
                </c:pt>
                <c:pt idx="115">
                  <c:v>-0.171441</c:v>
                </c:pt>
                <c:pt idx="116">
                  <c:v>0.211242</c:v>
                </c:pt>
                <c:pt idx="117">
                  <c:v>-0.079551</c:v>
                </c:pt>
                <c:pt idx="118">
                  <c:v>0.019644</c:v>
                </c:pt>
                <c:pt idx="119">
                  <c:v>-0.227089</c:v>
                </c:pt>
                <c:pt idx="120">
                  <c:v>0.029337</c:v>
                </c:pt>
                <c:pt idx="121">
                  <c:v>0.006846</c:v>
                </c:pt>
                <c:pt idx="122">
                  <c:v>-0.29151</c:v>
                </c:pt>
                <c:pt idx="123">
                  <c:v>0.097485</c:v>
                </c:pt>
                <c:pt idx="124">
                  <c:v>0.056435</c:v>
                </c:pt>
                <c:pt idx="125">
                  <c:v>0.154938</c:v>
                </c:pt>
                <c:pt idx="126">
                  <c:v>-0.115556</c:v>
                </c:pt>
                <c:pt idx="127">
                  <c:v>0.0217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6"/>
        </c:scaling>
        <c:delete val="0"/>
        <c:axPos val="l"/>
        <c:majorGridlines>
          <c:spPr>
            <a:ln xmlns:a="http://schemas.openxmlformats.org/drawingml/2006/main" w="5715">
              <a:solidFill>
                <a:srgbClr val="E5E7EA"/>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majorUnit val="0.6"/>
      </c:valAx>
      <c:valAx>
        <c:axId val="48650112"/>
        <c:scaling>
          <c:orientation val="minMax"/>
          <c:max val="0.6"/>
          <c:min val="-0.6"/>
        </c:scaling>
        <c:delete val="0"/>
        <c:axPos val="b"/>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majorUnit val="0.6"/>
      </c:valAx>
    </c:plotArea>
    <c:plotVisOnly val="1"/>
  </c:chart>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Score</c:v>
          </c:tx>
          <c:spPr>
            <a:solidFill xmlns:a="http://schemas.openxmlformats.org/drawingml/2006/main">
              <a:srgbClr val="2861FF"/>
            </a:solidFill>
          </c:spPr>
          <c:invertIfNegative val="0"/>
          <c:dPt>
            <c:idx val="0"/>
            <c:invertIfNegative val="0"/>
            <c:spPr>
              <a:solidFill xmlns:a="http://schemas.openxmlformats.org/drawingml/2006/main">
                <a:srgbClr val="008D4C"/>
              </a:solidFill>
            </c:spPr>
          </c:dPt>
          <c:dPt>
            <c:idx val="1"/>
            <c:invertIfNegative val="0"/>
            <c:spPr>
              <a:solidFill xmlns:a="http://schemas.openxmlformats.org/drawingml/2006/main">
                <a:srgbClr val="008D4C"/>
              </a:solidFill>
            </c:spPr>
          </c:dPt>
          <c:dPt>
            <c:idx val="2"/>
            <c:invertIfNegative val="0"/>
            <c:spPr>
              <a:solidFill xmlns:a="http://schemas.openxmlformats.org/drawingml/2006/main">
                <a:srgbClr val="008D4C"/>
              </a:solidFill>
            </c:spPr>
          </c:dPt>
          <c:dPt>
            <c:idx val="3"/>
            <c:invertIfNegative val="0"/>
            <c:spPr>
              <a:solidFill xmlns:a="http://schemas.openxmlformats.org/drawingml/2006/main">
                <a:srgbClr val="E30613"/>
              </a:solidFill>
            </c:spPr>
          </c:dPt>
          <c:dPt>
            <c:idx val="4"/>
            <c:invertIfNegative val="0"/>
            <c:spPr>
              <a:solidFill xmlns:a="http://schemas.openxmlformats.org/drawingml/2006/main">
                <a:srgbClr val="008D4C"/>
              </a:solidFill>
            </c:spPr>
          </c:dPt>
          <c:dPt>
            <c:idx val="5"/>
            <c:invertIfNegative val="0"/>
            <c:spPr>
              <a:solidFill xmlns:a="http://schemas.openxmlformats.org/drawingml/2006/main">
                <a:srgbClr val="E30613"/>
              </a:solidFill>
            </c:spPr>
          </c:dPt>
          <c:cat>
            <c:strRef>
              <c:f>'Chart Data'!$A$2:$A$7</c:f>
              <c:strCache>
                <c:ptCount val="6"/>
                <c:pt idx="0">
                  <c:v>Cleanliness: +100</c:v>
                </c:pt>
                <c:pt idx="1">
                  <c:v>Service: +33.3</c:v>
                </c:pt>
                <c:pt idx="2">
                  <c:v>Location: +100</c:v>
                </c:pt>
                <c:pt idx="3">
                  <c:v>Facilities: −100</c:v>
                </c:pt>
                <c:pt idx="4">
                  <c:v>Room comfort: +100</c:v>
                </c:pt>
                <c:pt idx="5">
                  <c:v>Sound insulation: −100</c:v>
                </c:pt>
              </c:strCache>
            </c:strRef>
          </c:cat>
          <c:val>
            <c:numRef>
              <c:f>'Chart Data'!$B$2:$B$7</c:f>
              <c:numCache>
                <c:formatCode>0.0</c:formatCode>
                <c:ptCount val="6"/>
                <c:pt idx="0">
                  <c:v>100</c:v>
                </c:pt>
                <c:pt idx="1">
                  <c:v>33.3</c:v>
                </c:pt>
                <c:pt idx="2">
                  <c:v>100</c:v>
                </c:pt>
                <c:pt idx="3">
                  <c:v>-100</c:v>
                </c:pt>
                <c:pt idx="4">
                  <c:v>100</c:v>
                </c:pt>
                <c:pt idx="5">
                  <c:v>-100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100"/>
          <c:min val="-100"/>
        </c:scaling>
        <c:delete val="0"/>
        <c:axPos val="b"/>
        <c:majorGridlines>
          <c:spPr>
            <a:ln xmlns:a="http://schemas.openxmlformats.org/drawingml/2006/main" w="5715">
              <a:solidFill>
                <a:srgbClr val="E4E7E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50"/>
      </c:valAx>
    </c:plotArea>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2" name="Picture 1"/>
          <p:cNvPicPr>
            <a:picLocks xmlns:a="http://schemas.openxmlformats.org/drawingml/2006/main" noChangeAspect="1"/>
          </p:cNvPicPr>
          <p:nvPr/>
        </p:nvPicPr>
        <p:blipFill>
          <a:blip xmlns:r="http://schemas.openxmlformats.org/officeDocument/2006/relationships" xmlns:a="http://schemas.openxmlformats.org/drawingml/2006/main" r:embed="Re74d047823044310"/>
          <a:stretch xmlns:a="http://schemas.openxmlformats.org/drawingml/2006/main">
            <a:fillRect l="0" t="0" r="0" b="0"/>
          </a:stretch>
        </p:blipFill>
        <p:spPr>
          <a:xfrm xmlns:a="http://schemas.openxmlformats.org/drawingml/2006/main">
            <a:off x="0" y="0"/>
            <a:ext cx="12191675" cy="6858000"/>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029F3CF9-583B-4872-81CF-87CD43CD4E44}"/>
              </a:ext>
            </a:extLst>
          </p:cNvPr>
          <p:cNvSpPr>
            <a:spLocks xmlns:a="http://schemas.openxmlformats.org/drawingml/2006/main" noGrp="1"/>
          </p:cNvSpPr>
          <p:nvPr/>
        </p:nvSpPr>
        <p:spPr>
          <a:xfrm xmlns:a="http://schemas.openxmlformats.org/drawingml/2006/main">
            <a:off x="4773168" y="0"/>
            <a:ext cx="7415783" cy="685800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74D88A56-1C8C-4A5C-B5A0-A5CEEE69CB0A}"/>
              </a:ext>
            </a:extLst>
          </p:cNvPr>
          <p:cNvSpPr>
            <a:spLocks xmlns:a="http://schemas.openxmlformats.org/drawingml/2006/main" noGrp="1"/>
          </p:cNvSpPr>
          <p:nvPr/>
        </p:nvSpPr>
        <p:spPr>
          <a:xfrm xmlns:a="http://schemas.openxmlformats.org/drawingml/2006/main">
            <a:off x="5577840" y="1645920"/>
            <a:ext cx="5486400" cy="4572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200" b="1">
                <a:solidFill>
                  <a:srgbClr val="E30613"/>
                </a:solidFill>
                <a:latin typeface="Arial"/>
                <a:ea typeface="Arial"/>
                <a:cs typeface="Arial"/>
              </a:rPr>
              <a:t>DEEP LEARNING PROJECT</a:t>
            </a:r>
          </a:p>
        </p:txBody>
      </p:sp>
      <p:sp>
        <p:nvSpPr>
          <p:cNvPr id="5" name="TextBox 4">
            <a:extLst xmlns:a="http://schemas.openxmlformats.org/drawingml/2006/main">
              <a:ext uri="{FF2B5EF4-FFF2-40B4-BE49-F238E27FC236}">
                <a16:creationId xmlns:a16="http://schemas.microsoft.com/office/drawing/2014/main" id="{C81125B4-A0E9-45BA-9964-5424211E4FF4}"/>
              </a:ext>
            </a:extLst>
          </p:cNvPr>
          <p:cNvSpPr>
            <a:spLocks xmlns:a="http://schemas.openxmlformats.org/drawingml/2006/main" noGrp="1"/>
          </p:cNvSpPr>
          <p:nvPr/>
        </p:nvSpPr>
        <p:spPr>
          <a:xfrm xmlns:a="http://schemas.openxmlformats.org/drawingml/2006/main">
            <a:off x="5577840" y="2286000"/>
            <a:ext cx="5486400" cy="155448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3300" b="1">
                <a:solidFill>
                  <a:srgbClr val="111111"/>
                </a:solidFill>
                <a:latin typeface="Arial"/>
                <a:ea typeface="Arial"/>
                <a:cs typeface="Arial"/>
              </a:defRPr>
            </a:pPr>
            <a:r>
              <a:rPr sz="3300" b="1">
                <a:solidFill>
                  <a:srgbClr val="111111"/>
                </a:solidFill>
                <a:latin typeface="Arial"/>
                <a:ea typeface="Arial"/>
                <a:cs typeface="Arial"/>
              </a:rPr>
              <a:t>Hotel Review Analyzer</a:t>
            </a:r>
          </a:p>
          <a:p xmlns:a="http://schemas.openxmlformats.org/drawingml/2006/main">
            <a:pPr algn="l">
              <a:spcBef>
                <a:spcPts val="0"/>
              </a:spcBef>
              <a:spcAft>
                <a:spcPts val="0"/>
              </a:spcAft>
              <a:buNone/>
              <a:defRPr sz="3300" b="1">
                <a:solidFill>
                  <a:srgbClr val="111111"/>
                </a:solidFill>
                <a:latin typeface="Arial"/>
                <a:ea typeface="Arial"/>
                <a:cs typeface="Arial"/>
              </a:defRPr>
            </a:pPr>
            <a:r>
              <a:rPr sz="3300" b="1">
                <a:solidFill>
                  <a:srgbClr val="111111"/>
                </a:solidFill>
                <a:latin typeface="Arial"/>
                <a:ea typeface="Arial"/>
                <a:cs typeface="Arial"/>
              </a:rPr>
              <a:t>MLP Project</a:t>
            </a:r>
          </a:p>
        </p:txBody>
      </p:sp>
      <p:sp>
        <p:nvSpPr>
          <p:cNvPr id="7" name="TextBox 6">
            <a:extLst xmlns:a="http://schemas.openxmlformats.org/drawingml/2006/main">
              <a:ext uri="{FF2B5EF4-FFF2-40B4-BE49-F238E27FC236}">
                <a16:creationId xmlns:a16="http://schemas.microsoft.com/office/drawing/2014/main" id="{82AB8F33-2A8C-4619-AB92-F18FF8D6C5CE}"/>
              </a:ext>
            </a:extLst>
          </p:cNvPr>
          <p:cNvSpPr>
            <a:spLocks xmlns:a="http://schemas.openxmlformats.org/drawingml/2006/main" noGrp="1"/>
          </p:cNvSpPr>
          <p:nvPr/>
        </p:nvSpPr>
        <p:spPr>
          <a:xfrm xmlns:a="http://schemas.openxmlformats.org/drawingml/2006/main">
            <a:off x="5577840" y="5349240"/>
            <a:ext cx="5486400" cy="36576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200" b="0">
                <a:solidFill>
                  <a:srgbClr val="5F6368"/>
                </a:solidFill>
                <a:latin typeface="Arial"/>
                <a:ea typeface="Arial"/>
                <a:cs typeface="Arial"/>
              </a:rPr>
              <a:t>Wei Ou · International Joint Audit Institute</a:t>
            </a:r>
          </a:p>
        </p:txBody>
      </p:sp>
      <p:sp>
        <p:nvSpPr>
          <p:cNvPr id="8" name="TextBox 7">
            <a:extLst xmlns:a="http://schemas.openxmlformats.org/drawingml/2006/main">
              <a:ext uri="{FF2B5EF4-FFF2-40B4-BE49-F238E27FC236}">
                <a16:creationId xmlns:a16="http://schemas.microsoft.com/office/drawing/2014/main" id="{6B752E97-7823-40C9-A7A8-18B9E385F38F}"/>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01</a:t>
            </a:r>
          </a:p>
        </p:txBody>
      </p:sp>
      <p:sp>
        <p:nvSpPr>
          <p:cNvPr id="9" name="Connector 8">
            <a:extLst xmlns:a="http://schemas.openxmlformats.org/drawingml/2006/main">
              <a:ext uri="{FF2B5EF4-FFF2-40B4-BE49-F238E27FC236}">
                <a16:creationId xmlns:a16="http://schemas.microsoft.com/office/drawing/2014/main" id="{822A5C7C-A0EF-40BE-AE3B-B25BE2474FBE}"/>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19" name="Picture 9"/>
          <p:cNvPicPr>
            <a:picLocks xmlns:a="http://schemas.openxmlformats.org/drawingml/2006/main" noChangeAspect="1"/>
          </p:cNvPicPr>
          <p:nvPr/>
        </p:nvPicPr>
        <p:blipFill>
          <a:blip xmlns:r="http://schemas.openxmlformats.org/officeDocument/2006/relationships" xmlns:a="http://schemas.openxmlformats.org/drawingml/2006/main" r:embed="R7ded27e975a94ad5"/>
          <a:stretch xmlns:a="http://schemas.openxmlformats.org/drawingml/2006/main">
            <a:fillRect l="0" t="0" r="0" b="0"/>
          </a:stretch>
        </p:blipFill>
        <p:spPr>
          <a:xfrm xmlns:a="http://schemas.openxmlformats.org/drawingml/2006/main">
            <a:off x="9464040" y="6309360"/>
            <a:ext cx="2212848" cy="384048"/>
          </a:xfrm>
          <a:prstGeom xmlns:a="http://schemas.openxmlformats.org/drawingml/2006/main" prst="rect">
            <a:avLst/>
          </a:prstGeom>
        </p:spPr>
      </p:pic>
    </p:spTree>
    <p:extLst>
      <p:ext uri="{BB962C8B-B14F-4D97-AF65-F5344CB8AC3E}">
        <p14:creationId xmlns:p14="http://schemas.microsoft.com/office/powerpoint/2010/main" val="194886208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FROM REVIEWS TO DECISIONS</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Why analyze hotel reviews?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02</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Project text 5">
            <a:extLst xmlns:a="http://schemas.openxmlformats.org/drawingml/2006/main">
              <a:ext uri="{FF2B5EF4-FFF2-40B4-BE49-F238E27FC236}">
                <a16:creationId xmlns:a16="http://schemas.microsoft.com/office/drawing/2014/main" id="{D8206B7E-0BAC-4513-A87B-F28C4792E65F}"/>
              </a:ext>
            </a:extLst>
          </p:cNvPr>
          <p:cNvSpPr>
            <a:spLocks xmlns:a="http://schemas.openxmlformats.org/drawingml/2006/main" noGrp="1"/>
          </p:cNvSpPr>
          <p:nvPr/>
        </p:nvSpPr>
        <p:spPr>
          <a:xfrm xmlns:a="http://schemas.openxmlformats.org/drawingml/2006/main">
            <a:off x="895350" y="191452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11111"/>
                </a:solidFill>
                <a:latin typeface="Arial"/>
                <a:ea typeface="Arial"/>
                <a:cs typeface="Arial"/>
              </a:defRPr>
            </a:pPr>
            <a:r>
              <a:rPr sz="2400" b="1">
                <a:solidFill>
                  <a:srgbClr val="111111"/>
                </a:solidFill>
                <a:latin typeface="Arial"/>
                <a:ea typeface="Arial"/>
                <a:cs typeface="Arial"/>
              </a:rPr>
              <a:t>Reading reviews one by one takes time.</a:t>
            </a:r>
          </a:p>
        </p:txBody>
      </p:sp>
      <p:sp>
        <p:nvSpPr>
          <p:cNvPr id="8" name="">
            <a:extLst xmlns:a="http://schemas.openxmlformats.org/drawingml/2006/main">
              <a:ext uri="{FF2B5EF4-FFF2-40B4-BE49-F238E27FC236}">
                <a16:creationId xmlns:a16="http://schemas.microsoft.com/office/drawing/2014/main" id="{BFABDA5B-0938-4232-842C-A193B5D338CF}"/>
              </a:ext>
            </a:extLst>
          </p:cNvPr>
          <p:cNvSpPr>
            <a:spLocks xmlns:a="http://schemas.openxmlformats.org/drawingml/2006/main" noGrp="1"/>
          </p:cNvSpPr>
          <p:nvPr/>
        </p:nvSpPr>
        <p:spPr>
          <a:xfrm xmlns:a="http://schemas.openxmlformats.org/drawingml/2006/main">
            <a:off x="895350" y="2752725"/>
            <a:ext cx="4238625" cy="2352675"/>
          </a:xfrm>
          <a:prstGeom xmlns:a="http://schemas.openxmlformats.org/drawingml/2006/main" prst="rect">
            <a:avLst/>
          </a:prstGeom>
          <a:solidFill xmlns:a="http://schemas.openxmlformats.org/drawingml/2006/main">
            <a:srgbClr val="F3F5F8"/>
          </a:solidFill>
          <a:ln xmlns:a="http://schemas.openxmlformats.org/drawingml/2006/main" w="9525">
            <a:solidFill>
              <a:srgbClr val="C8CED6"/>
            </a:solidFill>
          </a:ln>
        </p:spPr>
      </p:sp>
      <p:sp>
        <p:nvSpPr>
          <p:cNvPr id="9" name="Project text 7">
            <a:extLst xmlns:a="http://schemas.openxmlformats.org/drawingml/2006/main">
              <a:ext uri="{FF2B5EF4-FFF2-40B4-BE49-F238E27FC236}">
                <a16:creationId xmlns:a16="http://schemas.microsoft.com/office/drawing/2014/main" id="{2A9023B9-A559-415F-B6BA-F0DDE9FB4DBA}"/>
              </a:ext>
            </a:extLst>
          </p:cNvPr>
          <p:cNvSpPr>
            <a:spLocks xmlns:a="http://schemas.openxmlformats.org/drawingml/2006/main" noGrp="1"/>
          </p:cNvSpPr>
          <p:nvPr/>
        </p:nvSpPr>
        <p:spPr>
          <a:xfrm xmlns:a="http://schemas.openxmlformats.org/drawingml/2006/main">
            <a:off x="1085850" y="2924175"/>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646B73"/>
                </a:solidFill>
                <a:latin typeface="Arial"/>
                <a:ea typeface="Arial"/>
                <a:cs typeface="Arial"/>
              </a:defRPr>
            </a:pPr>
            <a:r>
              <a:rPr sz="1950" b="1">
                <a:solidFill>
                  <a:srgbClr val="646B73"/>
                </a:solidFill>
                <a:latin typeface="Arial"/>
                <a:ea typeface="Arial"/>
                <a:cs typeface="Arial"/>
              </a:rPr>
              <a:t>Many individual reviews</a:t>
            </a:r>
          </a:p>
        </p:txBody>
      </p:sp>
      <p:sp>
        <p:nvSpPr>
          <p:cNvPr id="10" name="Project text 8">
            <a:extLst xmlns:a="http://schemas.openxmlformats.org/drawingml/2006/main">
              <a:ext uri="{FF2B5EF4-FFF2-40B4-BE49-F238E27FC236}">
                <a16:creationId xmlns:a16="http://schemas.microsoft.com/office/drawing/2014/main" id="{8E2E6B8D-B1DA-485C-8455-380C334A02BC}"/>
              </a:ext>
            </a:extLst>
          </p:cNvPr>
          <p:cNvSpPr>
            <a:spLocks xmlns:a="http://schemas.openxmlformats.org/drawingml/2006/main" noGrp="1"/>
          </p:cNvSpPr>
          <p:nvPr/>
        </p:nvSpPr>
        <p:spPr>
          <a:xfrm xmlns:a="http://schemas.openxmlformats.org/drawingml/2006/main">
            <a:off x="1085850" y="3514725"/>
            <a:ext cx="38576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11111"/>
                </a:solidFill>
                <a:latin typeface="Arial"/>
                <a:ea typeface="Noto Sans CJK SC"/>
                <a:cs typeface="Noto Sans CJK SC"/>
              </a:defRPr>
            </a:pPr>
            <a:r>
              <a:rPr sz="1950" b="0">
                <a:solidFill>
                  <a:srgbClr val="111111"/>
                </a:solidFill>
                <a:latin typeface="Arial"/>
                <a:ea typeface="Noto Sans CJK SC"/>
                <a:cs typeface="Noto Sans CJK SC"/>
              </a:rPr>
              <a:t>“房间很干净，但晚上很吵。”</a:t>
            </a:r>
          </a:p>
          <a:p xmlns:a="http://schemas.openxmlformats.org/drawingml/2006/main">
            <a:pPr>
              <a:defRPr sz="1950" b="0">
                <a:solidFill>
                  <a:srgbClr val="111111"/>
                </a:solidFill>
                <a:latin typeface="Arial"/>
                <a:ea typeface="Noto Sans CJK SC"/>
                <a:cs typeface="Noto Sans CJK SC"/>
              </a:defRPr>
            </a:pPr>
            <a:r>
              <a:rPr sz="1950" b="0">
                <a:solidFill>
                  <a:srgbClr val="111111"/>
                </a:solidFill>
                <a:latin typeface="Arial"/>
                <a:ea typeface="Noto Sans CJK SC"/>
                <a:cs typeface="Noto Sans CJK SC"/>
              </a:rPr>
              <a:t>“地铁很近，前台态度一般。”</a:t>
            </a:r>
          </a:p>
          <a:p xmlns:a="http://schemas.openxmlformats.org/drawingml/2006/main">
            <a:pPr>
              <a:defRPr sz="1950" b="0">
                <a:solidFill>
                  <a:srgbClr val="111111"/>
                </a:solidFill>
                <a:latin typeface="Arial"/>
                <a:ea typeface="Noto Sans CJK SC"/>
                <a:cs typeface="Noto Sans CJK SC"/>
              </a:defRPr>
            </a:pPr>
            <a:r>
              <a:rPr sz="1950" b="0">
                <a:solidFill>
                  <a:srgbClr val="111111"/>
                </a:solidFill>
                <a:latin typeface="Arial"/>
                <a:ea typeface="Noto Sans CJK SC"/>
                <a:cs typeface="Noto Sans CJK SC"/>
              </a:rPr>
              <a:t>“床很舒服，隔音需要改善。”</a:t>
            </a:r>
          </a:p>
        </p:txBody>
      </p:sp>
      <p:sp>
        <p:nvSpPr>
          <p:cNvPr id="11" name="Project text 9">
            <a:extLst xmlns:a="http://schemas.openxmlformats.org/drawingml/2006/main">
              <a:ext uri="{FF2B5EF4-FFF2-40B4-BE49-F238E27FC236}">
                <a16:creationId xmlns:a16="http://schemas.microsoft.com/office/drawing/2014/main" id="{075C7D72-4045-4875-B4DE-BBFB93CDDD10}"/>
              </a:ext>
            </a:extLst>
          </p:cNvPr>
          <p:cNvSpPr>
            <a:spLocks xmlns:a="http://schemas.openxmlformats.org/drawingml/2006/main" noGrp="1"/>
          </p:cNvSpPr>
          <p:nvPr/>
        </p:nvSpPr>
        <p:spPr>
          <a:xfrm xmlns:a="http://schemas.openxmlformats.org/drawingml/2006/main">
            <a:off x="5295900" y="3619500"/>
            <a:ext cx="628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75" b="1">
                <a:solidFill>
                  <a:srgbClr val="E30613"/>
                </a:solidFill>
                <a:latin typeface="Arial"/>
                <a:ea typeface="Arial"/>
                <a:cs typeface="Arial"/>
              </a:defRPr>
            </a:pPr>
            <a:r>
              <a:rPr sz="3675" b="1">
                <a:solidFill>
                  <a:srgbClr val="E3061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631908C7-C099-4AD4-A0F7-FC3E7B438B4B}"/>
              </a:ext>
            </a:extLst>
          </p:cNvPr>
          <p:cNvSpPr>
            <a:spLocks xmlns:a="http://schemas.openxmlformats.org/drawingml/2006/main" noGrp="1"/>
          </p:cNvSpPr>
          <p:nvPr/>
        </p:nvSpPr>
        <p:spPr>
          <a:xfrm xmlns:a="http://schemas.openxmlformats.org/drawingml/2006/main">
            <a:off x="6124575" y="2752725"/>
            <a:ext cx="5153025" cy="2352675"/>
          </a:xfrm>
          <a:prstGeom xmlns:a="http://schemas.openxmlformats.org/drawingml/2006/main" prst="rect">
            <a:avLst/>
          </a:prstGeom>
          <a:solidFill xmlns:a="http://schemas.openxmlformats.org/drawingml/2006/main">
            <a:srgbClr val="EDF2FF"/>
          </a:solidFill>
          <a:ln xmlns:a="http://schemas.openxmlformats.org/drawingml/2006/main" w="9525">
            <a:solidFill>
              <a:srgbClr val="C8CED6"/>
            </a:solidFill>
          </a:ln>
        </p:spPr>
      </p:sp>
      <p:sp>
        <p:nvSpPr>
          <p:cNvPr id="13" name="Project text 11">
            <a:extLst xmlns:a="http://schemas.openxmlformats.org/drawingml/2006/main">
              <a:ext uri="{FF2B5EF4-FFF2-40B4-BE49-F238E27FC236}">
                <a16:creationId xmlns:a16="http://schemas.microsoft.com/office/drawing/2014/main" id="{4B95D73B-9009-4937-ADF6-2F6772C6EEBF}"/>
              </a:ext>
            </a:extLst>
          </p:cNvPr>
          <p:cNvSpPr>
            <a:spLocks xmlns:a="http://schemas.openxmlformats.org/drawingml/2006/main" noGrp="1"/>
          </p:cNvSpPr>
          <p:nvPr/>
        </p:nvSpPr>
        <p:spPr>
          <a:xfrm xmlns:a="http://schemas.openxmlformats.org/drawingml/2006/main">
            <a:off x="6343650" y="2924175"/>
            <a:ext cx="4619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861FF"/>
                </a:solidFill>
                <a:latin typeface="Arial"/>
                <a:ea typeface="Arial"/>
                <a:cs typeface="Arial"/>
              </a:defRPr>
            </a:pPr>
            <a:r>
              <a:rPr sz="1950" b="1">
                <a:solidFill>
                  <a:srgbClr val="2861FF"/>
                </a:solidFill>
                <a:latin typeface="Arial"/>
                <a:ea typeface="Arial"/>
                <a:cs typeface="Arial"/>
              </a:rPr>
              <a:t>One visual summary</a:t>
            </a:r>
          </a:p>
        </p:txBody>
      </p:sp>
      <p:sp>
        <p:nvSpPr>
          <p:cNvPr id="14" name="Project text 12">
            <a:extLst xmlns:a="http://schemas.openxmlformats.org/drawingml/2006/main">
              <a:ext uri="{FF2B5EF4-FFF2-40B4-BE49-F238E27FC236}">
                <a16:creationId xmlns:a16="http://schemas.microsoft.com/office/drawing/2014/main" id="{BE6340E6-68CB-4B80-A0CC-386AAED74278}"/>
              </a:ext>
            </a:extLst>
          </p:cNvPr>
          <p:cNvSpPr>
            <a:spLocks xmlns:a="http://schemas.openxmlformats.org/drawingml/2006/main" noGrp="1"/>
          </p:cNvSpPr>
          <p:nvPr/>
        </p:nvSpPr>
        <p:spPr>
          <a:xfrm xmlns:a="http://schemas.openxmlformats.org/drawingml/2006/main">
            <a:off x="6343650" y="3514725"/>
            <a:ext cx="2257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Cleanliness</a:t>
            </a:r>
          </a:p>
        </p:txBody>
      </p:sp>
      <p:sp>
        <p:nvSpPr>
          <p:cNvPr id="15" name="">
            <a:extLst xmlns:a="http://schemas.openxmlformats.org/drawingml/2006/main">
              <a:ext uri="{FF2B5EF4-FFF2-40B4-BE49-F238E27FC236}">
                <a16:creationId xmlns:a16="http://schemas.microsoft.com/office/drawing/2014/main" id="{4C168314-155E-49E7-A2A9-418576B2FDF0}"/>
              </a:ext>
            </a:extLst>
          </p:cNvPr>
          <p:cNvSpPr>
            <a:spLocks xmlns:a="http://schemas.openxmlformats.org/drawingml/2006/main" noGrp="1"/>
          </p:cNvSpPr>
          <p:nvPr/>
        </p:nvSpPr>
        <p:spPr>
          <a:xfrm xmlns:a="http://schemas.openxmlformats.org/drawingml/2006/main">
            <a:off x="8667750" y="3562350"/>
            <a:ext cx="971550" cy="209550"/>
          </a:xfrm>
          <a:prstGeom xmlns:a="http://schemas.openxmlformats.org/drawingml/2006/main" prst="rect">
            <a:avLst/>
          </a:prstGeom>
          <a:solidFill xmlns:a="http://schemas.openxmlformats.org/drawingml/2006/main">
            <a:srgbClr val="008D4C"/>
          </a:solidFill>
          <a:ln xmlns:a="http://schemas.openxmlformats.org/drawingml/2006/main" w="9525">
            <a:solidFill>
              <a:srgbClr val="008D4C"/>
            </a:solidFill>
          </a:ln>
        </p:spPr>
      </p:sp>
      <p:sp>
        <p:nvSpPr>
          <p:cNvPr id="16" name="Project text 14">
            <a:extLst xmlns:a="http://schemas.openxmlformats.org/drawingml/2006/main">
              <a:ext uri="{FF2B5EF4-FFF2-40B4-BE49-F238E27FC236}">
                <a16:creationId xmlns:a16="http://schemas.microsoft.com/office/drawing/2014/main" id="{813B9BF3-3D34-42F9-8AAA-AF67FFBF8320}"/>
              </a:ext>
            </a:extLst>
          </p:cNvPr>
          <p:cNvSpPr>
            <a:spLocks xmlns:a="http://schemas.openxmlformats.org/drawingml/2006/main" noGrp="1"/>
          </p:cNvSpPr>
          <p:nvPr/>
        </p:nvSpPr>
        <p:spPr>
          <a:xfrm xmlns:a="http://schemas.openxmlformats.org/drawingml/2006/main">
            <a:off x="9744075" y="3505200"/>
            <a:ext cx="145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008D4C"/>
                </a:solidFill>
                <a:latin typeface="Arial"/>
                <a:ea typeface="Arial"/>
                <a:cs typeface="Arial"/>
              </a:defRPr>
            </a:pPr>
            <a:r>
              <a:rPr sz="1575" b="1">
                <a:solidFill>
                  <a:srgbClr val="008D4C"/>
                </a:solidFill>
                <a:latin typeface="Arial"/>
                <a:ea typeface="Arial"/>
                <a:cs typeface="Arial"/>
              </a:rPr>
              <a:t>Positive</a:t>
            </a:r>
          </a:p>
        </p:txBody>
      </p:sp>
      <p:sp>
        <p:nvSpPr>
          <p:cNvPr id="17" name="Project text 15">
            <a:extLst xmlns:a="http://schemas.openxmlformats.org/drawingml/2006/main">
              <a:ext uri="{FF2B5EF4-FFF2-40B4-BE49-F238E27FC236}">
                <a16:creationId xmlns:a16="http://schemas.microsoft.com/office/drawing/2014/main" id="{503384EA-7FF9-47F4-A93B-462A1AB29E2E}"/>
              </a:ext>
            </a:extLst>
          </p:cNvPr>
          <p:cNvSpPr>
            <a:spLocks xmlns:a="http://schemas.openxmlformats.org/drawingml/2006/main" noGrp="1"/>
          </p:cNvSpPr>
          <p:nvPr/>
        </p:nvSpPr>
        <p:spPr>
          <a:xfrm xmlns:a="http://schemas.openxmlformats.org/drawingml/2006/main">
            <a:off x="6343650" y="3981450"/>
            <a:ext cx="2257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Sound insulation</a:t>
            </a:r>
          </a:p>
        </p:txBody>
      </p:sp>
      <p:sp>
        <p:nvSpPr>
          <p:cNvPr id="18" name="">
            <a:extLst xmlns:a="http://schemas.openxmlformats.org/drawingml/2006/main">
              <a:ext uri="{FF2B5EF4-FFF2-40B4-BE49-F238E27FC236}">
                <a16:creationId xmlns:a16="http://schemas.microsoft.com/office/drawing/2014/main" id="{86CE76AF-684B-44DA-9EBA-DE8BAE60623C}"/>
              </a:ext>
            </a:extLst>
          </p:cNvPr>
          <p:cNvSpPr>
            <a:spLocks xmlns:a="http://schemas.openxmlformats.org/drawingml/2006/main" noGrp="1"/>
          </p:cNvSpPr>
          <p:nvPr/>
        </p:nvSpPr>
        <p:spPr>
          <a:xfrm xmlns:a="http://schemas.openxmlformats.org/drawingml/2006/main">
            <a:off x="8667750" y="4029075"/>
            <a:ext cx="971550" cy="209550"/>
          </a:xfrm>
          <a:prstGeom xmlns:a="http://schemas.openxmlformats.org/drawingml/2006/main" prst="rect">
            <a:avLst/>
          </a:prstGeom>
          <a:solidFill xmlns:a="http://schemas.openxmlformats.org/drawingml/2006/main">
            <a:srgbClr val="E30613"/>
          </a:solidFill>
          <a:ln xmlns:a="http://schemas.openxmlformats.org/drawingml/2006/main" w="9525">
            <a:solidFill>
              <a:srgbClr val="E30613"/>
            </a:solidFill>
          </a:ln>
        </p:spPr>
      </p:sp>
      <p:sp>
        <p:nvSpPr>
          <p:cNvPr id="19" name="Project text 17">
            <a:extLst xmlns:a="http://schemas.openxmlformats.org/drawingml/2006/main">
              <a:ext uri="{FF2B5EF4-FFF2-40B4-BE49-F238E27FC236}">
                <a16:creationId xmlns:a16="http://schemas.microsoft.com/office/drawing/2014/main" id="{BA019FA6-6C1F-4943-9959-AA20886E4F2B}"/>
              </a:ext>
            </a:extLst>
          </p:cNvPr>
          <p:cNvSpPr>
            <a:spLocks xmlns:a="http://schemas.openxmlformats.org/drawingml/2006/main" noGrp="1"/>
          </p:cNvSpPr>
          <p:nvPr/>
        </p:nvSpPr>
        <p:spPr>
          <a:xfrm xmlns:a="http://schemas.openxmlformats.org/drawingml/2006/main">
            <a:off x="9744075" y="3971925"/>
            <a:ext cx="145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E30613"/>
                </a:solidFill>
                <a:latin typeface="Arial"/>
                <a:ea typeface="Arial"/>
                <a:cs typeface="Arial"/>
              </a:defRPr>
            </a:pPr>
            <a:r>
              <a:rPr sz="1575" b="1">
                <a:solidFill>
                  <a:srgbClr val="E30613"/>
                </a:solidFill>
                <a:latin typeface="Arial"/>
                <a:ea typeface="Arial"/>
                <a:cs typeface="Arial"/>
              </a:rPr>
              <a:t>Negative</a:t>
            </a:r>
          </a:p>
        </p:txBody>
      </p:sp>
      <p:sp>
        <p:nvSpPr>
          <p:cNvPr id="20" name="Project text 18">
            <a:extLst xmlns:a="http://schemas.openxmlformats.org/drawingml/2006/main">
              <a:ext uri="{FF2B5EF4-FFF2-40B4-BE49-F238E27FC236}">
                <a16:creationId xmlns:a16="http://schemas.microsoft.com/office/drawing/2014/main" id="{E1FD84B4-C146-449B-8798-754945335706}"/>
              </a:ext>
            </a:extLst>
          </p:cNvPr>
          <p:cNvSpPr>
            <a:spLocks xmlns:a="http://schemas.openxmlformats.org/drawingml/2006/main" noGrp="1"/>
          </p:cNvSpPr>
          <p:nvPr/>
        </p:nvSpPr>
        <p:spPr>
          <a:xfrm xmlns:a="http://schemas.openxmlformats.org/drawingml/2006/main">
            <a:off x="6343650" y="4448175"/>
            <a:ext cx="2257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Location</a:t>
            </a:r>
          </a:p>
        </p:txBody>
      </p:sp>
      <p:sp>
        <p:nvSpPr>
          <p:cNvPr id="21" name="">
            <a:extLst xmlns:a="http://schemas.openxmlformats.org/drawingml/2006/main">
              <a:ext uri="{FF2B5EF4-FFF2-40B4-BE49-F238E27FC236}">
                <a16:creationId xmlns:a16="http://schemas.microsoft.com/office/drawing/2014/main" id="{F0B1F1CD-A410-46C2-9932-E3B6B503A158}"/>
              </a:ext>
            </a:extLst>
          </p:cNvPr>
          <p:cNvSpPr>
            <a:spLocks xmlns:a="http://schemas.openxmlformats.org/drawingml/2006/main" noGrp="1"/>
          </p:cNvSpPr>
          <p:nvPr/>
        </p:nvSpPr>
        <p:spPr>
          <a:xfrm xmlns:a="http://schemas.openxmlformats.org/drawingml/2006/main">
            <a:off x="8667750" y="4495800"/>
            <a:ext cx="971550" cy="209550"/>
          </a:xfrm>
          <a:prstGeom xmlns:a="http://schemas.openxmlformats.org/drawingml/2006/main" prst="rect">
            <a:avLst/>
          </a:prstGeom>
          <a:solidFill xmlns:a="http://schemas.openxmlformats.org/drawingml/2006/main">
            <a:srgbClr val="008D4C"/>
          </a:solidFill>
          <a:ln xmlns:a="http://schemas.openxmlformats.org/drawingml/2006/main" w="9525">
            <a:solidFill>
              <a:srgbClr val="008D4C"/>
            </a:solidFill>
          </a:ln>
        </p:spPr>
      </p:sp>
      <p:sp>
        <p:nvSpPr>
          <p:cNvPr id="22" name="Project text 20">
            <a:extLst xmlns:a="http://schemas.openxmlformats.org/drawingml/2006/main">
              <a:ext uri="{FF2B5EF4-FFF2-40B4-BE49-F238E27FC236}">
                <a16:creationId xmlns:a16="http://schemas.microsoft.com/office/drawing/2014/main" id="{94FAE40B-79D4-4563-B6F7-C676E114D3B7}"/>
              </a:ext>
            </a:extLst>
          </p:cNvPr>
          <p:cNvSpPr>
            <a:spLocks xmlns:a="http://schemas.openxmlformats.org/drawingml/2006/main" noGrp="1"/>
          </p:cNvSpPr>
          <p:nvPr/>
        </p:nvSpPr>
        <p:spPr>
          <a:xfrm xmlns:a="http://schemas.openxmlformats.org/drawingml/2006/main">
            <a:off x="9744075" y="4438650"/>
            <a:ext cx="145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008D4C"/>
                </a:solidFill>
                <a:latin typeface="Arial"/>
                <a:ea typeface="Arial"/>
                <a:cs typeface="Arial"/>
              </a:defRPr>
            </a:pPr>
            <a:r>
              <a:rPr sz="1575" b="1">
                <a:solidFill>
                  <a:srgbClr val="008D4C"/>
                </a:solidFill>
                <a:latin typeface="Arial"/>
                <a:ea typeface="Arial"/>
                <a:cs typeface="Arial"/>
              </a:rPr>
              <a:t>Positive</a:t>
            </a:r>
          </a:p>
        </p:txBody>
      </p:sp>
      <p:sp>
        <p:nvSpPr>
          <p:cNvPr id="23" name="Project text 21">
            <a:extLst xmlns:a="http://schemas.openxmlformats.org/drawingml/2006/main">
              <a:ext uri="{FF2B5EF4-FFF2-40B4-BE49-F238E27FC236}">
                <a16:creationId xmlns:a16="http://schemas.microsoft.com/office/drawing/2014/main" id="{2C853B1D-F194-460B-8473-923CD1962F79}"/>
              </a:ext>
            </a:extLst>
          </p:cNvPr>
          <p:cNvSpPr>
            <a:spLocks xmlns:a="http://schemas.openxmlformats.org/drawingml/2006/main" noGrp="1"/>
          </p:cNvSpPr>
          <p:nvPr/>
        </p:nvSpPr>
        <p:spPr>
          <a:xfrm xmlns:a="http://schemas.openxmlformats.org/drawingml/2006/main">
            <a:off x="895350" y="538162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2861FF"/>
                </a:solidFill>
                <a:latin typeface="Arial"/>
                <a:ea typeface="Arial"/>
                <a:cs typeface="Arial"/>
              </a:defRPr>
            </a:pPr>
            <a:r>
              <a:rPr sz="2025" b="1">
                <a:solidFill>
                  <a:srgbClr val="2861FF"/>
                </a:solidFill>
                <a:latin typeface="Arial"/>
                <a:ea typeface="Arial"/>
                <a:cs typeface="Arial"/>
              </a:rPr>
              <a:t>Extract aspects + sentiment to compare strengths and recurring problems.</a:t>
            </a:r>
          </a:p>
        </p:txBody>
      </p:sp>
      <p:sp>
        <p:nvSpPr>
          <p:cNvPr id="24" name="Project text 22">
            <a:extLst xmlns:a="http://schemas.openxmlformats.org/drawingml/2006/main">
              <a:ext uri="{FF2B5EF4-FFF2-40B4-BE49-F238E27FC236}">
                <a16:creationId xmlns:a16="http://schemas.microsoft.com/office/drawing/2014/main" id="{271B4E7C-76CD-4266-985A-0B0ADE8ADEBD}"/>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A visual summary helps people make hotel-booking decisions faster.</a:t>
            </a:r>
          </a:p>
        </p:txBody>
      </p:sp>
    </p:spTree>
    <p:extLst>
      <p:ext uri="{BB962C8B-B14F-4D97-AF65-F5344CB8AC3E}">
        <p14:creationId xmlns:p14="http://schemas.microsoft.com/office/powerpoint/2010/main" val="49144901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TASK</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The project</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03</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Project text 5">
            <a:extLst xmlns:a="http://schemas.openxmlformats.org/drawingml/2006/main">
              <a:ext uri="{FF2B5EF4-FFF2-40B4-BE49-F238E27FC236}">
                <a16:creationId xmlns:a16="http://schemas.microsoft.com/office/drawing/2014/main" id="{306AFC9B-5072-43CB-99D8-1D2562904483}"/>
              </a:ext>
            </a:extLst>
          </p:cNvPr>
          <p:cNvSpPr>
            <a:spLocks xmlns:a="http://schemas.openxmlformats.org/drawingml/2006/main" noGrp="1"/>
          </p:cNvSpPr>
          <p:nvPr/>
        </p:nvSpPr>
        <p:spPr>
          <a:xfrm xmlns:a="http://schemas.openxmlformats.org/drawingml/2006/main">
            <a:off x="895350" y="195262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11111"/>
                </a:solidFill>
                <a:latin typeface="Arial"/>
                <a:ea typeface="Arial"/>
                <a:cs typeface="Arial"/>
              </a:defRPr>
            </a:pPr>
            <a:r>
              <a:rPr sz="2400" b="1">
                <a:solidFill>
                  <a:srgbClr val="111111"/>
                </a:solidFill>
                <a:latin typeface="Arial"/>
                <a:ea typeface="Arial"/>
                <a:cs typeface="Arial"/>
              </a:rPr>
              <a:t>A user signs in and pastes a hotel review.</a:t>
            </a:r>
          </a:p>
        </p:txBody>
      </p:sp>
      <p:sp>
        <p:nvSpPr>
          <p:cNvPr id="8" name="Project text 6">
            <a:extLst xmlns:a="http://schemas.openxmlformats.org/drawingml/2006/main">
              <a:ext uri="{FF2B5EF4-FFF2-40B4-BE49-F238E27FC236}">
                <a16:creationId xmlns:a16="http://schemas.microsoft.com/office/drawing/2014/main" id="{7BF3E79A-9DAE-4CBA-81DE-3081AC9BA9A2}"/>
              </a:ext>
            </a:extLst>
          </p:cNvPr>
          <p:cNvSpPr>
            <a:spLocks xmlns:a="http://schemas.openxmlformats.org/drawingml/2006/main" noGrp="1"/>
          </p:cNvSpPr>
          <p:nvPr/>
        </p:nvSpPr>
        <p:spPr>
          <a:xfrm xmlns:a="http://schemas.openxmlformats.org/drawingml/2006/main">
            <a:off x="895350" y="2714625"/>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11111"/>
                </a:solidFill>
                <a:latin typeface="Arial"/>
                <a:ea typeface="Arial"/>
                <a:cs typeface="Arial"/>
              </a:defRPr>
            </a:pPr>
            <a:r>
              <a:rPr sz="2175" b="0">
                <a:solidFill>
                  <a:srgbClr val="111111"/>
                </a:solidFill>
                <a:latin typeface="Arial"/>
                <a:ea typeface="Arial"/>
                <a:cs typeface="Arial"/>
              </a:rPr>
              <a:t>Your application identifies each aspect and its sentiment,</a:t>
            </a:r>
          </a:p>
          <a:p xmlns:a="http://schemas.openxmlformats.org/drawingml/2006/main">
            <a:pPr>
              <a:defRPr sz="2175" b="0">
                <a:solidFill>
                  <a:srgbClr val="111111"/>
                </a:solidFill>
                <a:latin typeface="Arial"/>
                <a:ea typeface="Arial"/>
                <a:cs typeface="Arial"/>
              </a:defRPr>
            </a:pPr>
            <a:r>
              <a:rPr sz="2175" b="0">
                <a:solidFill>
                  <a:srgbClr val="111111"/>
                </a:solidFill>
                <a:latin typeface="Arial"/>
                <a:ea typeface="Arial"/>
                <a:cs typeface="Arial"/>
              </a:rPr>
              <a:t>then displays review-level scores with supporting sentences.</a:t>
            </a:r>
          </a:p>
        </p:txBody>
      </p:sp>
      <p:sp>
        <p:nvSpPr>
          <p:cNvPr id="9" name="Project text 7">
            <a:extLst xmlns:a="http://schemas.openxmlformats.org/drawingml/2006/main">
              <a:ext uri="{FF2B5EF4-FFF2-40B4-BE49-F238E27FC236}">
                <a16:creationId xmlns:a16="http://schemas.microsoft.com/office/drawing/2014/main" id="{49FA3F72-1F9E-4C0F-8C84-3D793701A2B8}"/>
              </a:ext>
            </a:extLst>
          </p:cNvPr>
          <p:cNvSpPr>
            <a:spLocks xmlns:a="http://schemas.openxmlformats.org/drawingml/2006/main" noGrp="1"/>
          </p:cNvSpPr>
          <p:nvPr/>
        </p:nvSpPr>
        <p:spPr>
          <a:xfrm xmlns:a="http://schemas.openxmlformats.org/drawingml/2006/main">
            <a:off x="895350" y="398145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111111"/>
                </a:solidFill>
                <a:latin typeface="Arial"/>
                <a:ea typeface="Noto Sans CJK SC"/>
                <a:cs typeface="Noto Sans CJK SC"/>
              </a:defRPr>
            </a:pPr>
            <a:r>
              <a:rPr sz="2475" b="0">
                <a:solidFill>
                  <a:srgbClr val="111111"/>
                </a:solidFill>
                <a:latin typeface="Arial"/>
                <a:ea typeface="Noto Sans CJK SC"/>
                <a:cs typeface="Noto Sans CJK SC"/>
              </a:rPr>
              <a:t>房间很干净，但是前台态度不好。</a:t>
            </a:r>
          </a:p>
        </p:txBody>
      </p:sp>
      <p:graphicFrame>
        <p:nvGraphicFramePr>
          <p:cNvPr id="20" name=""/>
          <p:cNvGraphicFramePr/>
          <p:nvPr/>
        </p:nvGraphicFramePr>
        <p:xfrm>
          <a:off xmlns:a="http://schemas.openxmlformats.org/drawingml/2006/main" x="895350" y="4781550"/>
          <a:ext xmlns:a="http://schemas.openxmlformats.org/drawingml/2006/main" cx="10382250" cy="838200"/>
        </p:xfrm>
        <a:graphic xmlns:a="http://schemas.openxmlformats.org/drawingml/2006/main">
          <a:graphicData uri="http://schemas.openxmlformats.org/drawingml/2006/table">
            <a:tbl>
              <a:tblPr/>
              <a:tblGrid>
                <a:gridCol w="3476625"/>
                <a:gridCol w="3476625"/>
                <a:gridCol w="3429000"/>
              </a:tblGrid>
              <a:tr h="419100">
                <a:tc>
                  <a:txBody>
                    <a:bodyPr/>
                    <a:lstStyle/>
                    <a:p>
                      <a:r>
                        <a:rPr sz="1800" b="1">
                          <a:solidFill>
                            <a:srgbClr val="E30613"/>
                          </a:solidFill>
                          <a:latin typeface="Arial"/>
                          <a:ea typeface="Arial"/>
                          <a:cs typeface="Arial"/>
                        </a:rPr>
                        <a:t>Cleanliness</a:t>
                      </a:r>
                    </a:p>
                  </a:txBody>
                  <a:tcPr marL="76200" marR="76200" marT="38100" marB="38100">
                    <a:solidFill>
                      <a:srgbClr val="FFF0F2"/>
                    </a:solidFill>
                  </a:tcPr>
                </a:tc>
                <a:tc>
                  <a:txBody>
                    <a:bodyPr/>
                    <a:lstStyle/>
                    <a:p>
                      <a:r>
                        <a:rPr sz="1800" b="1">
                          <a:solidFill>
                            <a:srgbClr val="E30613"/>
                          </a:solidFill>
                          <a:latin typeface="Arial"/>
                          <a:ea typeface="Arial"/>
                          <a:cs typeface="Arial"/>
                        </a:rPr>
                        <a:t>Service</a:t>
                      </a:r>
                    </a:p>
                  </a:txBody>
                  <a:tcPr marL="76200" marR="76200" marT="38100" marB="38100">
                    <a:solidFill>
                      <a:srgbClr val="FFF0F2"/>
                    </a:solidFill>
                  </a:tcPr>
                </a:tc>
                <a:tc>
                  <a:txBody>
                    <a:bodyPr/>
                    <a:lstStyle/>
                    <a:p>
                      <a:r>
                        <a:rPr sz="1800" b="1">
                          <a:solidFill>
                            <a:srgbClr val="E30613"/>
                          </a:solidFill>
                          <a:latin typeface="Arial"/>
                          <a:ea typeface="Arial"/>
                          <a:cs typeface="Arial"/>
                        </a:rPr>
                        <a:t>Other aspects</a:t>
                      </a:r>
                    </a:p>
                  </a:txBody>
                  <a:tcPr marL="76200" marR="76200" marT="38100" marB="38100">
                    <a:solidFill>
                      <a:srgbClr val="FFF0F2"/>
                    </a:solidFill>
                  </a:tcPr>
                </a:tc>
              </a:tr>
              <a:tr h="419100">
                <a:tc>
                  <a:txBody>
                    <a:bodyPr/>
                    <a:lstStyle/>
                    <a:p>
                      <a:r>
                        <a:rPr sz="1875" b="0">
                          <a:solidFill>
                            <a:srgbClr val="111111"/>
                          </a:solidFill>
                          <a:latin typeface="Arial"/>
                          <a:ea typeface="Arial"/>
                          <a:cs typeface="Arial"/>
                        </a:rPr>
                        <a:t>Positive</a:t>
                      </a:r>
                    </a:p>
                  </a:txBody>
                  <a:tcPr marL="76200" marR="76200" marT="38100" marB="38100">
                    <a:solidFill>
                      <a:srgbClr val="FFFFFF"/>
                    </a:solidFill>
                  </a:tcPr>
                </a:tc>
                <a:tc>
                  <a:txBody>
                    <a:bodyPr/>
                    <a:lstStyle/>
                    <a:p>
                      <a:r>
                        <a:rPr sz="1875" b="0">
                          <a:solidFill>
                            <a:srgbClr val="111111"/>
                          </a:solidFill>
                          <a:latin typeface="Arial"/>
                          <a:ea typeface="Arial"/>
                          <a:cs typeface="Arial"/>
                        </a:rPr>
                        <a:t>Negative</a:t>
                      </a:r>
                    </a:p>
                  </a:txBody>
                  <a:tcPr marL="76200" marR="76200" marT="38100" marB="38100">
                    <a:solidFill>
                      <a:srgbClr val="FFFFFF"/>
                    </a:solidFill>
                  </a:tcPr>
                </a:tc>
                <a:tc>
                  <a:txBody>
                    <a:bodyPr/>
                    <a:lstStyle/>
                    <a:p>
                      <a:r>
                        <a:rPr sz="1875" b="0">
                          <a:solidFill>
                            <a:srgbClr val="111111"/>
                          </a:solidFill>
                          <a:latin typeface="Arial"/>
                          <a:ea typeface="Arial"/>
                          <a:cs typeface="Arial"/>
                        </a:rPr>
                        <a:t>Not mentioned</a:t>
                      </a:r>
                    </a:p>
                  </a:txBody>
                  <a:tcPr marL="76200" marR="76200" marT="38100" marB="38100">
                    <a:solidFill>
                      <a:srgbClr val="FFFFFF"/>
                    </a:solidFill>
                  </a:tcPr>
                </a:tc>
              </a:tr>
            </a:tbl>
          </a:graphicData>
        </a:graphic>
      </p:graphicFrame>
      <p:sp>
        <p:nvSpPr>
          <p:cNvPr id="11" name="Project text 8">
            <a:extLst xmlns:a="http://schemas.openxmlformats.org/drawingml/2006/main">
              <a:ext uri="{FF2B5EF4-FFF2-40B4-BE49-F238E27FC236}">
                <a16:creationId xmlns:a16="http://schemas.microsoft.com/office/drawing/2014/main" id="{59A3FE2A-C3CD-4324-B377-5EABD4A0F409}"/>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The trainable classifier must be an MLP. Each student submits a working website.</a:t>
            </a:r>
          </a:p>
        </p:txBody>
      </p:sp>
    </p:spTree>
    <p:extLst>
      <p:ext uri="{BB962C8B-B14F-4D97-AF65-F5344CB8AC3E}">
        <p14:creationId xmlns:p14="http://schemas.microsoft.com/office/powerpoint/2010/main" val="49144901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PROJECT ROADMAP</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The complete workflow</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04</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Project text 5">
            <a:extLst xmlns:a="http://schemas.openxmlformats.org/drawingml/2006/main">
              <a:ext uri="{FF2B5EF4-FFF2-40B4-BE49-F238E27FC236}">
                <a16:creationId xmlns:a16="http://schemas.microsoft.com/office/drawing/2014/main" id="{FEFB4936-D6E5-41C6-917B-3F2F4EF27643}"/>
              </a:ext>
            </a:extLst>
          </p:cNvPr>
          <p:cNvSpPr>
            <a:spLocks xmlns:a="http://schemas.openxmlformats.org/drawingml/2006/main" noGrp="1"/>
          </p:cNvSpPr>
          <p:nvPr/>
        </p:nvSpPr>
        <p:spPr>
          <a:xfrm xmlns:a="http://schemas.openxmlformats.org/drawingml/2006/main">
            <a:off x="895350" y="20002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1">
                <a:solidFill>
                  <a:srgbClr val="E30613"/>
                </a:solidFill>
                <a:latin typeface="Arial"/>
                <a:ea typeface="Arial"/>
                <a:cs typeface="Arial"/>
              </a:defRPr>
            </a:pPr>
            <a:r>
              <a:rPr sz="3375" b="1">
                <a:solidFill>
                  <a:srgbClr val="E30613"/>
                </a:solidFill>
                <a:latin typeface="Arial"/>
                <a:ea typeface="Arial"/>
                <a:cs typeface="Arial"/>
              </a:rPr>
              <a:t>01</a:t>
            </a:r>
          </a:p>
        </p:txBody>
      </p:sp>
      <p:sp>
        <p:nvSpPr>
          <p:cNvPr id="8" name="Project text 6">
            <a:extLst xmlns:a="http://schemas.openxmlformats.org/drawingml/2006/main">
              <a:ext uri="{FF2B5EF4-FFF2-40B4-BE49-F238E27FC236}">
                <a16:creationId xmlns:a16="http://schemas.microsoft.com/office/drawing/2014/main" id="{BD83AD13-E3AC-46CA-8D99-E9ABB471F657}"/>
              </a:ext>
            </a:extLst>
          </p:cNvPr>
          <p:cNvSpPr>
            <a:spLocks xmlns:a="http://schemas.openxmlformats.org/drawingml/2006/main" noGrp="1"/>
          </p:cNvSpPr>
          <p:nvPr/>
        </p:nvSpPr>
        <p:spPr>
          <a:xfrm xmlns:a="http://schemas.openxmlformats.org/drawingml/2006/main">
            <a:off x="895350" y="2714625"/>
            <a:ext cx="2305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1111"/>
                </a:solidFill>
                <a:latin typeface="Arial"/>
                <a:ea typeface="Arial"/>
                <a:cs typeface="Arial"/>
              </a:defRPr>
            </a:pPr>
            <a:r>
              <a:rPr sz="2175" b="1">
                <a:solidFill>
                  <a:srgbClr val="111111"/>
                </a:solidFill>
                <a:latin typeface="Arial"/>
                <a:ea typeface="Arial"/>
                <a:cs typeface="Arial"/>
              </a:rPr>
              <a:t>Explore the data</a:t>
            </a:r>
          </a:p>
        </p:txBody>
      </p:sp>
      <p:sp>
        <p:nvSpPr>
          <p:cNvPr id="9" name="Project text 7">
            <a:extLst xmlns:a="http://schemas.openxmlformats.org/drawingml/2006/main">
              <a:ext uri="{FF2B5EF4-FFF2-40B4-BE49-F238E27FC236}">
                <a16:creationId xmlns:a16="http://schemas.microsoft.com/office/drawing/2014/main" id="{00004DA3-19CB-4C24-B759-D95F54FF02E1}"/>
              </a:ext>
            </a:extLst>
          </p:cNvPr>
          <p:cNvSpPr>
            <a:spLocks xmlns:a="http://schemas.openxmlformats.org/drawingml/2006/main" noGrp="1"/>
          </p:cNvSpPr>
          <p:nvPr/>
        </p:nvSpPr>
        <p:spPr>
          <a:xfrm xmlns:a="http://schemas.openxmlformats.org/drawingml/2006/main">
            <a:off x="895350" y="3743325"/>
            <a:ext cx="23050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Understand embeddings and inspect similar sentences.</a:t>
            </a:r>
          </a:p>
        </p:txBody>
      </p:sp>
      <p:sp>
        <p:nvSpPr>
          <p:cNvPr id="10" name="Project text 8">
            <a:extLst xmlns:a="http://schemas.openxmlformats.org/drawingml/2006/main">
              <a:ext uri="{FF2B5EF4-FFF2-40B4-BE49-F238E27FC236}">
                <a16:creationId xmlns:a16="http://schemas.microsoft.com/office/drawing/2014/main" id="{A78FD193-434B-4DE9-A8D8-E2444E27C710}"/>
              </a:ext>
            </a:extLst>
          </p:cNvPr>
          <p:cNvSpPr>
            <a:spLocks xmlns:a="http://schemas.openxmlformats.org/drawingml/2006/main" noGrp="1"/>
          </p:cNvSpPr>
          <p:nvPr/>
        </p:nvSpPr>
        <p:spPr>
          <a:xfrm xmlns:a="http://schemas.openxmlformats.org/drawingml/2006/main">
            <a:off x="3562350" y="20002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1">
                <a:solidFill>
                  <a:srgbClr val="E30613"/>
                </a:solidFill>
                <a:latin typeface="Arial"/>
                <a:ea typeface="Arial"/>
                <a:cs typeface="Arial"/>
              </a:defRPr>
            </a:pPr>
            <a:r>
              <a:rPr sz="3375" b="1">
                <a:solidFill>
                  <a:srgbClr val="E30613"/>
                </a:solidFill>
                <a:latin typeface="Arial"/>
                <a:ea typeface="Arial"/>
                <a:cs typeface="Arial"/>
              </a:rPr>
              <a:t>02</a:t>
            </a:r>
          </a:p>
        </p:txBody>
      </p:sp>
      <p:sp>
        <p:nvSpPr>
          <p:cNvPr id="11" name="Project text 9">
            <a:extLst xmlns:a="http://schemas.openxmlformats.org/drawingml/2006/main">
              <a:ext uri="{FF2B5EF4-FFF2-40B4-BE49-F238E27FC236}">
                <a16:creationId xmlns:a16="http://schemas.microsoft.com/office/drawing/2014/main" id="{1F6538B4-FDB2-4BF8-A8C2-C26235E2DA7A}"/>
              </a:ext>
            </a:extLst>
          </p:cNvPr>
          <p:cNvSpPr>
            <a:spLocks xmlns:a="http://schemas.openxmlformats.org/drawingml/2006/main" noGrp="1"/>
          </p:cNvSpPr>
          <p:nvPr/>
        </p:nvSpPr>
        <p:spPr>
          <a:xfrm xmlns:a="http://schemas.openxmlformats.org/drawingml/2006/main">
            <a:off x="3562350" y="2714625"/>
            <a:ext cx="2305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1111"/>
                </a:solidFill>
                <a:latin typeface="Arial"/>
                <a:ea typeface="Arial"/>
                <a:cs typeface="Arial"/>
              </a:defRPr>
            </a:pPr>
            <a:r>
              <a:rPr sz="2175" b="1">
                <a:solidFill>
                  <a:srgbClr val="111111"/>
                </a:solidFill>
                <a:latin typeface="Arial"/>
                <a:ea typeface="Arial"/>
                <a:cs typeface="Arial"/>
              </a:rPr>
              <a:t>Create labels</a:t>
            </a:r>
          </a:p>
        </p:txBody>
      </p:sp>
      <p:sp>
        <p:nvSpPr>
          <p:cNvPr id="12" name="Project text 10">
            <a:extLst xmlns:a="http://schemas.openxmlformats.org/drawingml/2006/main">
              <a:ext uri="{FF2B5EF4-FFF2-40B4-BE49-F238E27FC236}">
                <a16:creationId xmlns:a16="http://schemas.microsoft.com/office/drawing/2014/main" id="{3CA50C71-3883-4FC5-8A9F-3DBBF1F679BA}"/>
              </a:ext>
            </a:extLst>
          </p:cNvPr>
          <p:cNvSpPr>
            <a:spLocks xmlns:a="http://schemas.openxmlformats.org/drawingml/2006/main" noGrp="1"/>
          </p:cNvSpPr>
          <p:nvPr/>
        </p:nvSpPr>
        <p:spPr>
          <a:xfrm xmlns:a="http://schemas.openxmlformats.org/drawingml/2006/main">
            <a:off x="3562350" y="3743325"/>
            <a:ext cx="23050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Build an annotation tool and verify suggested labels.</a:t>
            </a:r>
          </a:p>
        </p:txBody>
      </p:sp>
      <p:sp>
        <p:nvSpPr>
          <p:cNvPr id="13" name="Project text 11">
            <a:extLst xmlns:a="http://schemas.openxmlformats.org/drawingml/2006/main">
              <a:ext uri="{FF2B5EF4-FFF2-40B4-BE49-F238E27FC236}">
                <a16:creationId xmlns:a16="http://schemas.microsoft.com/office/drawing/2014/main" id="{60AC213B-9067-4D0C-A5C4-BED21545B831}"/>
              </a:ext>
            </a:extLst>
          </p:cNvPr>
          <p:cNvSpPr>
            <a:spLocks xmlns:a="http://schemas.openxmlformats.org/drawingml/2006/main" noGrp="1"/>
          </p:cNvSpPr>
          <p:nvPr/>
        </p:nvSpPr>
        <p:spPr>
          <a:xfrm xmlns:a="http://schemas.openxmlformats.org/drawingml/2006/main">
            <a:off x="6229350" y="20002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1">
                <a:solidFill>
                  <a:srgbClr val="E30613"/>
                </a:solidFill>
                <a:latin typeface="Arial"/>
                <a:ea typeface="Arial"/>
                <a:cs typeface="Arial"/>
              </a:defRPr>
            </a:pPr>
            <a:r>
              <a:rPr sz="3375" b="1">
                <a:solidFill>
                  <a:srgbClr val="E30613"/>
                </a:solidFill>
                <a:latin typeface="Arial"/>
                <a:ea typeface="Arial"/>
                <a:cs typeface="Arial"/>
              </a:rPr>
              <a:t>03</a:t>
            </a:r>
          </a:p>
        </p:txBody>
      </p:sp>
      <p:sp>
        <p:nvSpPr>
          <p:cNvPr id="14" name="Project text 12">
            <a:extLst xmlns:a="http://schemas.openxmlformats.org/drawingml/2006/main">
              <a:ext uri="{FF2B5EF4-FFF2-40B4-BE49-F238E27FC236}">
                <a16:creationId xmlns:a16="http://schemas.microsoft.com/office/drawing/2014/main" id="{5C32E48C-5853-49F6-A678-CCA19F032BC7}"/>
              </a:ext>
            </a:extLst>
          </p:cNvPr>
          <p:cNvSpPr>
            <a:spLocks xmlns:a="http://schemas.openxmlformats.org/drawingml/2006/main" noGrp="1"/>
          </p:cNvSpPr>
          <p:nvPr/>
        </p:nvSpPr>
        <p:spPr>
          <a:xfrm xmlns:a="http://schemas.openxmlformats.org/drawingml/2006/main">
            <a:off x="6229350" y="2714625"/>
            <a:ext cx="2305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1111"/>
                </a:solidFill>
                <a:latin typeface="Arial"/>
                <a:ea typeface="Arial"/>
                <a:cs typeface="Arial"/>
              </a:defRPr>
            </a:pPr>
            <a:r>
              <a:rPr sz="2175" b="1">
                <a:solidFill>
                  <a:srgbClr val="111111"/>
                </a:solidFill>
                <a:latin typeface="Arial"/>
                <a:ea typeface="Arial"/>
                <a:cs typeface="Arial"/>
              </a:rPr>
              <a:t>Train an MLP</a:t>
            </a:r>
          </a:p>
        </p:txBody>
      </p:sp>
      <p:sp>
        <p:nvSpPr>
          <p:cNvPr id="15" name="Project text 13">
            <a:extLst xmlns:a="http://schemas.openxmlformats.org/drawingml/2006/main">
              <a:ext uri="{FF2B5EF4-FFF2-40B4-BE49-F238E27FC236}">
                <a16:creationId xmlns:a16="http://schemas.microsoft.com/office/drawing/2014/main" id="{B7BA58F7-D148-44C3-9411-54BEC8FBB8D7}"/>
              </a:ext>
            </a:extLst>
          </p:cNvPr>
          <p:cNvSpPr>
            <a:spLocks xmlns:a="http://schemas.openxmlformats.org/drawingml/2006/main" noGrp="1"/>
          </p:cNvSpPr>
          <p:nvPr/>
        </p:nvSpPr>
        <p:spPr>
          <a:xfrm xmlns:a="http://schemas.openxmlformats.org/drawingml/2006/main">
            <a:off x="6229350" y="3743325"/>
            <a:ext cx="23050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Compare architectures and evaluate unseen examples.</a:t>
            </a:r>
          </a:p>
        </p:txBody>
      </p:sp>
      <p:sp>
        <p:nvSpPr>
          <p:cNvPr id="16" name="Project text 14">
            <a:extLst xmlns:a="http://schemas.openxmlformats.org/drawingml/2006/main">
              <a:ext uri="{FF2B5EF4-FFF2-40B4-BE49-F238E27FC236}">
                <a16:creationId xmlns:a16="http://schemas.microsoft.com/office/drawing/2014/main" id="{12C71921-999D-4A49-AEDA-0E74A3B7F368}"/>
              </a:ext>
            </a:extLst>
          </p:cNvPr>
          <p:cNvSpPr>
            <a:spLocks xmlns:a="http://schemas.openxmlformats.org/drawingml/2006/main" noGrp="1"/>
          </p:cNvSpPr>
          <p:nvPr/>
        </p:nvSpPr>
        <p:spPr>
          <a:xfrm xmlns:a="http://schemas.openxmlformats.org/drawingml/2006/main">
            <a:off x="8896350" y="20002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1">
                <a:solidFill>
                  <a:srgbClr val="E30613"/>
                </a:solidFill>
                <a:latin typeface="Arial"/>
                <a:ea typeface="Arial"/>
                <a:cs typeface="Arial"/>
              </a:defRPr>
            </a:pPr>
            <a:r>
              <a:rPr sz="3375" b="1">
                <a:solidFill>
                  <a:srgbClr val="E30613"/>
                </a:solidFill>
                <a:latin typeface="Arial"/>
                <a:ea typeface="Arial"/>
                <a:cs typeface="Arial"/>
              </a:rPr>
              <a:t>04</a:t>
            </a:r>
          </a:p>
        </p:txBody>
      </p:sp>
      <p:sp>
        <p:nvSpPr>
          <p:cNvPr id="17" name="Project text 15">
            <a:extLst xmlns:a="http://schemas.openxmlformats.org/drawingml/2006/main">
              <a:ext uri="{FF2B5EF4-FFF2-40B4-BE49-F238E27FC236}">
                <a16:creationId xmlns:a16="http://schemas.microsoft.com/office/drawing/2014/main" id="{18B7195A-78EE-496E-BC60-AD0A5AA3E4D9}"/>
              </a:ext>
            </a:extLst>
          </p:cNvPr>
          <p:cNvSpPr>
            <a:spLocks xmlns:a="http://schemas.openxmlformats.org/drawingml/2006/main" noGrp="1"/>
          </p:cNvSpPr>
          <p:nvPr/>
        </p:nvSpPr>
        <p:spPr>
          <a:xfrm xmlns:a="http://schemas.openxmlformats.org/drawingml/2006/main">
            <a:off x="8896350" y="2714625"/>
            <a:ext cx="2305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1111"/>
                </a:solidFill>
                <a:latin typeface="Arial"/>
                <a:ea typeface="Arial"/>
                <a:cs typeface="Arial"/>
              </a:defRPr>
            </a:pPr>
            <a:r>
              <a:rPr sz="2175" b="1">
                <a:solidFill>
                  <a:srgbClr val="111111"/>
                </a:solidFill>
                <a:latin typeface="Arial"/>
                <a:ea typeface="Arial"/>
                <a:cs typeface="Arial"/>
              </a:rPr>
              <a:t>Deploy the app</a:t>
            </a:r>
          </a:p>
        </p:txBody>
      </p:sp>
      <p:sp>
        <p:nvSpPr>
          <p:cNvPr id="18" name="Project text 16">
            <a:extLst xmlns:a="http://schemas.openxmlformats.org/drawingml/2006/main">
              <a:ext uri="{FF2B5EF4-FFF2-40B4-BE49-F238E27FC236}">
                <a16:creationId xmlns:a16="http://schemas.microsoft.com/office/drawing/2014/main" id="{C0D17E6A-B281-4C3A-923C-D7EDDF88B576}"/>
              </a:ext>
            </a:extLst>
          </p:cNvPr>
          <p:cNvSpPr>
            <a:spLocks xmlns:a="http://schemas.openxmlformats.org/drawingml/2006/main" noGrp="1"/>
          </p:cNvSpPr>
          <p:nvPr/>
        </p:nvSpPr>
        <p:spPr>
          <a:xfrm xmlns:a="http://schemas.openxmlformats.org/drawingml/2006/main">
            <a:off x="8896350" y="3743325"/>
            <a:ext cx="23050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Sign in, analyze a review and show aspect scores.</a:t>
            </a:r>
          </a:p>
        </p:txBody>
      </p:sp>
      <p:sp>
        <p:nvSpPr>
          <p:cNvPr id="19" name="Project text 17">
            <a:extLst xmlns:a="http://schemas.openxmlformats.org/drawingml/2006/main">
              <a:ext uri="{FF2B5EF4-FFF2-40B4-BE49-F238E27FC236}">
                <a16:creationId xmlns:a16="http://schemas.microsoft.com/office/drawing/2014/main" id="{22043B69-2754-40C7-B785-3FBC2528B19F}"/>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AI coding is allowed. You are responsible for the data, experiments and predictions.</a:t>
            </a:r>
          </a:p>
        </p:txBody>
      </p:sp>
    </p:spTree>
    <p:extLst>
      <p:ext uri="{BB962C8B-B14F-4D97-AF65-F5344CB8AC3E}">
        <p14:creationId xmlns:p14="http://schemas.microsoft.com/office/powerpoint/2010/main" val="49144901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DATA</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The provided dataset</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05</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4" name=""/>
          <p:cNvGraphicFramePr/>
          <p:nvPr/>
        </p:nvGraphicFramePr>
        <p:xfrm>
          <a:off xmlns:a="http://schemas.openxmlformats.org/drawingml/2006/main" x="895350" y="1933575"/>
          <a:ext xmlns:a="http://schemas.openxmlformats.org/drawingml/2006/main" cx="10382250" cy="3076575"/>
        </p:xfrm>
        <a:graphic xmlns:a="http://schemas.openxmlformats.org/drawingml/2006/main">
          <a:graphicData uri="http://schemas.openxmlformats.org/drawingml/2006/table">
            <a:tbl>
              <a:tblPr/>
              <a:tblGrid>
                <a:gridCol w="3238500"/>
                <a:gridCol w="7143750"/>
              </a:tblGrid>
              <a:tr h="512763">
                <a:tc>
                  <a:txBody>
                    <a:bodyPr/>
                    <a:lstStyle/>
                    <a:p>
                      <a:r>
                        <a:rPr sz="1800" b="1">
                          <a:solidFill>
                            <a:srgbClr val="E30613"/>
                          </a:solidFill>
                          <a:latin typeface="Arial"/>
                          <a:ea typeface="Arial"/>
                          <a:cs typeface="Arial"/>
                        </a:rPr>
                        <a:t>Resource</a:t>
                      </a:r>
                    </a:p>
                  </a:txBody>
                  <a:tcPr marL="76200" marR="76200" marT="38100" marB="38100">
                    <a:solidFill>
                      <a:srgbClr val="FFF0F2"/>
                    </a:solidFill>
                  </a:tcPr>
                </a:tc>
                <a:tc>
                  <a:txBody>
                    <a:bodyPr/>
                    <a:lstStyle/>
                    <a:p>
                      <a:r>
                        <a:rPr sz="1800" b="1">
                          <a:solidFill>
                            <a:srgbClr val="E30613"/>
                          </a:solidFill>
                          <a:latin typeface="Arial"/>
                          <a:ea typeface="Arial"/>
                          <a:cs typeface="Arial"/>
                        </a:rPr>
                        <a:t>What you receive</a:t>
                      </a:r>
                    </a:p>
                  </a:txBody>
                  <a:tcPr marL="76200" marR="76200" marT="38100" marB="38100">
                    <a:solidFill>
                      <a:srgbClr val="FFF0F2"/>
                    </a:solidFill>
                  </a:tcPr>
                </a:tc>
              </a:tr>
              <a:tr h="512763">
                <a:tc>
                  <a:txBody>
                    <a:bodyPr/>
                    <a:lstStyle/>
                    <a:p>
                      <a:r>
                        <a:rPr sz="1875" b="0">
                          <a:solidFill>
                            <a:srgbClr val="111111"/>
                          </a:solidFill>
                          <a:latin typeface="Arial"/>
                          <a:ea typeface="Arial"/>
                          <a:cs typeface="Arial"/>
                        </a:rPr>
                        <a:t>Chinese hotel sentences</a:t>
                      </a:r>
                    </a:p>
                  </a:txBody>
                  <a:tcPr marL="76200" marR="76200" marT="38100" marB="38100">
                    <a:solidFill>
                      <a:srgbClr val="FFFFFF"/>
                    </a:solidFill>
                  </a:tcPr>
                </a:tc>
                <a:tc>
                  <a:txBody>
                    <a:bodyPr/>
                    <a:lstStyle/>
                    <a:p>
                      <a:r>
                        <a:rPr sz="1875" b="0">
                          <a:solidFill>
                            <a:srgbClr val="111111"/>
                          </a:solidFill>
                          <a:latin typeface="Arial"/>
                          <a:ea typeface="Arial"/>
                          <a:cs typeface="Arial"/>
                        </a:rPr>
                        <a:t>2,000 sentences from 2,000 source reviews</a:t>
                      </a:r>
                    </a:p>
                  </a:txBody>
                  <a:tcPr marL="76200" marR="76200" marT="38100" marB="38100">
                    <a:solidFill>
                      <a:srgbClr val="FFFFFF"/>
                    </a:solidFill>
                  </a:tcPr>
                </a:tc>
              </a:tr>
              <a:tr h="512763">
                <a:tc>
                  <a:txBody>
                    <a:bodyPr/>
                    <a:lstStyle/>
                    <a:p>
                      <a:r>
                        <a:rPr sz="1875" b="0">
                          <a:solidFill>
                            <a:srgbClr val="111111"/>
                          </a:solidFill>
                          <a:latin typeface="Arial"/>
                          <a:ea typeface="Arial"/>
                          <a:cs typeface="Arial"/>
                        </a:rPr>
                        <a:t>Sentence embeddings</a:t>
                      </a:r>
                    </a:p>
                  </a:txBody>
                  <a:tcPr marL="76200" marR="76200" marT="38100" marB="38100">
                    <a:solidFill>
                      <a:srgbClr val="F4F5F7"/>
                    </a:solidFill>
                  </a:tcPr>
                </a:tc>
                <a:tc>
                  <a:txBody>
                    <a:bodyPr/>
                    <a:lstStyle/>
                    <a:p>
                      <a:r>
                        <a:rPr sz="1875" b="0">
                          <a:solidFill>
                            <a:srgbClr val="111111"/>
                          </a:solidFill>
                          <a:latin typeface="Arial"/>
                          <a:ea typeface="Arial"/>
                          <a:cs typeface="Arial"/>
                        </a:rPr>
                        <a:t>2,000 × 256 float32 values</a:t>
                      </a:r>
                    </a:p>
                  </a:txBody>
                  <a:tcPr marL="76200" marR="76200" marT="38100" marB="38100">
                    <a:solidFill>
                      <a:srgbClr val="F4F5F7"/>
                    </a:solidFill>
                  </a:tcPr>
                </a:tc>
              </a:tr>
              <a:tr h="512763">
                <a:tc>
                  <a:txBody>
                    <a:bodyPr/>
                    <a:lstStyle/>
                    <a:p>
                      <a:r>
                        <a:rPr sz="1875" b="0">
                          <a:solidFill>
                            <a:srgbClr val="111111"/>
                          </a:solidFill>
                          <a:latin typeface="Arial"/>
                          <a:ea typeface="Arial"/>
                          <a:cs typeface="Arial"/>
                        </a:rPr>
                        <a:t>Identifiers and context</a:t>
                      </a:r>
                    </a:p>
                  </a:txBody>
                  <a:tcPr marL="76200" marR="76200" marT="38100" marB="38100">
                    <a:solidFill>
                      <a:srgbClr val="FFFFFF"/>
                    </a:solidFill>
                  </a:tcPr>
                </a:tc>
                <a:tc>
                  <a:txBody>
                    <a:bodyPr/>
                    <a:lstStyle/>
                    <a:p>
                      <a:r>
                        <a:rPr sz="1875" b="0">
                          <a:solidFill>
                            <a:srgbClr val="111111"/>
                          </a:solidFill>
                          <a:latin typeface="Arial"/>
                          <a:ea typeface="Arial"/>
                          <a:cs typeface="Arial"/>
                        </a:rPr>
                        <a:t>sentence_id, review_id and adjacent sentences</a:t>
                      </a:r>
                    </a:p>
                  </a:txBody>
                  <a:tcPr marL="76200" marR="76200" marT="38100" marB="38100">
                    <a:solidFill>
                      <a:srgbClr val="FFFFFF"/>
                    </a:solidFill>
                  </a:tcPr>
                </a:tc>
              </a:tr>
              <a:tr h="512763">
                <a:tc>
                  <a:txBody>
                    <a:bodyPr/>
                    <a:lstStyle/>
                    <a:p>
                      <a:r>
                        <a:rPr sz="1875" b="0">
                          <a:solidFill>
                            <a:srgbClr val="111111"/>
                          </a:solidFill>
                          <a:latin typeface="Arial"/>
                          <a:ea typeface="Arial"/>
                          <a:cs typeface="Arial"/>
                        </a:rPr>
                        <a:t>Labels</a:t>
                      </a:r>
                    </a:p>
                  </a:txBody>
                  <a:tcPr marL="76200" marR="76200" marT="38100" marB="38100">
                    <a:solidFill>
                      <a:srgbClr val="F4F5F7"/>
                    </a:solidFill>
                  </a:tcPr>
                </a:tc>
                <a:tc>
                  <a:txBody>
                    <a:bodyPr/>
                    <a:lstStyle/>
                    <a:p>
                      <a:r>
                        <a:rPr sz="1875" b="0">
                          <a:solidFill>
                            <a:srgbClr val="111111"/>
                          </a:solidFill>
                          <a:latin typeface="Arial"/>
                          <a:ea typeface="Arial"/>
                          <a:cs typeface="Arial"/>
                        </a:rPr>
                        <a:t>Unlabeled: you create aspect and sentiment labels</a:t>
                      </a:r>
                    </a:p>
                  </a:txBody>
                  <a:tcPr marL="76200" marR="76200" marT="38100" marB="38100">
                    <a:solidFill>
                      <a:srgbClr val="F4F5F7"/>
                    </a:solidFill>
                  </a:tcPr>
                </a:tc>
              </a:tr>
              <a:tr h="512763">
                <a:tc>
                  <a:txBody>
                    <a:bodyPr/>
                    <a:lstStyle/>
                    <a:p>
                      <a:r>
                        <a:rPr sz="1875" b="0">
                          <a:solidFill>
                            <a:srgbClr val="111111"/>
                          </a:solidFill>
                          <a:latin typeface="Arial"/>
                          <a:ea typeface="Arial"/>
                          <a:cs typeface="Arial"/>
                        </a:rPr>
                        <a:t>Source</a:t>
                      </a:r>
                    </a:p>
                  </a:txBody>
                  <a:tcPr marL="76200" marR="76200" marT="38100" marB="38100">
                    <a:solidFill>
                      <a:srgbClr val="FFFFFF"/>
                    </a:solidFill>
                  </a:tcPr>
                </a:tc>
                <a:tc>
                  <a:txBody>
                    <a:bodyPr/>
                    <a:lstStyle/>
                    <a:p>
                      <a:r>
                        <a:rPr sz="1875" b="0">
                          <a:solidFill>
                            <a:srgbClr val="111111"/>
                          </a:solidFill>
                          <a:latin typeface="Arial"/>
                          <a:ea typeface="Arial"/>
                          <a:cs typeface="Arial"/>
                        </a:rPr>
                        <a:t>Public historical hotel-review corpus</a:t>
                      </a:r>
                    </a:p>
                  </a:txBody>
                  <a:tcPr marL="76200" marR="76200" marT="38100" marB="38100">
                    <a:solidFill>
                      <a:srgbClr val="FFFFFF"/>
                    </a:solidFill>
                  </a:tcPr>
                </a:tc>
              </a:tr>
            </a:tbl>
          </a:graphicData>
        </a:graphic>
      </p:graphicFrame>
      <p:sp>
        <p:nvSpPr>
          <p:cNvPr id="8" name="Project text 5">
            <a:extLst xmlns:a="http://schemas.openxmlformats.org/drawingml/2006/main">
              <a:ext uri="{FF2B5EF4-FFF2-40B4-BE49-F238E27FC236}">
                <a16:creationId xmlns:a16="http://schemas.microsoft.com/office/drawing/2014/main" id="{E45D3BDC-D46B-4A69-B046-ED2CE7DCB8D2}"/>
              </a:ext>
            </a:extLst>
          </p:cNvPr>
          <p:cNvSpPr>
            <a:spLocks xmlns:a="http://schemas.openxmlformats.org/drawingml/2006/main" noGrp="1"/>
          </p:cNvSpPr>
          <p:nvPr/>
        </p:nvSpPr>
        <p:spPr>
          <a:xfrm xmlns:a="http://schemas.openxmlformats.org/drawingml/2006/main">
            <a:off x="895350" y="5305425"/>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861FF"/>
                </a:solidFill>
                <a:latin typeface="Arial"/>
                <a:ea typeface="Arial"/>
                <a:cs typeface="Arial"/>
              </a:defRPr>
            </a:pPr>
            <a:r>
              <a:rPr sz="1950" b="1">
                <a:solidFill>
                  <a:srgbClr val="2861FF"/>
                </a:solidFill>
                <a:latin typeface="Arial"/>
                <a:ea typeface="Arial"/>
                <a:cs typeface="Arial"/>
              </a:rPr>
              <a:t>The CSV and embedding rows match. Join later annotations by sentence_id.</a:t>
            </a:r>
          </a:p>
        </p:txBody>
      </p:sp>
    </p:spTree>
    <p:extLst>
      <p:ext uri="{BB962C8B-B14F-4D97-AF65-F5344CB8AC3E}">
        <p14:creationId xmlns:p14="http://schemas.microsoft.com/office/powerpoint/2010/main" val="49144901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INITIAL DATA EXPLORATION</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What appears in these sentences?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06</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6" name="Chart"/>
          <p:cNvGraphicFramePr/>
          <p:nvPr/>
        </p:nvGraphicFramePr>
        <p:xfrm>
          <a:off xmlns:a="http://schemas.openxmlformats.org/drawingml/2006/main" x="895350" y="1809750"/>
          <a:ext xmlns:a="http://schemas.openxmlformats.org/drawingml/2006/main" cx="6953250" cy="3714750"/>
        </p:xfrm>
        <a:graphic xmlns:a="http://schemas.openxmlformats.org/drawingml/2006/main">
          <a:graphicData uri="http://schemas.openxmlformats.org/drawingml/2006/chart">
            <c:chart xmlns:r="http://schemas.openxmlformats.org/officeDocument/2006/relationships" xmlns:c="http://schemas.openxmlformats.org/drawingml/2006/chart" r:id="Rb0550c7696204b86"/>
          </a:graphicData>
        </a:graphic>
      </p:graphicFrame>
      <p:sp>
        <p:nvSpPr>
          <p:cNvPr id="8" name="Project text 5">
            <a:extLst xmlns:a="http://schemas.openxmlformats.org/drawingml/2006/main">
              <a:ext uri="{FF2B5EF4-FFF2-40B4-BE49-F238E27FC236}">
                <a16:creationId xmlns:a16="http://schemas.microsoft.com/office/drawing/2014/main" id="{49216538-FF9F-4411-B746-ACEA83376338}"/>
              </a:ext>
            </a:extLst>
          </p:cNvPr>
          <p:cNvSpPr>
            <a:spLocks xmlns:a="http://schemas.openxmlformats.org/drawingml/2006/main" noGrp="1"/>
          </p:cNvSpPr>
          <p:nvPr/>
        </p:nvSpPr>
        <p:spPr>
          <a:xfrm xmlns:a="http://schemas.openxmlformats.org/drawingml/2006/main">
            <a:off x="8239125" y="2190750"/>
            <a:ext cx="309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11111"/>
                </a:solidFill>
                <a:latin typeface="Arial"/>
                <a:ea typeface="Arial"/>
                <a:cs typeface="Arial"/>
              </a:defRPr>
            </a:pPr>
            <a:r>
              <a:rPr sz="2100" b="1">
                <a:solidFill>
                  <a:srgbClr val="111111"/>
                </a:solidFill>
                <a:latin typeface="Arial"/>
                <a:ea typeface="Arial"/>
                <a:cs typeface="Arial"/>
              </a:rPr>
              <a:t>Noise and soundproofing</a:t>
            </a:r>
          </a:p>
          <a:p xmlns:a="http://schemas.openxmlformats.org/drawingml/2006/main">
            <a:pPr>
              <a:defRPr sz="2100" b="1">
                <a:solidFill>
                  <a:srgbClr val="111111"/>
                </a:solidFill>
                <a:latin typeface="Arial"/>
                <a:ea typeface="Arial"/>
                <a:cs typeface="Arial"/>
              </a:defRPr>
            </a:pPr>
            <a:r>
              <a:rPr sz="2100" b="1">
                <a:solidFill>
                  <a:srgbClr val="111111"/>
                </a:solidFill>
                <a:latin typeface="Arial"/>
                <a:ea typeface="Arial"/>
                <a:cs typeface="Arial"/>
              </a:rPr>
              <a:t>deserve a separate</a:t>
            </a:r>
          </a:p>
          <a:p xmlns:a="http://schemas.openxmlformats.org/drawingml/2006/main">
            <a:pPr>
              <a:defRPr sz="2100" b="1">
                <a:solidFill>
                  <a:srgbClr val="111111"/>
                </a:solidFill>
                <a:latin typeface="Arial"/>
                <a:ea typeface="Arial"/>
                <a:cs typeface="Arial"/>
              </a:defRPr>
            </a:pPr>
            <a:r>
              <a:rPr sz="2100" b="1">
                <a:solidFill>
                  <a:srgbClr val="111111"/>
                </a:solidFill>
                <a:latin typeface="Arial"/>
                <a:ea typeface="Arial"/>
                <a:cs typeface="Arial"/>
              </a:rPr>
              <a:t>aspect.</a:t>
            </a:r>
          </a:p>
        </p:txBody>
      </p:sp>
      <p:sp>
        <p:nvSpPr>
          <p:cNvPr id="9" name="Project text 6">
            <a:extLst xmlns:a="http://schemas.openxmlformats.org/drawingml/2006/main">
              <a:ext uri="{FF2B5EF4-FFF2-40B4-BE49-F238E27FC236}">
                <a16:creationId xmlns:a16="http://schemas.microsoft.com/office/drawing/2014/main" id="{22477A29-BCEF-43C1-AC2F-0DE7BF1E1E62}"/>
              </a:ext>
            </a:extLst>
          </p:cNvPr>
          <p:cNvSpPr>
            <a:spLocks xmlns:a="http://schemas.openxmlformats.org/drawingml/2006/main" noGrp="1"/>
          </p:cNvSpPr>
          <p:nvPr/>
        </p:nvSpPr>
        <p:spPr>
          <a:xfrm xmlns:a="http://schemas.openxmlformats.org/drawingml/2006/main">
            <a:off x="8239125" y="3743325"/>
            <a:ext cx="309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 sentence may mention</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several aspects.</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Keyword hits are clues.</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They are not final labels.</a:t>
            </a:r>
          </a:p>
        </p:txBody>
      </p:sp>
      <p:sp>
        <p:nvSpPr>
          <p:cNvPr id="10" name="Project text 7">
            <a:extLst xmlns:a="http://schemas.openxmlformats.org/drawingml/2006/main">
              <a:ext uri="{FF2B5EF4-FFF2-40B4-BE49-F238E27FC236}">
                <a16:creationId xmlns:a16="http://schemas.microsoft.com/office/drawing/2014/main" id="{C31E0D42-27F8-4D6A-A248-877C0F1DF18F}"/>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Exploratory keyword counts over all 2,000 sentences, before annotation review.</a:t>
            </a:r>
          </a:p>
        </p:txBody>
      </p:sp>
    </p:spTree>
    <p:extLst>
      <p:ext uri="{BB962C8B-B14F-4D97-AF65-F5344CB8AC3E}">
        <p14:creationId xmlns:p14="http://schemas.microsoft.com/office/powerpoint/2010/main" val="49144901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ANNOTATION SCOPE</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Eight proposed aspects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07</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4" name=""/>
          <p:cNvGraphicFramePr/>
          <p:nvPr/>
        </p:nvGraphicFramePr>
        <p:xfrm>
          <a:off xmlns:a="http://schemas.openxmlformats.org/drawingml/2006/main" x="895350" y="1819275"/>
          <a:ext xmlns:a="http://schemas.openxmlformats.org/drawingml/2006/main" cx="10382250" cy="3724275"/>
        </p:xfrm>
        <a:graphic xmlns:a="http://schemas.openxmlformats.org/drawingml/2006/main">
          <a:graphicData uri="http://schemas.openxmlformats.org/drawingml/2006/table">
            <a:tbl>
              <a:tblPr/>
              <a:tblGrid>
                <a:gridCol w="762000"/>
                <a:gridCol w="3095625"/>
                <a:gridCol w="6524625"/>
              </a:tblGrid>
              <a:tr h="413808">
                <a:tc>
                  <a:txBody>
                    <a:bodyPr/>
                    <a:lstStyle/>
                    <a:p>
                      <a:r>
                        <a:rPr sz="1575" b="1">
                          <a:solidFill>
                            <a:srgbClr val="E30613"/>
                          </a:solidFill>
                          <a:latin typeface="Arial"/>
                          <a:ea typeface="Arial"/>
                          <a:cs typeface="Arial"/>
                        </a:rPr>
                        <a:t>Index</a:t>
                      </a:r>
                    </a:p>
                  </a:txBody>
                  <a:tcPr marL="76200" marR="76200" marT="38100" marB="38100">
                    <a:solidFill>
                      <a:srgbClr val="FFF0F2"/>
                    </a:solidFill>
                  </a:tcPr>
                </a:tc>
                <a:tc>
                  <a:txBody>
                    <a:bodyPr/>
                    <a:lstStyle/>
                    <a:p>
                      <a:r>
                        <a:rPr sz="1575" b="1">
                          <a:solidFill>
                            <a:srgbClr val="E30613"/>
                          </a:solidFill>
                          <a:latin typeface="Arial"/>
                          <a:ea typeface="Arial"/>
                          <a:cs typeface="Arial"/>
                        </a:rPr>
                        <a:t>Aspect</a:t>
                      </a:r>
                    </a:p>
                  </a:txBody>
                  <a:tcPr marL="76200" marR="76200" marT="38100" marB="38100">
                    <a:solidFill>
                      <a:srgbClr val="FFF0F2"/>
                    </a:solidFill>
                  </a:tcPr>
                </a:tc>
                <a:tc>
                  <a:txBody>
                    <a:bodyPr/>
                    <a:lstStyle/>
                    <a:p>
                      <a:r>
                        <a:rPr sz="1575" b="1">
                          <a:solidFill>
                            <a:srgbClr val="E30613"/>
                          </a:solidFill>
                          <a:latin typeface="Arial"/>
                          <a:ea typeface="Arial"/>
                          <a:cs typeface="Arial"/>
                        </a:rPr>
                        <a:t>Include</a:t>
                      </a:r>
                    </a:p>
                  </a:txBody>
                  <a:tcPr marL="76200" marR="76200" marT="38100" marB="38100">
                    <a:solidFill>
                      <a:srgbClr val="FFF0F2"/>
                    </a:solidFill>
                  </a:tcPr>
                </a:tc>
              </a:tr>
              <a:tr h="413808">
                <a:tc>
                  <a:txBody>
                    <a:bodyPr/>
                    <a:lstStyle/>
                    <a:p>
                      <a:r>
                        <a:rPr sz="1650" b="0">
                          <a:solidFill>
                            <a:srgbClr val="111111"/>
                          </a:solidFill>
                          <a:latin typeface="Arial"/>
                          <a:ea typeface="Arial"/>
                          <a:cs typeface="Arial"/>
                        </a:rPr>
                        <a:t>0</a:t>
                      </a:r>
                    </a:p>
                  </a:txBody>
                  <a:tcPr marL="76200" marR="76200" marT="38100" marB="38100">
                    <a:solidFill>
                      <a:srgbClr val="FFFFFF"/>
                    </a:solidFill>
                  </a:tcPr>
                </a:tc>
                <a:tc>
                  <a:txBody>
                    <a:bodyPr/>
                    <a:lstStyle/>
                    <a:p>
                      <a:r>
                        <a:rPr sz="1650" b="0">
                          <a:solidFill>
                            <a:srgbClr val="111111"/>
                          </a:solidFill>
                          <a:latin typeface="Arial"/>
                          <a:ea typeface="Arial"/>
                          <a:cs typeface="Arial"/>
                        </a:rPr>
                        <a:t>Cleanliness</a:t>
                      </a:r>
                    </a:p>
                  </a:txBody>
                  <a:tcPr marL="76200" marR="76200" marT="38100" marB="38100">
                    <a:solidFill>
                      <a:srgbClr val="FFFFFF"/>
                    </a:solidFill>
                  </a:tcPr>
                </a:tc>
                <a:tc>
                  <a:txBody>
                    <a:bodyPr/>
                    <a:lstStyle/>
                    <a:p>
                      <a:r>
                        <a:rPr sz="1650" b="0">
                          <a:solidFill>
                            <a:srgbClr val="111111"/>
                          </a:solidFill>
                          <a:latin typeface="Arial"/>
                          <a:ea typeface="Arial"/>
                          <a:cs typeface="Arial"/>
                        </a:rPr>
                        <a:t>Dirt, hygiene, stains and pests</a:t>
                      </a:r>
                    </a:p>
                  </a:txBody>
                  <a:tcPr marL="76200" marR="76200" marT="38100" marB="38100">
                    <a:solidFill>
                      <a:srgbClr val="FFFFFF"/>
                    </a:solidFill>
                  </a:tcPr>
                </a:tc>
              </a:tr>
              <a:tr h="413808">
                <a:tc>
                  <a:txBody>
                    <a:bodyPr/>
                    <a:lstStyle/>
                    <a:p>
                      <a:r>
                        <a:rPr sz="1650" b="0">
                          <a:solidFill>
                            <a:srgbClr val="111111"/>
                          </a:solidFill>
                          <a:latin typeface="Arial"/>
                          <a:ea typeface="Arial"/>
                          <a:cs typeface="Arial"/>
                        </a:rPr>
                        <a:t>1</a:t>
                      </a:r>
                    </a:p>
                  </a:txBody>
                  <a:tcPr marL="76200" marR="76200" marT="38100" marB="38100">
                    <a:solidFill>
                      <a:srgbClr val="F4F5F7"/>
                    </a:solidFill>
                  </a:tcPr>
                </a:tc>
                <a:tc>
                  <a:txBody>
                    <a:bodyPr/>
                    <a:lstStyle/>
                    <a:p>
                      <a:r>
                        <a:rPr sz="1650" b="0">
                          <a:solidFill>
                            <a:srgbClr val="111111"/>
                          </a:solidFill>
                          <a:latin typeface="Arial"/>
                          <a:ea typeface="Arial"/>
                          <a:cs typeface="Arial"/>
                        </a:rPr>
                        <a:t>Service</a:t>
                      </a:r>
                    </a:p>
                  </a:txBody>
                  <a:tcPr marL="76200" marR="76200" marT="38100" marB="38100">
                    <a:solidFill>
                      <a:srgbClr val="F4F5F7"/>
                    </a:solidFill>
                  </a:tcPr>
                </a:tc>
                <a:tc>
                  <a:txBody>
                    <a:bodyPr/>
                    <a:lstStyle/>
                    <a:p>
                      <a:r>
                        <a:rPr sz="1650" b="0">
                          <a:solidFill>
                            <a:srgbClr val="111111"/>
                          </a:solidFill>
                          <a:latin typeface="Arial"/>
                          <a:ea typeface="Arial"/>
                          <a:cs typeface="Arial"/>
                        </a:rPr>
                        <a:t>Staff behavior, help and check-in handling</a:t>
                      </a:r>
                    </a:p>
                  </a:txBody>
                  <a:tcPr marL="76200" marR="76200" marT="38100" marB="38100">
                    <a:solidFill>
                      <a:srgbClr val="F4F5F7"/>
                    </a:solidFill>
                  </a:tcPr>
                </a:tc>
              </a:tr>
              <a:tr h="413808">
                <a:tc>
                  <a:txBody>
                    <a:bodyPr/>
                    <a:lstStyle/>
                    <a:p>
                      <a:r>
                        <a:rPr sz="1650" b="0">
                          <a:solidFill>
                            <a:srgbClr val="111111"/>
                          </a:solidFill>
                          <a:latin typeface="Arial"/>
                          <a:ea typeface="Arial"/>
                          <a:cs typeface="Arial"/>
                        </a:rPr>
                        <a:t>2</a:t>
                      </a:r>
                    </a:p>
                  </a:txBody>
                  <a:tcPr marL="76200" marR="76200" marT="38100" marB="38100">
                    <a:solidFill>
                      <a:srgbClr val="FFFFFF"/>
                    </a:solidFill>
                  </a:tcPr>
                </a:tc>
                <a:tc>
                  <a:txBody>
                    <a:bodyPr/>
                    <a:lstStyle/>
                    <a:p>
                      <a:r>
                        <a:rPr sz="1650" b="0">
                          <a:solidFill>
                            <a:srgbClr val="111111"/>
                          </a:solidFill>
                          <a:latin typeface="Arial"/>
                          <a:ea typeface="Arial"/>
                          <a:cs typeface="Arial"/>
                        </a:rPr>
                        <a:t>Location</a:t>
                      </a:r>
                    </a:p>
                  </a:txBody>
                  <a:tcPr marL="76200" marR="76200" marT="38100" marB="38100">
                    <a:solidFill>
                      <a:srgbClr val="FFFFFF"/>
                    </a:solidFill>
                  </a:tcPr>
                </a:tc>
                <a:tc>
                  <a:txBody>
                    <a:bodyPr/>
                    <a:lstStyle/>
                    <a:p>
                      <a:r>
                        <a:rPr sz="1650" b="0">
                          <a:solidFill>
                            <a:srgbClr val="111111"/>
                          </a:solidFill>
                          <a:latin typeface="Arial"/>
                          <a:ea typeface="Arial"/>
                          <a:cs typeface="Arial"/>
                        </a:rPr>
                        <a:t>Access, transport and nearby places</a:t>
                      </a:r>
                    </a:p>
                  </a:txBody>
                  <a:tcPr marL="76200" marR="76200" marT="38100" marB="38100">
                    <a:solidFill>
                      <a:srgbClr val="FFFFFF"/>
                    </a:solidFill>
                  </a:tcPr>
                </a:tc>
              </a:tr>
              <a:tr h="413808">
                <a:tc>
                  <a:txBody>
                    <a:bodyPr/>
                    <a:lstStyle/>
                    <a:p>
                      <a:r>
                        <a:rPr sz="1650" b="0">
                          <a:solidFill>
                            <a:srgbClr val="111111"/>
                          </a:solidFill>
                          <a:latin typeface="Arial"/>
                          <a:ea typeface="Arial"/>
                          <a:cs typeface="Arial"/>
                        </a:rPr>
                        <a:t>3</a:t>
                      </a:r>
                    </a:p>
                  </a:txBody>
                  <a:tcPr marL="76200" marR="76200" marT="38100" marB="38100">
                    <a:solidFill>
                      <a:srgbClr val="F4F5F7"/>
                    </a:solidFill>
                  </a:tcPr>
                </a:tc>
                <a:tc>
                  <a:txBody>
                    <a:bodyPr/>
                    <a:lstStyle/>
                    <a:p>
                      <a:r>
                        <a:rPr sz="1650" b="0">
                          <a:solidFill>
                            <a:srgbClr val="111111"/>
                          </a:solidFill>
                          <a:latin typeface="Arial"/>
                          <a:ea typeface="Arial"/>
                          <a:cs typeface="Arial"/>
                        </a:rPr>
                        <a:t>Facilities</a:t>
                      </a:r>
                    </a:p>
                  </a:txBody>
                  <a:tcPr marL="76200" marR="76200" marT="38100" marB="38100">
                    <a:solidFill>
                      <a:srgbClr val="F4F5F7"/>
                    </a:solidFill>
                  </a:tcPr>
                </a:tc>
                <a:tc>
                  <a:txBody>
                    <a:bodyPr/>
                    <a:lstStyle/>
                    <a:p>
                      <a:r>
                        <a:rPr sz="1650" b="0">
                          <a:solidFill>
                            <a:srgbClr val="111111"/>
                          </a:solidFill>
                          <a:latin typeface="Arial"/>
                          <a:ea typeface="Arial"/>
                          <a:cs typeface="Arial"/>
                        </a:rPr>
                        <a:t>Equipment, amenities and condition</a:t>
                      </a:r>
                    </a:p>
                  </a:txBody>
                  <a:tcPr marL="76200" marR="76200" marT="38100" marB="38100">
                    <a:solidFill>
                      <a:srgbClr val="F4F5F7"/>
                    </a:solidFill>
                  </a:tcPr>
                </a:tc>
              </a:tr>
              <a:tr h="413808">
                <a:tc>
                  <a:txBody>
                    <a:bodyPr/>
                    <a:lstStyle/>
                    <a:p>
                      <a:r>
                        <a:rPr sz="1650" b="0">
                          <a:solidFill>
                            <a:srgbClr val="111111"/>
                          </a:solidFill>
                          <a:latin typeface="Arial"/>
                          <a:ea typeface="Arial"/>
                          <a:cs typeface="Arial"/>
                        </a:rPr>
                        <a:t>4</a:t>
                      </a:r>
                    </a:p>
                  </a:txBody>
                  <a:tcPr marL="76200" marR="76200" marT="38100" marB="38100">
                    <a:solidFill>
                      <a:srgbClr val="FFFFFF"/>
                    </a:solidFill>
                  </a:tcPr>
                </a:tc>
                <a:tc>
                  <a:txBody>
                    <a:bodyPr/>
                    <a:lstStyle/>
                    <a:p>
                      <a:r>
                        <a:rPr sz="1650" b="0">
                          <a:solidFill>
                            <a:srgbClr val="111111"/>
                          </a:solidFill>
                          <a:latin typeface="Arial"/>
                          <a:ea typeface="Arial"/>
                          <a:cs typeface="Arial"/>
                        </a:rPr>
                        <a:t>Room comfort</a:t>
                      </a:r>
                    </a:p>
                  </a:txBody>
                  <a:tcPr marL="76200" marR="76200" marT="38100" marB="38100">
                    <a:solidFill>
                      <a:srgbClr val="FFFFFF"/>
                    </a:solidFill>
                  </a:tcPr>
                </a:tc>
                <a:tc>
                  <a:txBody>
                    <a:bodyPr/>
                    <a:lstStyle/>
                    <a:p>
                      <a:r>
                        <a:rPr sz="1650" b="0">
                          <a:solidFill>
                            <a:srgbClr val="111111"/>
                          </a:solidFill>
                          <a:latin typeface="Arial"/>
                          <a:ea typeface="Arial"/>
                          <a:cs typeface="Arial"/>
                        </a:rPr>
                        <a:t>Space, bed comfort and temperature</a:t>
                      </a:r>
                    </a:p>
                  </a:txBody>
                  <a:tcPr marL="76200" marR="76200" marT="38100" marB="38100">
                    <a:solidFill>
                      <a:srgbClr val="FFFFFF"/>
                    </a:solidFill>
                  </a:tcPr>
                </a:tc>
              </a:tr>
              <a:tr h="413808">
                <a:tc>
                  <a:txBody>
                    <a:bodyPr/>
                    <a:lstStyle/>
                    <a:p>
                      <a:r>
                        <a:rPr sz="1650" b="0">
                          <a:solidFill>
                            <a:srgbClr val="111111"/>
                          </a:solidFill>
                          <a:latin typeface="Arial"/>
                          <a:ea typeface="Arial"/>
                          <a:cs typeface="Arial"/>
                        </a:rPr>
                        <a:t>5</a:t>
                      </a:r>
                    </a:p>
                  </a:txBody>
                  <a:tcPr marL="76200" marR="76200" marT="38100" marB="38100">
                    <a:solidFill>
                      <a:srgbClr val="F4F5F7"/>
                    </a:solidFill>
                  </a:tcPr>
                </a:tc>
                <a:tc>
                  <a:txBody>
                    <a:bodyPr/>
                    <a:lstStyle/>
                    <a:p>
                      <a:r>
                        <a:rPr sz="1650" b="0">
                          <a:solidFill>
                            <a:srgbClr val="111111"/>
                          </a:solidFill>
                          <a:latin typeface="Arial"/>
                          <a:ea typeface="Arial"/>
                          <a:cs typeface="Arial"/>
                        </a:rPr>
                        <a:t>Sound insulation &amp; noise</a:t>
                      </a:r>
                    </a:p>
                  </a:txBody>
                  <a:tcPr marL="76200" marR="76200" marT="38100" marB="38100">
                    <a:solidFill>
                      <a:srgbClr val="F4F5F7"/>
                    </a:solidFill>
                  </a:tcPr>
                </a:tc>
                <a:tc>
                  <a:txBody>
                    <a:bodyPr/>
                    <a:lstStyle/>
                    <a:p>
                      <a:r>
                        <a:rPr sz="1650" b="0">
                          <a:solidFill>
                            <a:srgbClr val="111111"/>
                          </a:solidFill>
                          <a:latin typeface="Arial"/>
                          <a:ea typeface="Arial"/>
                          <a:cs typeface="Arial"/>
                        </a:rPr>
                        <a:t>Soundproofing, hallway / traffic / room noise</a:t>
                      </a:r>
                    </a:p>
                  </a:txBody>
                  <a:tcPr marL="76200" marR="76200" marT="38100" marB="38100">
                    <a:solidFill>
                      <a:srgbClr val="F4F5F7"/>
                    </a:solidFill>
                  </a:tcPr>
                </a:tc>
              </a:tr>
              <a:tr h="413808">
                <a:tc>
                  <a:txBody>
                    <a:bodyPr/>
                    <a:lstStyle/>
                    <a:p>
                      <a:r>
                        <a:rPr sz="1650" b="0">
                          <a:solidFill>
                            <a:srgbClr val="111111"/>
                          </a:solidFill>
                          <a:latin typeface="Arial"/>
                          <a:ea typeface="Arial"/>
                          <a:cs typeface="Arial"/>
                        </a:rPr>
                        <a:t>6</a:t>
                      </a:r>
                    </a:p>
                  </a:txBody>
                  <a:tcPr marL="76200" marR="76200" marT="38100" marB="38100">
                    <a:solidFill>
                      <a:srgbClr val="FFFFFF"/>
                    </a:solidFill>
                  </a:tcPr>
                </a:tc>
                <a:tc>
                  <a:txBody>
                    <a:bodyPr/>
                    <a:lstStyle/>
                    <a:p>
                      <a:r>
                        <a:rPr sz="1650" b="0">
                          <a:solidFill>
                            <a:srgbClr val="111111"/>
                          </a:solidFill>
                          <a:latin typeface="Arial"/>
                          <a:ea typeface="Arial"/>
                          <a:cs typeface="Arial"/>
                        </a:rPr>
                        <a:t>Food</a:t>
                      </a:r>
                    </a:p>
                  </a:txBody>
                  <a:tcPr marL="76200" marR="76200" marT="38100" marB="38100">
                    <a:solidFill>
                      <a:srgbClr val="FFFFFF"/>
                    </a:solidFill>
                  </a:tcPr>
                </a:tc>
                <a:tc>
                  <a:txBody>
                    <a:bodyPr/>
                    <a:lstStyle/>
                    <a:p>
                      <a:r>
                        <a:rPr sz="1650" b="0">
                          <a:solidFill>
                            <a:srgbClr val="111111"/>
                          </a:solidFill>
                          <a:latin typeface="Arial"/>
                          <a:ea typeface="Arial"/>
                          <a:cs typeface="Arial"/>
                        </a:rPr>
                        <a:t>Hotel breakfast and dining quality</a:t>
                      </a:r>
                    </a:p>
                  </a:txBody>
                  <a:tcPr marL="76200" marR="76200" marT="38100" marB="38100">
                    <a:solidFill>
                      <a:srgbClr val="FFFFFF"/>
                    </a:solidFill>
                  </a:tcPr>
                </a:tc>
              </a:tr>
              <a:tr h="413808">
                <a:tc>
                  <a:txBody>
                    <a:bodyPr/>
                    <a:lstStyle/>
                    <a:p>
                      <a:r>
                        <a:rPr sz="1650" b="0">
                          <a:solidFill>
                            <a:srgbClr val="111111"/>
                          </a:solidFill>
                          <a:latin typeface="Arial"/>
                          <a:ea typeface="Arial"/>
                          <a:cs typeface="Arial"/>
                        </a:rPr>
                        <a:t>7</a:t>
                      </a:r>
                    </a:p>
                  </a:txBody>
                  <a:tcPr marL="76200" marR="76200" marT="38100" marB="38100">
                    <a:solidFill>
                      <a:srgbClr val="F4F5F7"/>
                    </a:solidFill>
                  </a:tcPr>
                </a:tc>
                <a:tc>
                  <a:txBody>
                    <a:bodyPr/>
                    <a:lstStyle/>
                    <a:p>
                      <a:r>
                        <a:rPr sz="1650" b="0">
                          <a:solidFill>
                            <a:srgbClr val="111111"/>
                          </a:solidFill>
                          <a:latin typeface="Arial"/>
                          <a:ea typeface="Arial"/>
                          <a:cs typeface="Arial"/>
                        </a:rPr>
                        <a:t>Value</a:t>
                      </a:r>
                    </a:p>
                  </a:txBody>
                  <a:tcPr marL="76200" marR="76200" marT="38100" marB="38100">
                    <a:solidFill>
                      <a:srgbClr val="F4F5F7"/>
                    </a:solidFill>
                  </a:tcPr>
                </a:tc>
                <a:tc>
                  <a:txBody>
                    <a:bodyPr/>
                    <a:lstStyle/>
                    <a:p>
                      <a:r>
                        <a:rPr sz="1650" b="0">
                          <a:solidFill>
                            <a:srgbClr val="111111"/>
                          </a:solidFill>
                          <a:latin typeface="Arial"/>
                          <a:ea typeface="Arial"/>
                          <a:cs typeface="Arial"/>
                        </a:rPr>
                        <a:t>Prices, charges and value for money</a:t>
                      </a:r>
                    </a:p>
                  </a:txBody>
                  <a:tcPr marL="76200" marR="76200" marT="38100" marB="38100">
                    <a:solidFill>
                      <a:srgbClr val="F4F5F7"/>
                    </a:solidFill>
                  </a:tcPr>
                </a:tc>
              </a:tr>
            </a:tbl>
          </a:graphicData>
        </a:graphic>
      </p:graphicFrame>
      <p:sp>
        <p:nvSpPr>
          <p:cNvPr id="8" name="Project text 5">
            <a:extLst xmlns:a="http://schemas.openxmlformats.org/drawingml/2006/main">
              <a:ext uri="{FF2B5EF4-FFF2-40B4-BE49-F238E27FC236}">
                <a16:creationId xmlns:a16="http://schemas.microsoft.com/office/drawing/2014/main" id="{D2A42F92-B3E0-4223-8390-07AAAAC9810A}"/>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Use these aspect names and this order across labels, model outputs and the website.</a:t>
            </a:r>
          </a:p>
        </p:txBody>
      </p:sp>
    </p:spTree>
    <p:extLst>
      <p:ext uri="{BB962C8B-B14F-4D97-AF65-F5344CB8AC3E}">
        <p14:creationId xmlns:p14="http://schemas.microsoft.com/office/powerpoint/2010/main" val="49144901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ANNOTATION SCOPE</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Aspect boundaries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08</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4" name=""/>
          <p:cNvGraphicFramePr/>
          <p:nvPr/>
        </p:nvGraphicFramePr>
        <p:xfrm>
          <a:off xmlns:a="http://schemas.openxmlformats.org/drawingml/2006/main" x="895350" y="1895475"/>
          <a:ext xmlns:a="http://schemas.openxmlformats.org/drawingml/2006/main" cx="10382250" cy="3457575"/>
        </p:xfrm>
        <a:graphic xmlns:a="http://schemas.openxmlformats.org/drawingml/2006/main">
          <a:graphicData uri="http://schemas.openxmlformats.org/drawingml/2006/table">
            <a:tbl>
              <a:tblPr/>
              <a:tblGrid>
                <a:gridCol w="3810000"/>
                <a:gridCol w="2286000"/>
                <a:gridCol w="4286250"/>
              </a:tblGrid>
              <a:tr h="493939">
                <a:tc>
                  <a:txBody>
                    <a:bodyPr/>
                    <a:lstStyle/>
                    <a:p>
                      <a:r>
                        <a:rPr sz="1725" b="1">
                          <a:solidFill>
                            <a:srgbClr val="E30613"/>
                          </a:solidFill>
                          <a:latin typeface="Arial"/>
                          <a:ea typeface="Arial"/>
                          <a:cs typeface="Arial"/>
                        </a:rPr>
                        <a:t>Text example</a:t>
                      </a:r>
                    </a:p>
                  </a:txBody>
                  <a:tcPr marL="76200" marR="76200" marT="38100" marB="38100">
                    <a:solidFill>
                      <a:srgbClr val="FFF0F2"/>
                    </a:solidFill>
                  </a:tcPr>
                </a:tc>
                <a:tc>
                  <a:txBody>
                    <a:bodyPr/>
                    <a:lstStyle/>
                    <a:p>
                      <a:r>
                        <a:rPr sz="1725" b="1">
                          <a:solidFill>
                            <a:srgbClr val="E30613"/>
                          </a:solidFill>
                          <a:latin typeface="Arial"/>
                          <a:ea typeface="Arial"/>
                          <a:cs typeface="Arial"/>
                        </a:rPr>
                        <a:t>Aspect</a:t>
                      </a:r>
                    </a:p>
                  </a:txBody>
                  <a:tcPr marL="76200" marR="76200" marT="38100" marB="38100">
                    <a:solidFill>
                      <a:srgbClr val="FFF0F2"/>
                    </a:solidFill>
                  </a:tcPr>
                </a:tc>
                <a:tc>
                  <a:txBody>
                    <a:bodyPr/>
                    <a:lstStyle/>
                    <a:p>
                      <a:r>
                        <a:rPr sz="1725" b="1">
                          <a:solidFill>
                            <a:srgbClr val="E30613"/>
                          </a:solidFill>
                          <a:latin typeface="Arial"/>
                          <a:ea typeface="Arial"/>
                          <a:cs typeface="Arial"/>
                        </a:rPr>
                        <a:t>Reason</a:t>
                      </a:r>
                    </a:p>
                  </a:txBody>
                  <a:tcPr marL="76200" marR="76200" marT="38100" marB="38100">
                    <a:solidFill>
                      <a:srgbClr val="FFF0F2"/>
                    </a:solidFill>
                  </a:tcPr>
                </a:tc>
              </a:tr>
              <a:tr h="493939">
                <a:tc>
                  <a:txBody>
                    <a:bodyPr/>
                    <a:lstStyle/>
                    <a:p>
                      <a:r>
                        <a:rPr sz="1800" b="0">
                          <a:solidFill>
                            <a:srgbClr val="111111"/>
                          </a:solidFill>
                          <a:latin typeface="Arial"/>
                          <a:ea typeface="Noto Sans CJK SC"/>
                          <a:cs typeface="Noto Sans CJK SC"/>
                        </a:rPr>
                        <a:t>空调坏了</a:t>
                      </a:r>
                    </a:p>
                  </a:txBody>
                  <a:tcPr marL="76200" marR="76200" marT="38100" marB="38100">
                    <a:solidFill>
                      <a:srgbClr val="FFFFFF"/>
                    </a:solidFill>
                  </a:tcPr>
                </a:tc>
                <a:tc>
                  <a:txBody>
                    <a:bodyPr/>
                    <a:lstStyle/>
                    <a:p>
                      <a:r>
                        <a:rPr sz="1800" b="0">
                          <a:solidFill>
                            <a:srgbClr val="111111"/>
                          </a:solidFill>
                          <a:latin typeface="Arial"/>
                          <a:ea typeface="Arial"/>
                          <a:cs typeface="Arial"/>
                        </a:rPr>
                        <a:t>Facilities</a:t>
                      </a:r>
                    </a:p>
                  </a:txBody>
                  <a:tcPr marL="76200" marR="76200" marT="38100" marB="38100">
                    <a:solidFill>
                      <a:srgbClr val="FFFFFF"/>
                    </a:solidFill>
                  </a:tcPr>
                </a:tc>
                <a:tc>
                  <a:txBody>
                    <a:bodyPr/>
                    <a:lstStyle/>
                    <a:p>
                      <a:r>
                        <a:rPr sz="1800" b="0">
                          <a:solidFill>
                            <a:srgbClr val="111111"/>
                          </a:solidFill>
                          <a:latin typeface="Arial"/>
                          <a:ea typeface="Arial"/>
                          <a:cs typeface="Arial"/>
                        </a:rPr>
                        <a:t>Equipment does not work</a:t>
                      </a:r>
                    </a:p>
                  </a:txBody>
                  <a:tcPr marL="76200" marR="76200" marT="38100" marB="38100">
                    <a:solidFill>
                      <a:srgbClr val="FFFFFF"/>
                    </a:solidFill>
                  </a:tcPr>
                </a:tc>
              </a:tr>
              <a:tr h="493939">
                <a:tc>
                  <a:txBody>
                    <a:bodyPr/>
                    <a:lstStyle/>
                    <a:p>
                      <a:r>
                        <a:rPr sz="1800" b="0">
                          <a:solidFill>
                            <a:srgbClr val="111111"/>
                          </a:solidFill>
                          <a:latin typeface="Arial"/>
                          <a:ea typeface="Noto Sans CJK SC"/>
                          <a:cs typeface="Noto Sans CJK SC"/>
                        </a:rPr>
                        <a:t>空调太吵，整晚睡不好</a:t>
                      </a:r>
                    </a:p>
                  </a:txBody>
                  <a:tcPr marL="76200" marR="76200" marT="38100" marB="38100">
                    <a:solidFill>
                      <a:srgbClr val="F4F5F7"/>
                    </a:solidFill>
                  </a:tcPr>
                </a:tc>
                <a:tc>
                  <a:txBody>
                    <a:bodyPr/>
                    <a:lstStyle/>
                    <a:p>
                      <a:r>
                        <a:rPr sz="1800" b="0">
                          <a:solidFill>
                            <a:srgbClr val="111111"/>
                          </a:solidFill>
                          <a:latin typeface="Arial"/>
                          <a:ea typeface="Arial"/>
                          <a:cs typeface="Arial"/>
                        </a:rPr>
                        <a:t>Sound insulation</a:t>
                      </a:r>
                    </a:p>
                  </a:txBody>
                  <a:tcPr marL="76200" marR="76200" marT="38100" marB="38100">
                    <a:solidFill>
                      <a:srgbClr val="F4F5F7"/>
                    </a:solidFill>
                  </a:tcPr>
                </a:tc>
                <a:tc>
                  <a:txBody>
                    <a:bodyPr/>
                    <a:lstStyle/>
                    <a:p>
                      <a:r>
                        <a:rPr sz="1800" b="0">
                          <a:solidFill>
                            <a:srgbClr val="111111"/>
                          </a:solidFill>
                          <a:latin typeface="Arial"/>
                          <a:ea typeface="Arial"/>
                          <a:cs typeface="Arial"/>
                        </a:rPr>
                        <a:t>Noise affects sleep</a:t>
                      </a:r>
                    </a:p>
                  </a:txBody>
                  <a:tcPr marL="76200" marR="76200" marT="38100" marB="38100">
                    <a:solidFill>
                      <a:srgbClr val="F4F5F7"/>
                    </a:solidFill>
                  </a:tcPr>
                </a:tc>
              </a:tr>
              <a:tr h="493939">
                <a:tc>
                  <a:txBody>
                    <a:bodyPr/>
                    <a:lstStyle/>
                    <a:p>
                      <a:r>
                        <a:rPr sz="1800" b="0">
                          <a:solidFill>
                            <a:srgbClr val="111111"/>
                          </a:solidFill>
                          <a:latin typeface="Arial"/>
                          <a:ea typeface="Noto Sans CJK SC"/>
                          <a:cs typeface="Noto Sans CJK SC"/>
                        </a:rPr>
                        <a:t>床单很脏</a:t>
                      </a:r>
                    </a:p>
                  </a:txBody>
                  <a:tcPr marL="76200" marR="76200" marT="38100" marB="38100">
                    <a:solidFill>
                      <a:srgbClr val="FFFFFF"/>
                    </a:solidFill>
                  </a:tcPr>
                </a:tc>
                <a:tc>
                  <a:txBody>
                    <a:bodyPr/>
                    <a:lstStyle/>
                    <a:p>
                      <a:r>
                        <a:rPr sz="1800" b="0">
                          <a:solidFill>
                            <a:srgbClr val="111111"/>
                          </a:solidFill>
                          <a:latin typeface="Arial"/>
                          <a:ea typeface="Arial"/>
                          <a:cs typeface="Arial"/>
                        </a:rPr>
                        <a:t>Cleanliness</a:t>
                      </a:r>
                    </a:p>
                  </a:txBody>
                  <a:tcPr marL="76200" marR="76200" marT="38100" marB="38100">
                    <a:solidFill>
                      <a:srgbClr val="FFFFFF"/>
                    </a:solidFill>
                  </a:tcPr>
                </a:tc>
                <a:tc>
                  <a:txBody>
                    <a:bodyPr/>
                    <a:lstStyle/>
                    <a:p>
                      <a:r>
                        <a:rPr sz="1800" b="0">
                          <a:solidFill>
                            <a:srgbClr val="111111"/>
                          </a:solidFill>
                          <a:latin typeface="Arial"/>
                          <a:ea typeface="Arial"/>
                          <a:cs typeface="Arial"/>
                        </a:rPr>
                        <a:t>Hygiene</a:t>
                      </a:r>
                    </a:p>
                  </a:txBody>
                  <a:tcPr marL="76200" marR="76200" marT="38100" marB="38100">
                    <a:solidFill>
                      <a:srgbClr val="FFFFFF"/>
                    </a:solidFill>
                  </a:tcPr>
                </a:tc>
              </a:tr>
              <a:tr h="493939">
                <a:tc>
                  <a:txBody>
                    <a:bodyPr/>
                    <a:lstStyle/>
                    <a:p>
                      <a:r>
                        <a:rPr sz="1800" b="0">
                          <a:solidFill>
                            <a:srgbClr val="111111"/>
                          </a:solidFill>
                          <a:latin typeface="Arial"/>
                          <a:ea typeface="Noto Sans CJK SC"/>
                          <a:cs typeface="Noto Sans CJK SC"/>
                        </a:rPr>
                        <a:t>酒店早餐很贵</a:t>
                      </a:r>
                    </a:p>
                  </a:txBody>
                  <a:tcPr marL="76200" marR="76200" marT="38100" marB="38100">
                    <a:solidFill>
                      <a:srgbClr val="F4F5F7"/>
                    </a:solidFill>
                  </a:tcPr>
                </a:tc>
                <a:tc>
                  <a:txBody>
                    <a:bodyPr/>
                    <a:lstStyle/>
                    <a:p>
                      <a:r>
                        <a:rPr sz="1800" b="0">
                          <a:solidFill>
                            <a:srgbClr val="111111"/>
                          </a:solidFill>
                          <a:latin typeface="Arial"/>
                          <a:ea typeface="Arial"/>
                          <a:cs typeface="Arial"/>
                        </a:rPr>
                        <a:t>Value</a:t>
                      </a:r>
                    </a:p>
                  </a:txBody>
                  <a:tcPr marL="76200" marR="76200" marT="38100" marB="38100">
                    <a:solidFill>
                      <a:srgbClr val="F4F5F7"/>
                    </a:solidFill>
                  </a:tcPr>
                </a:tc>
                <a:tc>
                  <a:txBody>
                    <a:bodyPr/>
                    <a:lstStyle/>
                    <a:p>
                      <a:r>
                        <a:rPr sz="1800" b="0">
                          <a:solidFill>
                            <a:srgbClr val="111111"/>
                          </a:solidFill>
                          <a:latin typeface="Arial"/>
                          <a:ea typeface="Arial"/>
                          <a:cs typeface="Arial"/>
                        </a:rPr>
                        <a:t>Price of hotel breakfast</a:t>
                      </a:r>
                    </a:p>
                  </a:txBody>
                  <a:tcPr marL="76200" marR="76200" marT="38100" marB="38100">
                    <a:solidFill>
                      <a:srgbClr val="F4F5F7"/>
                    </a:solidFill>
                  </a:tcPr>
                </a:tc>
              </a:tr>
              <a:tr h="493939">
                <a:tc>
                  <a:txBody>
                    <a:bodyPr/>
                    <a:lstStyle/>
                    <a:p>
                      <a:r>
                        <a:rPr sz="1800" b="0">
                          <a:solidFill>
                            <a:srgbClr val="111111"/>
                          </a:solidFill>
                          <a:latin typeface="Arial"/>
                          <a:ea typeface="Noto Sans CJK SC"/>
                          <a:cs typeface="Noto Sans CJK SC"/>
                        </a:rPr>
                        <a:t>酒店早餐很难吃</a:t>
                      </a:r>
                    </a:p>
                  </a:txBody>
                  <a:tcPr marL="76200" marR="76200" marT="38100" marB="38100">
                    <a:solidFill>
                      <a:srgbClr val="FFFFFF"/>
                    </a:solidFill>
                  </a:tcPr>
                </a:tc>
                <a:tc>
                  <a:txBody>
                    <a:bodyPr/>
                    <a:lstStyle/>
                    <a:p>
                      <a:r>
                        <a:rPr sz="1800" b="0">
                          <a:solidFill>
                            <a:srgbClr val="111111"/>
                          </a:solidFill>
                          <a:latin typeface="Arial"/>
                          <a:ea typeface="Arial"/>
                          <a:cs typeface="Arial"/>
                        </a:rPr>
                        <a:t>Food</a:t>
                      </a:r>
                    </a:p>
                  </a:txBody>
                  <a:tcPr marL="76200" marR="76200" marT="38100" marB="38100">
                    <a:solidFill>
                      <a:srgbClr val="FFFFFF"/>
                    </a:solidFill>
                  </a:tcPr>
                </a:tc>
                <a:tc>
                  <a:txBody>
                    <a:bodyPr/>
                    <a:lstStyle/>
                    <a:p>
                      <a:r>
                        <a:rPr sz="1800" b="0">
                          <a:solidFill>
                            <a:srgbClr val="111111"/>
                          </a:solidFill>
                          <a:latin typeface="Arial"/>
                          <a:ea typeface="Arial"/>
                          <a:cs typeface="Arial"/>
                        </a:rPr>
                        <a:t>Food quality</a:t>
                      </a:r>
                    </a:p>
                  </a:txBody>
                  <a:tcPr marL="76200" marR="76200" marT="38100" marB="38100">
                    <a:solidFill>
                      <a:srgbClr val="FFFFFF"/>
                    </a:solidFill>
                  </a:tcPr>
                </a:tc>
              </a:tr>
              <a:tr h="493939">
                <a:tc>
                  <a:txBody>
                    <a:bodyPr/>
                    <a:lstStyle/>
                    <a:p>
                      <a:r>
                        <a:rPr sz="1800" b="0">
                          <a:solidFill>
                            <a:srgbClr val="111111"/>
                          </a:solidFill>
                          <a:latin typeface="Arial"/>
                          <a:ea typeface="Noto Sans CJK SC"/>
                          <a:cs typeface="Noto Sans CJK SC"/>
                        </a:rPr>
                        <a:t>附近有很多餐厅</a:t>
                      </a:r>
                    </a:p>
                  </a:txBody>
                  <a:tcPr marL="76200" marR="76200" marT="38100" marB="38100">
                    <a:solidFill>
                      <a:srgbClr val="F4F5F7"/>
                    </a:solidFill>
                  </a:tcPr>
                </a:tc>
                <a:tc>
                  <a:txBody>
                    <a:bodyPr/>
                    <a:lstStyle/>
                    <a:p>
                      <a:r>
                        <a:rPr sz="1800" b="0">
                          <a:solidFill>
                            <a:srgbClr val="111111"/>
                          </a:solidFill>
                          <a:latin typeface="Arial"/>
                          <a:ea typeface="Arial"/>
                          <a:cs typeface="Arial"/>
                        </a:rPr>
                        <a:t>Location</a:t>
                      </a:r>
                    </a:p>
                  </a:txBody>
                  <a:tcPr marL="76200" marR="76200" marT="38100" marB="38100">
                    <a:solidFill>
                      <a:srgbClr val="F4F5F7"/>
                    </a:solidFill>
                  </a:tcPr>
                </a:tc>
                <a:tc>
                  <a:txBody>
                    <a:bodyPr/>
                    <a:lstStyle/>
                    <a:p>
                      <a:r>
                        <a:rPr sz="1800" b="0">
                          <a:solidFill>
                            <a:srgbClr val="111111"/>
                          </a:solidFill>
                          <a:latin typeface="Arial"/>
                          <a:ea typeface="Arial"/>
                          <a:cs typeface="Arial"/>
                        </a:rPr>
                        <a:t>Access to nearby dining</a:t>
                      </a:r>
                    </a:p>
                  </a:txBody>
                  <a:tcPr marL="76200" marR="76200" marT="38100" marB="38100">
                    <a:solidFill>
                      <a:srgbClr val="F4F5F7"/>
                    </a:solidFill>
                  </a:tcPr>
                </a:tc>
              </a:tr>
            </a:tbl>
          </a:graphicData>
        </a:graphic>
      </p:graphicFrame>
      <p:sp>
        <p:nvSpPr>
          <p:cNvPr id="8" name="Project text 5">
            <a:extLst xmlns:a="http://schemas.openxmlformats.org/drawingml/2006/main">
              <a:ext uri="{FF2B5EF4-FFF2-40B4-BE49-F238E27FC236}">
                <a16:creationId xmlns:a16="http://schemas.microsoft.com/office/drawing/2014/main" id="{704C2DBD-E05C-42EC-AF3D-7B4B785C3EF3}"/>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Label the property discussed, not every object word. Add aspects for distinct claims.</a:t>
            </a:r>
          </a:p>
        </p:txBody>
      </p:sp>
    </p:spTree>
    <p:extLst>
      <p:ext uri="{BB962C8B-B14F-4D97-AF65-F5344CB8AC3E}">
        <p14:creationId xmlns:p14="http://schemas.microsoft.com/office/powerpoint/2010/main" val="49144901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895350" y="2667000"/>
            <a:ext cx="10477500" cy="15240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4350" b="1">
                <a:solidFill>
                  <a:srgbClr val="E30613"/>
                </a:solidFill>
                <a:latin typeface="Arial"/>
                <a:ea typeface="Arial"/>
                <a:cs typeface="Arial"/>
              </a:defRPr>
            </a:pPr>
            <a:r>
              <a:rPr sz="4350" b="1">
                <a:solidFill>
                  <a:srgbClr val="E30613"/>
                </a:solidFill>
                <a:latin typeface="Arial"/>
                <a:ea typeface="Arial"/>
                <a:cs typeface="Arial"/>
              </a:rPr>
              <a:t>EMBEDDINGS</a:t>
            </a:r>
          </a:p>
        </p:txBody>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09</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49144901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TEXT AS NUMBERS</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What is a sentence embedding?</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10</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Project text 5">
            <a:extLst xmlns:a="http://schemas.openxmlformats.org/drawingml/2006/main">
              <a:ext uri="{FF2B5EF4-FFF2-40B4-BE49-F238E27FC236}">
                <a16:creationId xmlns:a16="http://schemas.microsoft.com/office/drawing/2014/main" id="{7C88F5CB-75B4-461F-A49F-CC2BDE116449}"/>
              </a:ext>
            </a:extLst>
          </p:cNvPr>
          <p:cNvSpPr>
            <a:spLocks xmlns:a="http://schemas.openxmlformats.org/drawingml/2006/main" noGrp="1"/>
          </p:cNvSpPr>
          <p:nvPr/>
        </p:nvSpPr>
        <p:spPr>
          <a:xfrm xmlns:a="http://schemas.openxmlformats.org/drawingml/2006/main">
            <a:off x="895350" y="20193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111111"/>
                </a:solidFill>
                <a:latin typeface="Arial"/>
                <a:ea typeface="Noto Sans CJK SC"/>
                <a:cs typeface="Noto Sans CJK SC"/>
              </a:defRPr>
            </a:pPr>
            <a:r>
              <a:rPr sz="2550" b="0">
                <a:solidFill>
                  <a:srgbClr val="111111"/>
                </a:solidFill>
                <a:latin typeface="Arial"/>
                <a:ea typeface="Noto Sans CJK SC"/>
                <a:cs typeface="Noto Sans CJK SC"/>
              </a:rPr>
              <a:t>服务很好，一直住这个酒店。</a:t>
            </a:r>
          </a:p>
        </p:txBody>
      </p:sp>
      <p:sp>
        <p:nvSpPr>
          <p:cNvPr id="8" name="Project text 6">
            <a:extLst xmlns:a="http://schemas.openxmlformats.org/drawingml/2006/main">
              <a:ext uri="{FF2B5EF4-FFF2-40B4-BE49-F238E27FC236}">
                <a16:creationId xmlns:a16="http://schemas.microsoft.com/office/drawing/2014/main" id="{CABE24DD-F075-454E-AFD9-4BD334241693}"/>
              </a:ext>
            </a:extLst>
          </p:cNvPr>
          <p:cNvSpPr>
            <a:spLocks xmlns:a="http://schemas.openxmlformats.org/drawingml/2006/main" noGrp="1"/>
          </p:cNvSpPr>
          <p:nvPr/>
        </p:nvSpPr>
        <p:spPr>
          <a:xfrm xmlns:a="http://schemas.openxmlformats.org/drawingml/2006/main">
            <a:off x="895350" y="2857500"/>
            <a:ext cx="1038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11111"/>
                </a:solidFill>
                <a:latin typeface="Arial"/>
                <a:ea typeface="Arial"/>
                <a:cs typeface="Arial"/>
              </a:defRPr>
            </a:pPr>
            <a:r>
              <a:rPr sz="2250" b="0">
                <a:solidFill>
                  <a:srgbClr val="111111"/>
                </a:solidFill>
                <a:latin typeface="Arial"/>
                <a:ea typeface="Arial"/>
                <a:cs typeface="Arial"/>
              </a:rPr>
              <a:t>A pretrained encoder represents the sentence with 256 numbers.</a:t>
            </a:r>
          </a:p>
        </p:txBody>
      </p:sp>
      <p:sp>
        <p:nvSpPr>
          <p:cNvPr id="9" name="Project text 7">
            <a:extLst xmlns:a="http://schemas.openxmlformats.org/drawingml/2006/main">
              <a:ext uri="{FF2B5EF4-FFF2-40B4-BE49-F238E27FC236}">
                <a16:creationId xmlns:a16="http://schemas.microsoft.com/office/drawing/2014/main" id="{126E931E-F582-49D6-AE9C-C9D05124B756}"/>
              </a:ext>
            </a:extLst>
          </p:cNvPr>
          <p:cNvSpPr>
            <a:spLocks xmlns:a="http://schemas.openxmlformats.org/drawingml/2006/main" noGrp="1"/>
          </p:cNvSpPr>
          <p:nvPr/>
        </p:nvSpPr>
        <p:spPr>
          <a:xfrm xmlns:a="http://schemas.openxmlformats.org/drawingml/2006/main">
            <a:off x="895350" y="3762375"/>
            <a:ext cx="7074408" cy="546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075" b="0">
                <a:solidFill>
                  <a:srgbClr val="2861FF"/>
                </a:solidFill>
                <a:latin typeface="Cambria Math"/>
                <a:ea typeface="Cambria Math"/>
                <a:cs typeface="Cambria Math"/>
              </a:defRPr>
            </a:pPr>
            <a:r>
              <a:rPr sz="3075" b="0">
                <a:solidFill>
                  <a:srgbClr val="2861FF"/>
                </a:solidFill>
                <a:latin typeface="Cambria Math"/>
                <a:ea typeface="Cambria Math"/>
                <a:cs typeface="Cambria Math"/>
              </a:rPr>
              <a:t>x = [ x₀   x₁   x₂   …   x₂₅₅ ]ᵀ</a:t>
            </a:r>
          </a:p>
        </p:txBody>
      </p:sp>
      <p:sp>
        <p:nvSpPr>
          <p:cNvPr id="10" name="Project text 8">
            <a:extLst xmlns:a="http://schemas.openxmlformats.org/drawingml/2006/main">
              <a:ext uri="{FF2B5EF4-FFF2-40B4-BE49-F238E27FC236}">
                <a16:creationId xmlns:a16="http://schemas.microsoft.com/office/drawing/2014/main" id="{DE581FAF-9CAE-4B9E-BA90-C03B1A4B731A}"/>
              </a:ext>
            </a:extLst>
          </p:cNvPr>
          <p:cNvSpPr>
            <a:spLocks xmlns:a="http://schemas.openxmlformats.org/drawingml/2006/main" noGrp="1"/>
          </p:cNvSpPr>
          <p:nvPr/>
        </p:nvSpPr>
        <p:spPr>
          <a:xfrm xmlns:a="http://schemas.openxmlformats.org/drawingml/2006/main">
            <a:off x="895350" y="46767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11111"/>
                </a:solidFill>
                <a:latin typeface="Arial"/>
                <a:ea typeface="Arial"/>
                <a:cs typeface="Arial"/>
              </a:defRPr>
            </a:pPr>
            <a:r>
              <a:rPr sz="2175" b="0">
                <a:solidFill>
                  <a:srgbClr val="111111"/>
                </a:solidFill>
                <a:latin typeface="Arial"/>
                <a:ea typeface="Arial"/>
                <a:cs typeface="Arial"/>
              </a:rPr>
              <a:t>Related sentences can have similar vectors.</a:t>
            </a:r>
          </a:p>
          <a:p xmlns:a="http://schemas.openxmlformats.org/drawingml/2006/main">
            <a:pPr>
              <a:defRPr sz="2175" b="0">
                <a:solidFill>
                  <a:srgbClr val="111111"/>
                </a:solidFill>
                <a:latin typeface="Arial"/>
                <a:ea typeface="Arial"/>
                <a:cs typeface="Arial"/>
              </a:defRPr>
            </a:pPr>
            <a:r>
              <a:rPr sz="2175" b="0">
                <a:solidFill>
                  <a:srgbClr val="111111"/>
                </a:solidFill>
                <a:latin typeface="Arial"/>
                <a:ea typeface="Arial"/>
                <a:cs typeface="Arial"/>
              </a:rPr>
              <a:t>The MLP learns how these vectors relate to our labels.</a:t>
            </a:r>
          </a:p>
        </p:txBody>
      </p:sp>
      <p:sp>
        <p:nvSpPr>
          <p:cNvPr id="11" name="Project text 9">
            <a:extLst xmlns:a="http://schemas.openxmlformats.org/drawingml/2006/main">
              <a:ext uri="{FF2B5EF4-FFF2-40B4-BE49-F238E27FC236}">
                <a16:creationId xmlns:a16="http://schemas.microsoft.com/office/drawing/2014/main" id="{5C046186-5432-4F9C-86A6-C936011BD6A2}"/>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The 256 dimensions do not correspond to 256 named topics.</a:t>
            </a:r>
          </a:p>
        </p:txBody>
      </p:sp>
    </p:spTree>
    <p:extLst>
      <p:ext uri="{BB962C8B-B14F-4D97-AF65-F5344CB8AC3E}">
        <p14:creationId xmlns:p14="http://schemas.microsoft.com/office/powerpoint/2010/main" val="49144901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ACTUAL NEAREST NEIGHBORS</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Similar vectors, similar sentences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11</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Project text 5">
            <a:extLst xmlns:a="http://schemas.openxmlformats.org/drawingml/2006/main">
              <a:ext uri="{FF2B5EF4-FFF2-40B4-BE49-F238E27FC236}">
                <a16:creationId xmlns:a16="http://schemas.microsoft.com/office/drawing/2014/main" id="{E2FFCAE0-820A-4053-A348-9ED1E37A5A5D}"/>
              </a:ext>
            </a:extLst>
          </p:cNvPr>
          <p:cNvSpPr>
            <a:spLocks xmlns:a="http://schemas.openxmlformats.org/drawingml/2006/main" noGrp="1"/>
          </p:cNvSpPr>
          <p:nvPr/>
        </p:nvSpPr>
        <p:spPr>
          <a:xfrm xmlns:a="http://schemas.openxmlformats.org/drawingml/2006/main">
            <a:off x="895350" y="18954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46B73"/>
                </a:solidFill>
                <a:latin typeface="Arial"/>
                <a:ea typeface="Arial"/>
                <a:cs typeface="Arial"/>
              </a:defRPr>
            </a:pPr>
            <a:r>
              <a:rPr sz="1650" b="0">
                <a:solidFill>
                  <a:srgbClr val="646B73"/>
                </a:solidFill>
                <a:latin typeface="Arial"/>
                <a:ea typeface="Arial"/>
                <a:cs typeface="Arial"/>
              </a:rPr>
              <a:t>Query: HTL_S0980</a:t>
            </a:r>
          </a:p>
        </p:txBody>
      </p:sp>
      <p:sp>
        <p:nvSpPr>
          <p:cNvPr id="8" name="Project text 6">
            <a:extLst xmlns:a="http://schemas.openxmlformats.org/drawingml/2006/main">
              <a:ext uri="{FF2B5EF4-FFF2-40B4-BE49-F238E27FC236}">
                <a16:creationId xmlns:a16="http://schemas.microsoft.com/office/drawing/2014/main" id="{31ED8B64-EE4B-43BE-8467-9E9E80BD02F8}"/>
              </a:ext>
            </a:extLst>
          </p:cNvPr>
          <p:cNvSpPr>
            <a:spLocks xmlns:a="http://schemas.openxmlformats.org/drawingml/2006/main" noGrp="1"/>
          </p:cNvSpPr>
          <p:nvPr/>
        </p:nvSpPr>
        <p:spPr>
          <a:xfrm xmlns:a="http://schemas.openxmlformats.org/drawingml/2006/main">
            <a:off x="895350" y="231457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2861FF"/>
                </a:solidFill>
                <a:latin typeface="Arial"/>
                <a:ea typeface="Noto Sans CJK SC"/>
                <a:cs typeface="Noto Sans CJK SC"/>
              </a:defRPr>
            </a:pPr>
            <a:r>
              <a:rPr sz="2475" b="0">
                <a:solidFill>
                  <a:srgbClr val="2861FF"/>
                </a:solidFill>
                <a:latin typeface="Arial"/>
                <a:ea typeface="Noto Sans CJK SC"/>
                <a:cs typeface="Noto Sans CJK SC"/>
              </a:rPr>
              <a:t>服务很好，一直住这个酒店。</a:t>
            </a:r>
          </a:p>
        </p:txBody>
      </p:sp>
      <p:graphicFrame>
        <p:nvGraphicFramePr>
          <p:cNvPr id="18" name=""/>
          <p:cNvGraphicFramePr/>
          <p:nvPr/>
        </p:nvGraphicFramePr>
        <p:xfrm>
          <a:off xmlns:a="http://schemas.openxmlformats.org/drawingml/2006/main" x="895350" y="3228975"/>
          <a:ext xmlns:a="http://schemas.openxmlformats.org/drawingml/2006/main" cx="10382250" cy="2028825"/>
        </p:xfrm>
        <a:graphic xmlns:a="http://schemas.openxmlformats.org/drawingml/2006/main">
          <a:graphicData uri="http://schemas.openxmlformats.org/drawingml/2006/table">
            <a:tbl>
              <a:tblPr/>
              <a:tblGrid>
                <a:gridCol w="8382000"/>
                <a:gridCol w="2000250"/>
              </a:tblGrid>
              <a:tr h="507206">
                <a:tc>
                  <a:txBody>
                    <a:bodyPr/>
                    <a:lstStyle/>
                    <a:p>
                      <a:r>
                        <a:rPr sz="1800" b="1">
                          <a:solidFill>
                            <a:srgbClr val="E30613"/>
                          </a:solidFill>
                          <a:latin typeface="Arial"/>
                          <a:ea typeface="Arial"/>
                          <a:cs typeface="Arial"/>
                        </a:rPr>
                        <a:t>Nearby sentence</a:t>
                      </a:r>
                    </a:p>
                  </a:txBody>
                  <a:tcPr marL="76200" marR="76200" marT="38100" marB="38100">
                    <a:solidFill>
                      <a:srgbClr val="FFF0F2"/>
                    </a:solidFill>
                  </a:tcPr>
                </a:tc>
                <a:tc>
                  <a:txBody>
                    <a:bodyPr/>
                    <a:lstStyle/>
                    <a:p>
                      <a:r>
                        <a:rPr sz="1800" b="1">
                          <a:solidFill>
                            <a:srgbClr val="E30613"/>
                          </a:solidFill>
                          <a:latin typeface="Arial"/>
                          <a:ea typeface="Arial"/>
                          <a:cs typeface="Arial"/>
                        </a:rPr>
                        <a:t>Cosine similarity</a:t>
                      </a:r>
                    </a:p>
                  </a:txBody>
                  <a:tcPr marL="76200" marR="76200" marT="38100" marB="38100">
                    <a:solidFill>
                      <a:srgbClr val="FFF0F2"/>
                    </a:solidFill>
                  </a:tcPr>
                </a:tc>
              </a:tr>
              <a:tr h="507206">
                <a:tc>
                  <a:txBody>
                    <a:bodyPr/>
                    <a:lstStyle/>
                    <a:p>
                      <a:r>
                        <a:rPr sz="1875" b="0">
                          <a:solidFill>
                            <a:srgbClr val="111111"/>
                          </a:solidFill>
                          <a:latin typeface="Arial"/>
                          <a:ea typeface="Noto Sans CJK SC"/>
                          <a:cs typeface="Noto Sans CJK SC"/>
                        </a:rPr>
                        <a:t>每次出差都住在这家酒店，酒店在服务上做得很好。</a:t>
                      </a:r>
                    </a:p>
                  </a:txBody>
                  <a:tcPr marL="76200" marR="76200" marT="38100" marB="38100">
                    <a:solidFill>
                      <a:srgbClr val="FFFFFF"/>
                    </a:solidFill>
                  </a:tcPr>
                </a:tc>
                <a:tc>
                  <a:txBody>
                    <a:bodyPr/>
                    <a:lstStyle/>
                    <a:p>
                      <a:r>
                        <a:rPr sz="1875" b="0">
                          <a:solidFill>
                            <a:srgbClr val="111111"/>
                          </a:solidFill>
                          <a:latin typeface="Arial"/>
                          <a:ea typeface="Arial"/>
                          <a:cs typeface="Arial"/>
                        </a:rPr>
                        <a:t>0.877</a:t>
                      </a:r>
                    </a:p>
                  </a:txBody>
                  <a:tcPr marL="76200" marR="76200" marT="38100" marB="38100">
                    <a:solidFill>
                      <a:srgbClr val="FFFFFF"/>
                    </a:solidFill>
                  </a:tcPr>
                </a:tc>
              </a:tr>
              <a:tr h="507206">
                <a:tc>
                  <a:txBody>
                    <a:bodyPr/>
                    <a:lstStyle/>
                    <a:p>
                      <a:r>
                        <a:rPr sz="1875" b="0">
                          <a:solidFill>
                            <a:srgbClr val="111111"/>
                          </a:solidFill>
                          <a:latin typeface="Arial"/>
                          <a:ea typeface="Noto Sans CJK SC"/>
                          <a:cs typeface="Noto Sans CJK SC"/>
                        </a:rPr>
                        <a:t>第二次入住，酒店的服务还是一如既往地好！</a:t>
                      </a:r>
                    </a:p>
                  </a:txBody>
                  <a:tcPr marL="76200" marR="76200" marT="38100" marB="38100">
                    <a:solidFill>
                      <a:srgbClr val="F4F5F7"/>
                    </a:solidFill>
                  </a:tcPr>
                </a:tc>
                <a:tc>
                  <a:txBody>
                    <a:bodyPr/>
                    <a:lstStyle/>
                    <a:p>
                      <a:r>
                        <a:rPr sz="1875" b="0">
                          <a:solidFill>
                            <a:srgbClr val="111111"/>
                          </a:solidFill>
                          <a:latin typeface="Arial"/>
                          <a:ea typeface="Arial"/>
                          <a:cs typeface="Arial"/>
                        </a:rPr>
                        <a:t>0.843</a:t>
                      </a:r>
                    </a:p>
                  </a:txBody>
                  <a:tcPr marL="76200" marR="76200" marT="38100" marB="38100">
                    <a:solidFill>
                      <a:srgbClr val="F4F5F7"/>
                    </a:solidFill>
                  </a:tcPr>
                </a:tc>
              </a:tr>
              <a:tr h="507206">
                <a:tc>
                  <a:txBody>
                    <a:bodyPr/>
                    <a:lstStyle/>
                    <a:p>
                      <a:r>
                        <a:rPr sz="1875" b="0">
                          <a:solidFill>
                            <a:srgbClr val="111111"/>
                          </a:solidFill>
                          <a:latin typeface="Arial"/>
                          <a:ea typeface="Noto Sans CJK SC"/>
                          <a:cs typeface="Noto Sans CJK SC"/>
                        </a:rPr>
                        <a:t>对酒店的服务非常满意…提供的时间承诺都能遵守…</a:t>
                      </a:r>
                    </a:p>
                  </a:txBody>
                  <a:tcPr marL="76200" marR="76200" marT="38100" marB="38100">
                    <a:solidFill>
                      <a:srgbClr val="FFFFFF"/>
                    </a:solidFill>
                  </a:tcPr>
                </a:tc>
                <a:tc>
                  <a:txBody>
                    <a:bodyPr/>
                    <a:lstStyle/>
                    <a:p>
                      <a:r>
                        <a:rPr sz="1875" b="0">
                          <a:solidFill>
                            <a:srgbClr val="111111"/>
                          </a:solidFill>
                          <a:latin typeface="Arial"/>
                          <a:ea typeface="Arial"/>
                          <a:cs typeface="Arial"/>
                        </a:rPr>
                        <a:t>0.802</a:t>
                      </a:r>
                    </a:p>
                  </a:txBody>
                  <a:tcPr marL="76200" marR="76200" marT="38100" marB="38100">
                    <a:solidFill>
                      <a:srgbClr val="FFFFFF"/>
                    </a:solidFill>
                  </a:tcPr>
                </a:tc>
              </a:tr>
            </a:tbl>
          </a:graphicData>
        </a:graphic>
      </p:graphicFrame>
      <p:sp>
        <p:nvSpPr>
          <p:cNvPr id="10" name="Project text 7">
            <a:extLst xmlns:a="http://schemas.openxmlformats.org/drawingml/2006/main">
              <a:ext uri="{FF2B5EF4-FFF2-40B4-BE49-F238E27FC236}">
                <a16:creationId xmlns:a16="http://schemas.microsoft.com/office/drawing/2014/main" id="{B39BAC4C-4E4A-4411-9A91-23B7518EE853}"/>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Similarity helps exploration. It does not guarantee the same aspect or sentiment.</a:t>
            </a:r>
          </a:p>
        </p:txBody>
      </p:sp>
    </p:spTree>
    <p:extLst>
      <p:ext uri="{BB962C8B-B14F-4D97-AF65-F5344CB8AC3E}">
        <p14:creationId xmlns:p14="http://schemas.microsoft.com/office/powerpoint/2010/main" val="49144901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ACTUAL CLUSTERING</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A 2D view of eight clusters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12</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21" name="Chart"/>
          <p:cNvGraphicFramePr/>
          <p:nvPr/>
        </p:nvGraphicFramePr>
        <p:xfrm>
          <a:off xmlns:a="http://schemas.openxmlformats.org/drawingml/2006/main" x="895350" y="1809750"/>
          <a:ext xmlns:a="http://schemas.openxmlformats.org/drawingml/2006/main" cx="2476500" cy="1809750"/>
        </p:xfrm>
        <a:graphic xmlns:a="http://schemas.openxmlformats.org/drawingml/2006/main">
          <a:graphicData uri="http://schemas.openxmlformats.org/drawingml/2006/chart">
            <c:chart xmlns:r="http://schemas.openxmlformats.org/officeDocument/2006/relationships" xmlns:c="http://schemas.openxmlformats.org/drawingml/2006/chart" r:id="R7e7273ce4a824add"/>
          </a:graphicData>
        </a:graphic>
      </p:graphicFrame>
      <p:graphicFrame>
        <p:nvGraphicFramePr>
          <p:cNvPr id="22" name="Chart"/>
          <p:cNvGraphicFramePr/>
          <p:nvPr/>
        </p:nvGraphicFramePr>
        <p:xfrm>
          <a:off xmlns:a="http://schemas.openxmlformats.org/drawingml/2006/main" x="3562350" y="1809750"/>
          <a:ext xmlns:a="http://schemas.openxmlformats.org/drawingml/2006/main" cx="2476500" cy="1809750"/>
        </p:xfrm>
        <a:graphic xmlns:a="http://schemas.openxmlformats.org/drawingml/2006/main">
          <a:graphicData uri="http://schemas.openxmlformats.org/drawingml/2006/chart">
            <c:chart xmlns:r="http://schemas.openxmlformats.org/officeDocument/2006/relationships" xmlns:c="http://schemas.openxmlformats.org/drawingml/2006/chart" r:id="R4771b135eb3248f0"/>
          </a:graphicData>
        </a:graphic>
      </p:graphicFrame>
      <p:graphicFrame>
        <p:nvGraphicFramePr>
          <p:cNvPr id="23" name="Chart"/>
          <p:cNvGraphicFramePr/>
          <p:nvPr/>
        </p:nvGraphicFramePr>
        <p:xfrm>
          <a:off xmlns:a="http://schemas.openxmlformats.org/drawingml/2006/main" x="6229350" y="1809750"/>
          <a:ext xmlns:a="http://schemas.openxmlformats.org/drawingml/2006/main" cx="2476500" cy="1809750"/>
        </p:xfrm>
        <a:graphic xmlns:a="http://schemas.openxmlformats.org/drawingml/2006/main">
          <a:graphicData uri="http://schemas.openxmlformats.org/drawingml/2006/chart">
            <c:chart xmlns:r="http://schemas.openxmlformats.org/officeDocument/2006/relationships" xmlns:c="http://schemas.openxmlformats.org/drawingml/2006/chart" r:id="Reacfc5be21b149df"/>
          </a:graphicData>
        </a:graphic>
      </p:graphicFrame>
      <p:graphicFrame>
        <p:nvGraphicFramePr>
          <p:cNvPr id="24" name="Chart"/>
          <p:cNvGraphicFramePr/>
          <p:nvPr/>
        </p:nvGraphicFramePr>
        <p:xfrm>
          <a:off xmlns:a="http://schemas.openxmlformats.org/drawingml/2006/main" x="8896350" y="1809750"/>
          <a:ext xmlns:a="http://schemas.openxmlformats.org/drawingml/2006/main" cx="2476500" cy="1809750"/>
        </p:xfrm>
        <a:graphic xmlns:a="http://schemas.openxmlformats.org/drawingml/2006/main">
          <a:graphicData uri="http://schemas.openxmlformats.org/drawingml/2006/chart">
            <c:chart xmlns:r="http://schemas.openxmlformats.org/officeDocument/2006/relationships" xmlns:c="http://schemas.openxmlformats.org/drawingml/2006/chart" r:id="R44b63cfc4e74412a"/>
          </a:graphicData>
        </a:graphic>
      </p:graphicFrame>
      <p:graphicFrame>
        <p:nvGraphicFramePr>
          <p:cNvPr id="25" name="Chart"/>
          <p:cNvGraphicFramePr/>
          <p:nvPr/>
        </p:nvGraphicFramePr>
        <p:xfrm>
          <a:off xmlns:a="http://schemas.openxmlformats.org/drawingml/2006/main" x="895350" y="3714750"/>
          <a:ext xmlns:a="http://schemas.openxmlformats.org/drawingml/2006/main" cx="2476500" cy="1809750"/>
        </p:xfrm>
        <a:graphic xmlns:a="http://schemas.openxmlformats.org/drawingml/2006/main">
          <a:graphicData uri="http://schemas.openxmlformats.org/drawingml/2006/chart">
            <c:chart xmlns:r="http://schemas.openxmlformats.org/officeDocument/2006/relationships" xmlns:c="http://schemas.openxmlformats.org/drawingml/2006/chart" r:id="R5b5c46a4d5e74ad9"/>
          </a:graphicData>
        </a:graphic>
      </p:graphicFrame>
      <p:graphicFrame>
        <p:nvGraphicFramePr>
          <p:cNvPr id="26" name="Chart"/>
          <p:cNvGraphicFramePr/>
          <p:nvPr/>
        </p:nvGraphicFramePr>
        <p:xfrm>
          <a:off xmlns:a="http://schemas.openxmlformats.org/drawingml/2006/main" x="3562350" y="3714750"/>
          <a:ext xmlns:a="http://schemas.openxmlformats.org/drawingml/2006/main" cx="2476500" cy="1809750"/>
        </p:xfrm>
        <a:graphic xmlns:a="http://schemas.openxmlformats.org/drawingml/2006/main">
          <a:graphicData uri="http://schemas.openxmlformats.org/drawingml/2006/chart">
            <c:chart xmlns:r="http://schemas.openxmlformats.org/officeDocument/2006/relationships" xmlns:c="http://schemas.openxmlformats.org/drawingml/2006/chart" r:id="Rf58049b15d1b4ec1"/>
          </a:graphicData>
        </a:graphic>
      </p:graphicFrame>
      <p:graphicFrame>
        <p:nvGraphicFramePr>
          <p:cNvPr id="27" name="Chart"/>
          <p:cNvGraphicFramePr/>
          <p:nvPr/>
        </p:nvGraphicFramePr>
        <p:xfrm>
          <a:off xmlns:a="http://schemas.openxmlformats.org/drawingml/2006/main" x="6229350" y="3714750"/>
          <a:ext xmlns:a="http://schemas.openxmlformats.org/drawingml/2006/main" cx="2476500" cy="1809750"/>
        </p:xfrm>
        <a:graphic xmlns:a="http://schemas.openxmlformats.org/drawingml/2006/main">
          <a:graphicData uri="http://schemas.openxmlformats.org/drawingml/2006/chart">
            <c:chart xmlns:r="http://schemas.openxmlformats.org/officeDocument/2006/relationships" xmlns:c="http://schemas.openxmlformats.org/drawingml/2006/chart" r:id="Rdf6df8f0578f4930"/>
          </a:graphicData>
        </a:graphic>
      </p:graphicFrame>
      <p:graphicFrame>
        <p:nvGraphicFramePr>
          <p:cNvPr id="28" name="Chart"/>
          <p:cNvGraphicFramePr/>
          <p:nvPr/>
        </p:nvGraphicFramePr>
        <p:xfrm>
          <a:off xmlns:a="http://schemas.openxmlformats.org/drawingml/2006/main" x="8896350" y="3714750"/>
          <a:ext xmlns:a="http://schemas.openxmlformats.org/drawingml/2006/main" cx="2476500" cy="1809750"/>
        </p:xfrm>
        <a:graphic xmlns:a="http://schemas.openxmlformats.org/drawingml/2006/main">
          <a:graphicData uri="http://schemas.openxmlformats.org/drawingml/2006/chart">
            <c:chart xmlns:r="http://schemas.openxmlformats.org/officeDocument/2006/relationships" xmlns:c="http://schemas.openxmlformats.org/drawingml/2006/chart" r:id="Rf4df29da381f419f"/>
          </a:graphicData>
        </a:graphic>
      </p:graphicFrame>
      <p:sp>
        <p:nvSpPr>
          <p:cNvPr id="15" name="Project text 5">
            <a:extLst xmlns:a="http://schemas.openxmlformats.org/drawingml/2006/main">
              <a:ext uri="{FF2B5EF4-FFF2-40B4-BE49-F238E27FC236}">
                <a16:creationId xmlns:a16="http://schemas.microsoft.com/office/drawing/2014/main" id="{AFD4B83F-2D53-43FB-B1EB-675F49EE085C}"/>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Same PCA axes in every panel. Variance shown: 11.8%. Cluster IDs are not aspect labels.</a:t>
            </a:r>
          </a:p>
        </p:txBody>
      </p:sp>
    </p:spTree>
    <p:extLst>
      <p:ext uri="{BB962C8B-B14F-4D97-AF65-F5344CB8AC3E}">
        <p14:creationId xmlns:p14="http://schemas.microsoft.com/office/powerpoint/2010/main" val="49144901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READING THE CLUSTERS</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What do the clusters contain?</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13</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4" name=""/>
          <p:cNvGraphicFramePr/>
          <p:nvPr/>
        </p:nvGraphicFramePr>
        <p:xfrm>
          <a:off xmlns:a="http://schemas.openxmlformats.org/drawingml/2006/main" x="895350" y="1876425"/>
          <a:ext xmlns:a="http://schemas.openxmlformats.org/drawingml/2006/main" cx="10382250" cy="3705225"/>
        </p:xfrm>
        <a:graphic xmlns:a="http://schemas.openxmlformats.org/drawingml/2006/main">
          <a:graphicData uri="http://schemas.openxmlformats.org/drawingml/2006/table">
            <a:tbl>
              <a:tblPr/>
              <a:tblGrid>
                <a:gridCol w="1381125"/>
                <a:gridCol w="1571625"/>
                <a:gridCol w="7429500"/>
              </a:tblGrid>
              <a:tr h="411692">
                <a:tc>
                  <a:txBody>
                    <a:bodyPr/>
                    <a:lstStyle/>
                    <a:p>
                      <a:r>
                        <a:rPr sz="1650" b="1">
                          <a:solidFill>
                            <a:srgbClr val="E30613"/>
                          </a:solidFill>
                          <a:latin typeface="Arial"/>
                          <a:ea typeface="Arial"/>
                          <a:cs typeface="Arial"/>
                        </a:rPr>
                        <a:t>Cluster</a:t>
                      </a:r>
                    </a:p>
                  </a:txBody>
                  <a:tcPr marL="76200" marR="76200" marT="38100" marB="38100">
                    <a:solidFill>
                      <a:srgbClr val="FFF0F2"/>
                    </a:solidFill>
                  </a:tcPr>
                </a:tc>
                <a:tc>
                  <a:txBody>
                    <a:bodyPr/>
                    <a:lstStyle/>
                    <a:p>
                      <a:r>
                        <a:rPr sz="1650" b="1">
                          <a:solidFill>
                            <a:srgbClr val="E30613"/>
                          </a:solidFill>
                          <a:latin typeface="Arial"/>
                          <a:ea typeface="Arial"/>
                          <a:cs typeface="Arial"/>
                        </a:rPr>
                        <a:t>Sentences</a:t>
                      </a:r>
                    </a:p>
                  </a:txBody>
                  <a:tcPr marL="76200" marR="76200" marT="38100" marB="38100">
                    <a:solidFill>
                      <a:srgbClr val="FFF0F2"/>
                    </a:solidFill>
                  </a:tcPr>
                </a:tc>
                <a:tc>
                  <a:txBody>
                    <a:bodyPr/>
                    <a:lstStyle/>
                    <a:p>
                      <a:r>
                        <a:rPr sz="1650" b="1">
                          <a:solidFill>
                            <a:srgbClr val="E30613"/>
                          </a:solidFill>
                          <a:latin typeface="Arial"/>
                          <a:ea typeface="Arial"/>
                          <a:cs typeface="Arial"/>
                        </a:rPr>
                        <a:t>Themes in inspected examples</a:t>
                      </a:r>
                    </a:p>
                  </a:txBody>
                  <a:tcPr marL="76200" marR="76200" marT="38100" marB="38100">
                    <a:solidFill>
                      <a:srgbClr val="FFF0F2"/>
                    </a:solidFill>
                  </a:tcPr>
                </a:tc>
              </a:tr>
              <a:tr h="411692">
                <a:tc>
                  <a:txBody>
                    <a:bodyPr/>
                    <a:lstStyle/>
                    <a:p>
                      <a:r>
                        <a:rPr sz="1725" b="0">
                          <a:solidFill>
                            <a:srgbClr val="111111"/>
                          </a:solidFill>
                          <a:latin typeface="Arial"/>
                          <a:ea typeface="Arial"/>
                          <a:cs typeface="Arial"/>
                        </a:rPr>
                        <a:t>C0</a:t>
                      </a:r>
                    </a:p>
                  </a:txBody>
                  <a:tcPr marL="76200" marR="76200" marT="38100" marB="38100">
                    <a:solidFill>
                      <a:srgbClr val="FFFFFF"/>
                    </a:solidFill>
                  </a:tcPr>
                </a:tc>
                <a:tc>
                  <a:txBody>
                    <a:bodyPr/>
                    <a:lstStyle/>
                    <a:p>
                      <a:r>
                        <a:rPr sz="1725" b="0">
                          <a:solidFill>
                            <a:srgbClr val="111111"/>
                          </a:solidFill>
                          <a:latin typeface="Arial"/>
                          <a:ea typeface="Arial"/>
                          <a:cs typeface="Arial"/>
                        </a:rPr>
                        <a:t>146</a:t>
                      </a:r>
                    </a:p>
                  </a:txBody>
                  <a:tcPr marL="76200" marR="76200" marT="38100" marB="38100">
                    <a:solidFill>
                      <a:srgbClr val="FFFFFF"/>
                    </a:solidFill>
                  </a:tcPr>
                </a:tc>
                <a:tc>
                  <a:txBody>
                    <a:bodyPr/>
                    <a:lstStyle/>
                    <a:p>
                      <a:r>
                        <a:rPr sz="1725" b="0">
                          <a:solidFill>
                            <a:srgbClr val="111111"/>
                          </a:solidFill>
                          <a:latin typeface="Arial"/>
                          <a:ea typeface="Arial"/>
                          <a:cs typeface="Arial"/>
                        </a:rPr>
                        <a:t>Noise, poor sound insulation and sleep</a:t>
                      </a:r>
                    </a:p>
                  </a:txBody>
                  <a:tcPr marL="76200" marR="76200" marT="38100" marB="38100">
                    <a:solidFill>
                      <a:srgbClr val="FFFFFF"/>
                    </a:solidFill>
                  </a:tcPr>
                </a:tc>
              </a:tr>
              <a:tr h="411692">
                <a:tc>
                  <a:txBody>
                    <a:bodyPr/>
                    <a:lstStyle/>
                    <a:p>
                      <a:r>
                        <a:rPr sz="1725" b="0">
                          <a:solidFill>
                            <a:srgbClr val="111111"/>
                          </a:solidFill>
                          <a:latin typeface="Arial"/>
                          <a:ea typeface="Arial"/>
                          <a:cs typeface="Arial"/>
                        </a:rPr>
                        <a:t>C1</a:t>
                      </a:r>
                    </a:p>
                  </a:txBody>
                  <a:tcPr marL="76200" marR="76200" marT="38100" marB="38100">
                    <a:solidFill>
                      <a:srgbClr val="F4F5F7"/>
                    </a:solidFill>
                  </a:tcPr>
                </a:tc>
                <a:tc>
                  <a:txBody>
                    <a:bodyPr/>
                    <a:lstStyle/>
                    <a:p>
                      <a:r>
                        <a:rPr sz="1725" b="0">
                          <a:solidFill>
                            <a:srgbClr val="111111"/>
                          </a:solidFill>
                          <a:latin typeface="Arial"/>
                          <a:ea typeface="Arial"/>
                          <a:cs typeface="Arial"/>
                        </a:rPr>
                        <a:t>336</a:t>
                      </a:r>
                    </a:p>
                  </a:txBody>
                  <a:tcPr marL="76200" marR="76200" marT="38100" marB="38100">
                    <a:solidFill>
                      <a:srgbClr val="F4F5F7"/>
                    </a:solidFill>
                  </a:tcPr>
                </a:tc>
                <a:tc>
                  <a:txBody>
                    <a:bodyPr/>
                    <a:lstStyle/>
                    <a:p>
                      <a:r>
                        <a:rPr sz="1725" b="0">
                          <a:solidFill>
                            <a:srgbClr val="111111"/>
                          </a:solidFill>
                          <a:latin typeface="Arial"/>
                          <a:ea typeface="Arial"/>
                          <a:cs typeface="Arial"/>
                        </a:rPr>
                        <a:t>Positive room and value evaluations</a:t>
                      </a:r>
                    </a:p>
                  </a:txBody>
                  <a:tcPr marL="76200" marR="76200" marT="38100" marB="38100">
                    <a:solidFill>
                      <a:srgbClr val="F4F5F7"/>
                    </a:solidFill>
                  </a:tcPr>
                </a:tc>
              </a:tr>
              <a:tr h="411692">
                <a:tc>
                  <a:txBody>
                    <a:bodyPr/>
                    <a:lstStyle/>
                    <a:p>
                      <a:r>
                        <a:rPr sz="1725" b="0">
                          <a:solidFill>
                            <a:srgbClr val="111111"/>
                          </a:solidFill>
                          <a:latin typeface="Arial"/>
                          <a:ea typeface="Arial"/>
                          <a:cs typeface="Arial"/>
                        </a:rPr>
                        <a:t>C2</a:t>
                      </a:r>
                    </a:p>
                  </a:txBody>
                  <a:tcPr marL="76200" marR="76200" marT="38100" marB="38100">
                    <a:solidFill>
                      <a:srgbClr val="FFFFFF"/>
                    </a:solidFill>
                  </a:tcPr>
                </a:tc>
                <a:tc>
                  <a:txBody>
                    <a:bodyPr/>
                    <a:lstStyle/>
                    <a:p>
                      <a:r>
                        <a:rPr sz="1725" b="0">
                          <a:solidFill>
                            <a:srgbClr val="111111"/>
                          </a:solidFill>
                          <a:latin typeface="Arial"/>
                          <a:ea typeface="Arial"/>
                          <a:cs typeface="Arial"/>
                        </a:rPr>
                        <a:t>239</a:t>
                      </a:r>
                    </a:p>
                  </a:txBody>
                  <a:tcPr marL="76200" marR="76200" marT="38100" marB="38100">
                    <a:solidFill>
                      <a:srgbClr val="FFFFFF"/>
                    </a:solidFill>
                  </a:tcPr>
                </a:tc>
                <a:tc>
                  <a:txBody>
                    <a:bodyPr/>
                    <a:lstStyle/>
                    <a:p>
                      <a:r>
                        <a:rPr sz="1725" b="0">
                          <a:solidFill>
                            <a:srgbClr val="111111"/>
                          </a:solidFill>
                          <a:latin typeface="Arial"/>
                          <a:ea typeface="Arial"/>
                          <a:cs typeface="Arial"/>
                        </a:rPr>
                        <a:t>Location, transport and surroundings</a:t>
                      </a:r>
                    </a:p>
                  </a:txBody>
                  <a:tcPr marL="76200" marR="76200" marT="38100" marB="38100">
                    <a:solidFill>
                      <a:srgbClr val="FFFFFF"/>
                    </a:solidFill>
                  </a:tcPr>
                </a:tc>
              </a:tr>
              <a:tr h="411692">
                <a:tc>
                  <a:txBody>
                    <a:bodyPr/>
                    <a:lstStyle/>
                    <a:p>
                      <a:r>
                        <a:rPr sz="1725" b="0">
                          <a:solidFill>
                            <a:srgbClr val="111111"/>
                          </a:solidFill>
                          <a:latin typeface="Arial"/>
                          <a:ea typeface="Arial"/>
                          <a:cs typeface="Arial"/>
                        </a:rPr>
                        <a:t>C3</a:t>
                      </a:r>
                    </a:p>
                  </a:txBody>
                  <a:tcPr marL="76200" marR="76200" marT="38100" marB="38100">
                    <a:solidFill>
                      <a:srgbClr val="F4F5F7"/>
                    </a:solidFill>
                  </a:tcPr>
                </a:tc>
                <a:tc>
                  <a:txBody>
                    <a:bodyPr/>
                    <a:lstStyle/>
                    <a:p>
                      <a:r>
                        <a:rPr sz="1725" b="0">
                          <a:solidFill>
                            <a:srgbClr val="111111"/>
                          </a:solidFill>
                          <a:latin typeface="Arial"/>
                          <a:ea typeface="Arial"/>
                          <a:cs typeface="Arial"/>
                        </a:rPr>
                        <a:t>278</a:t>
                      </a:r>
                    </a:p>
                  </a:txBody>
                  <a:tcPr marL="76200" marR="76200" marT="38100" marB="38100">
                    <a:solidFill>
                      <a:srgbClr val="F4F5F7"/>
                    </a:solidFill>
                  </a:tcPr>
                </a:tc>
                <a:tc>
                  <a:txBody>
                    <a:bodyPr/>
                    <a:lstStyle/>
                    <a:p>
                      <a:r>
                        <a:rPr sz="1725" b="0">
                          <a:solidFill>
                            <a:srgbClr val="111111"/>
                          </a:solidFill>
                          <a:latin typeface="Arial"/>
                          <a:ea typeface="Arial"/>
                          <a:cs typeface="Arial"/>
                        </a:rPr>
                        <a:t>Mixed narratives, complaints and some replies</a:t>
                      </a:r>
                    </a:p>
                  </a:txBody>
                  <a:tcPr marL="76200" marR="76200" marT="38100" marB="38100">
                    <a:solidFill>
                      <a:srgbClr val="F4F5F7"/>
                    </a:solidFill>
                  </a:tcPr>
                </a:tc>
              </a:tr>
              <a:tr h="411692">
                <a:tc>
                  <a:txBody>
                    <a:bodyPr/>
                    <a:lstStyle/>
                    <a:p>
                      <a:r>
                        <a:rPr sz="1725" b="0">
                          <a:solidFill>
                            <a:srgbClr val="111111"/>
                          </a:solidFill>
                          <a:latin typeface="Arial"/>
                          <a:ea typeface="Arial"/>
                          <a:cs typeface="Arial"/>
                        </a:rPr>
                        <a:t>C4</a:t>
                      </a:r>
                    </a:p>
                  </a:txBody>
                  <a:tcPr marL="76200" marR="76200" marT="38100" marB="38100">
                    <a:solidFill>
                      <a:srgbClr val="FFFFFF"/>
                    </a:solidFill>
                  </a:tcPr>
                </a:tc>
                <a:tc>
                  <a:txBody>
                    <a:bodyPr/>
                    <a:lstStyle/>
                    <a:p>
                      <a:r>
                        <a:rPr sz="1725" b="0">
                          <a:solidFill>
                            <a:srgbClr val="111111"/>
                          </a:solidFill>
                          <a:latin typeface="Arial"/>
                          <a:ea typeface="Arial"/>
                          <a:cs typeface="Arial"/>
                        </a:rPr>
                        <a:t>300</a:t>
                      </a:r>
                    </a:p>
                  </a:txBody>
                  <a:tcPr marL="76200" marR="76200" marT="38100" marB="38100">
                    <a:solidFill>
                      <a:srgbClr val="FFFFFF"/>
                    </a:solidFill>
                  </a:tcPr>
                </a:tc>
                <a:tc>
                  <a:txBody>
                    <a:bodyPr/>
                    <a:lstStyle/>
                    <a:p>
                      <a:r>
                        <a:rPr sz="1725" b="0">
                          <a:solidFill>
                            <a:srgbClr val="111111"/>
                          </a:solidFill>
                          <a:latin typeface="Arial"/>
                          <a:ea typeface="Arial"/>
                          <a:cs typeface="Arial"/>
                        </a:rPr>
                        <a:t>Booking, check-in and billing problems</a:t>
                      </a:r>
                    </a:p>
                  </a:txBody>
                  <a:tcPr marL="76200" marR="76200" marT="38100" marB="38100">
                    <a:solidFill>
                      <a:srgbClr val="FFFFFF"/>
                    </a:solidFill>
                  </a:tcPr>
                </a:tc>
              </a:tr>
              <a:tr h="411692">
                <a:tc>
                  <a:txBody>
                    <a:bodyPr/>
                    <a:lstStyle/>
                    <a:p>
                      <a:r>
                        <a:rPr sz="1725" b="0">
                          <a:solidFill>
                            <a:srgbClr val="111111"/>
                          </a:solidFill>
                          <a:latin typeface="Arial"/>
                          <a:ea typeface="Arial"/>
                          <a:cs typeface="Arial"/>
                        </a:rPr>
                        <a:t>C5</a:t>
                      </a:r>
                    </a:p>
                  </a:txBody>
                  <a:tcPr marL="76200" marR="76200" marT="38100" marB="38100">
                    <a:solidFill>
                      <a:srgbClr val="F4F5F7"/>
                    </a:solidFill>
                  </a:tcPr>
                </a:tc>
                <a:tc>
                  <a:txBody>
                    <a:bodyPr/>
                    <a:lstStyle/>
                    <a:p>
                      <a:r>
                        <a:rPr sz="1725" b="0">
                          <a:solidFill>
                            <a:srgbClr val="111111"/>
                          </a:solidFill>
                          <a:latin typeface="Arial"/>
                          <a:ea typeface="Arial"/>
                          <a:cs typeface="Arial"/>
                        </a:rPr>
                        <a:t>194</a:t>
                      </a:r>
                    </a:p>
                  </a:txBody>
                  <a:tcPr marL="76200" marR="76200" marT="38100" marB="38100">
                    <a:solidFill>
                      <a:srgbClr val="F4F5F7"/>
                    </a:solidFill>
                  </a:tcPr>
                </a:tc>
                <a:tc>
                  <a:txBody>
                    <a:bodyPr/>
                    <a:lstStyle/>
                    <a:p>
                      <a:r>
                        <a:rPr sz="1725" b="0">
                          <a:solidFill>
                            <a:srgbClr val="111111"/>
                          </a:solidFill>
                          <a:latin typeface="Arial"/>
                          <a:ea typeface="Arial"/>
                          <a:cs typeface="Arial"/>
                        </a:rPr>
                        <a:t>Service praise and repeat stays</a:t>
                      </a:r>
                    </a:p>
                  </a:txBody>
                  <a:tcPr marL="76200" marR="76200" marT="38100" marB="38100">
                    <a:solidFill>
                      <a:srgbClr val="F4F5F7"/>
                    </a:solidFill>
                  </a:tcPr>
                </a:tc>
              </a:tr>
              <a:tr h="411692">
                <a:tc>
                  <a:txBody>
                    <a:bodyPr/>
                    <a:lstStyle/>
                    <a:p>
                      <a:r>
                        <a:rPr sz="1725" b="0">
                          <a:solidFill>
                            <a:srgbClr val="111111"/>
                          </a:solidFill>
                          <a:latin typeface="Arial"/>
                          <a:ea typeface="Arial"/>
                          <a:cs typeface="Arial"/>
                        </a:rPr>
                        <a:t>C6</a:t>
                      </a:r>
                    </a:p>
                  </a:txBody>
                  <a:tcPr marL="76200" marR="76200" marT="38100" marB="38100">
                    <a:solidFill>
                      <a:srgbClr val="FFFFFF"/>
                    </a:solidFill>
                  </a:tcPr>
                </a:tc>
                <a:tc>
                  <a:txBody>
                    <a:bodyPr/>
                    <a:lstStyle/>
                    <a:p>
                      <a:r>
                        <a:rPr sz="1725" b="0">
                          <a:solidFill>
                            <a:srgbClr val="111111"/>
                          </a:solidFill>
                          <a:latin typeface="Arial"/>
                          <a:ea typeface="Arial"/>
                          <a:cs typeface="Arial"/>
                        </a:rPr>
                        <a:t>379</a:t>
                      </a:r>
                    </a:p>
                  </a:txBody>
                  <a:tcPr marL="76200" marR="76200" marT="38100" marB="38100">
                    <a:solidFill>
                      <a:srgbClr val="FFFFFF"/>
                    </a:solidFill>
                  </a:tcPr>
                </a:tc>
                <a:tc>
                  <a:txBody>
                    <a:bodyPr/>
                    <a:lstStyle/>
                    <a:p>
                      <a:r>
                        <a:rPr sz="1725" b="0">
                          <a:solidFill>
                            <a:srgbClr val="111111"/>
                          </a:solidFill>
                          <a:latin typeface="Arial"/>
                          <a:ea typeface="Arial"/>
                          <a:cs typeface="Arial"/>
                        </a:rPr>
                        <a:t>Room condition, cleanliness and complaints</a:t>
                      </a:r>
                    </a:p>
                  </a:txBody>
                  <a:tcPr marL="76200" marR="76200" marT="38100" marB="38100">
                    <a:solidFill>
                      <a:srgbClr val="FFFFFF"/>
                    </a:solidFill>
                  </a:tcPr>
                </a:tc>
              </a:tr>
              <a:tr h="411692">
                <a:tc>
                  <a:txBody>
                    <a:bodyPr/>
                    <a:lstStyle/>
                    <a:p>
                      <a:r>
                        <a:rPr sz="1725" b="0">
                          <a:solidFill>
                            <a:srgbClr val="111111"/>
                          </a:solidFill>
                          <a:latin typeface="Arial"/>
                          <a:ea typeface="Arial"/>
                          <a:cs typeface="Arial"/>
                        </a:rPr>
                        <a:t>C7</a:t>
                      </a:r>
                    </a:p>
                  </a:txBody>
                  <a:tcPr marL="76200" marR="76200" marT="38100" marB="38100">
                    <a:solidFill>
                      <a:srgbClr val="F4F5F7"/>
                    </a:solidFill>
                  </a:tcPr>
                </a:tc>
                <a:tc>
                  <a:txBody>
                    <a:bodyPr/>
                    <a:lstStyle/>
                    <a:p>
                      <a:r>
                        <a:rPr sz="1725" b="0">
                          <a:solidFill>
                            <a:srgbClr val="111111"/>
                          </a:solidFill>
                          <a:latin typeface="Arial"/>
                          <a:ea typeface="Arial"/>
                          <a:cs typeface="Arial"/>
                        </a:rPr>
                        <a:t>128</a:t>
                      </a:r>
                    </a:p>
                  </a:txBody>
                  <a:tcPr marL="76200" marR="76200" marT="38100" marB="38100">
                    <a:solidFill>
                      <a:srgbClr val="F4F5F7"/>
                    </a:solidFill>
                  </a:tcPr>
                </a:tc>
                <a:tc>
                  <a:txBody>
                    <a:bodyPr/>
                    <a:lstStyle/>
                    <a:p>
                      <a:r>
                        <a:rPr sz="1725" b="0">
                          <a:solidFill>
                            <a:srgbClr val="111111"/>
                          </a:solidFill>
                          <a:latin typeface="Arial"/>
                          <a:ea typeface="Arial"/>
                          <a:cs typeface="Arial"/>
                        </a:rPr>
                        <a:t>Breakfast and hotel dining</a:t>
                      </a:r>
                    </a:p>
                  </a:txBody>
                  <a:tcPr marL="76200" marR="76200" marT="38100" marB="38100">
                    <a:solidFill>
                      <a:srgbClr val="F4F5F7"/>
                    </a:solidFill>
                  </a:tcPr>
                </a:tc>
              </a:tr>
            </a:tbl>
          </a:graphicData>
        </a:graphic>
      </p:graphicFrame>
      <p:sp>
        <p:nvSpPr>
          <p:cNvPr id="8" name="Project text 5">
            <a:extLst xmlns:a="http://schemas.openxmlformats.org/drawingml/2006/main">
              <a:ext uri="{FF2B5EF4-FFF2-40B4-BE49-F238E27FC236}">
                <a16:creationId xmlns:a16="http://schemas.microsoft.com/office/drawing/2014/main" id="{A8442405-31D1-47E6-AAFB-7C48BC6A47DC}"/>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Service appears in several clusters. One cluster can contain several aspects.</a:t>
            </a:r>
          </a:p>
        </p:txBody>
      </p:sp>
    </p:spTree>
    <p:extLst>
      <p:ext uri="{BB962C8B-B14F-4D97-AF65-F5344CB8AC3E}">
        <p14:creationId xmlns:p14="http://schemas.microsoft.com/office/powerpoint/2010/main" val="49144901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EXERCISE</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Your embedding exploration</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14</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Project text 5">
            <a:extLst xmlns:a="http://schemas.openxmlformats.org/drawingml/2006/main">
              <a:ext uri="{FF2B5EF4-FFF2-40B4-BE49-F238E27FC236}">
                <a16:creationId xmlns:a16="http://schemas.microsoft.com/office/drawing/2014/main" id="{E110614C-6335-4930-A864-71D4E36242DD}"/>
              </a:ext>
            </a:extLst>
          </p:cNvPr>
          <p:cNvSpPr>
            <a:spLocks xmlns:a="http://schemas.openxmlformats.org/drawingml/2006/main" noGrp="1"/>
          </p:cNvSpPr>
          <p:nvPr/>
        </p:nvSpPr>
        <p:spPr>
          <a:xfrm xmlns:a="http://schemas.openxmlformats.org/drawingml/2006/main">
            <a:off x="895350" y="1990725"/>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2861FF"/>
                </a:solidFill>
                <a:latin typeface="Arial"/>
                <a:ea typeface="Arial"/>
                <a:cs typeface="Arial"/>
              </a:defRPr>
            </a:pPr>
            <a:r>
              <a:rPr sz="2025" b="1">
                <a:solidFill>
                  <a:srgbClr val="2861FF"/>
                </a:solidFill>
                <a:latin typeface="Arial"/>
                <a:ea typeface="Arial"/>
                <a:cs typeface="Arial"/>
              </a:rPr>
              <a:t>Load</a:t>
            </a:r>
          </a:p>
        </p:txBody>
      </p:sp>
      <p:sp>
        <p:nvSpPr>
          <p:cNvPr id="8" name="Project text 6">
            <a:extLst xmlns:a="http://schemas.openxmlformats.org/drawingml/2006/main">
              <a:ext uri="{FF2B5EF4-FFF2-40B4-BE49-F238E27FC236}">
                <a16:creationId xmlns:a16="http://schemas.microsoft.com/office/drawing/2014/main" id="{937C84EC-7DB0-4628-99F6-55E37F8582C0}"/>
              </a:ext>
            </a:extLst>
          </p:cNvPr>
          <p:cNvSpPr>
            <a:spLocks xmlns:a="http://schemas.openxmlformats.org/drawingml/2006/main" noGrp="1"/>
          </p:cNvSpPr>
          <p:nvPr/>
        </p:nvSpPr>
        <p:spPr>
          <a:xfrm xmlns:a="http://schemas.openxmlformats.org/drawingml/2006/main">
            <a:off x="2800350" y="1990725"/>
            <a:ext cx="847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Check X.shape and match several sentence IDs to the CSV.</a:t>
            </a:r>
          </a:p>
        </p:txBody>
      </p:sp>
      <p:sp>
        <p:nvSpPr>
          <p:cNvPr id="9" name="Project text 7">
            <a:extLst xmlns:a="http://schemas.openxmlformats.org/drawingml/2006/main">
              <a:ext uri="{FF2B5EF4-FFF2-40B4-BE49-F238E27FC236}">
                <a16:creationId xmlns:a16="http://schemas.microsoft.com/office/drawing/2014/main" id="{7BFCEE05-8A5F-4DCB-9948-0BFCC40607D9}"/>
              </a:ext>
            </a:extLst>
          </p:cNvPr>
          <p:cNvSpPr>
            <a:spLocks xmlns:a="http://schemas.openxmlformats.org/drawingml/2006/main" noGrp="1"/>
          </p:cNvSpPr>
          <p:nvPr/>
        </p:nvSpPr>
        <p:spPr>
          <a:xfrm xmlns:a="http://schemas.openxmlformats.org/drawingml/2006/main">
            <a:off x="895350" y="2867025"/>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2861FF"/>
                </a:solidFill>
                <a:latin typeface="Arial"/>
                <a:ea typeface="Arial"/>
                <a:cs typeface="Arial"/>
              </a:defRPr>
            </a:pPr>
            <a:r>
              <a:rPr sz="2025" b="1">
                <a:solidFill>
                  <a:srgbClr val="2861FF"/>
                </a:solidFill>
                <a:latin typeface="Arial"/>
                <a:ea typeface="Arial"/>
                <a:cs typeface="Arial"/>
              </a:rPr>
              <a:t>Cluster</a:t>
            </a:r>
          </a:p>
        </p:txBody>
      </p:sp>
      <p:sp>
        <p:nvSpPr>
          <p:cNvPr id="10" name="Project text 8">
            <a:extLst xmlns:a="http://schemas.openxmlformats.org/drawingml/2006/main">
              <a:ext uri="{FF2B5EF4-FFF2-40B4-BE49-F238E27FC236}">
                <a16:creationId xmlns:a16="http://schemas.microsoft.com/office/drawing/2014/main" id="{129A0D5F-92B5-4431-8134-E09A69D58E33}"/>
              </a:ext>
            </a:extLst>
          </p:cNvPr>
          <p:cNvSpPr>
            <a:spLocks xmlns:a="http://schemas.openxmlformats.org/drawingml/2006/main" noGrp="1"/>
          </p:cNvSpPr>
          <p:nvPr/>
        </p:nvSpPr>
        <p:spPr>
          <a:xfrm xmlns:a="http://schemas.openxmlformats.org/drawingml/2006/main">
            <a:off x="2800350" y="2867025"/>
            <a:ext cx="847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Run k-means. Inspect 5 nearby sentences in each cluster.</a:t>
            </a:r>
          </a:p>
        </p:txBody>
      </p:sp>
      <p:sp>
        <p:nvSpPr>
          <p:cNvPr id="11" name="Project text 9">
            <a:extLst xmlns:a="http://schemas.openxmlformats.org/drawingml/2006/main">
              <a:ext uri="{FF2B5EF4-FFF2-40B4-BE49-F238E27FC236}">
                <a16:creationId xmlns:a16="http://schemas.microsoft.com/office/drawing/2014/main" id="{86A56226-A99D-4783-A8C9-3D23B25E83B8}"/>
              </a:ext>
            </a:extLst>
          </p:cNvPr>
          <p:cNvSpPr>
            <a:spLocks xmlns:a="http://schemas.openxmlformats.org/drawingml/2006/main" noGrp="1"/>
          </p:cNvSpPr>
          <p:nvPr/>
        </p:nvSpPr>
        <p:spPr>
          <a:xfrm xmlns:a="http://schemas.openxmlformats.org/drawingml/2006/main">
            <a:off x="895350" y="3743325"/>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2861FF"/>
                </a:solidFill>
                <a:latin typeface="Arial"/>
                <a:ea typeface="Arial"/>
                <a:cs typeface="Arial"/>
              </a:defRPr>
            </a:pPr>
            <a:r>
              <a:rPr sz="2025" b="1">
                <a:solidFill>
                  <a:srgbClr val="2861FF"/>
                </a:solidFill>
                <a:latin typeface="Arial"/>
                <a:ea typeface="Arial"/>
                <a:cs typeface="Arial"/>
              </a:rPr>
              <a:t>Compare</a:t>
            </a:r>
          </a:p>
        </p:txBody>
      </p:sp>
      <p:sp>
        <p:nvSpPr>
          <p:cNvPr id="12" name="Project text 10">
            <a:extLst xmlns:a="http://schemas.openxmlformats.org/drawingml/2006/main">
              <a:ext uri="{FF2B5EF4-FFF2-40B4-BE49-F238E27FC236}">
                <a16:creationId xmlns:a16="http://schemas.microsoft.com/office/drawing/2014/main" id="{B8A44167-4A70-4455-9BE8-5AA2120B4CA3}"/>
              </a:ext>
            </a:extLst>
          </p:cNvPr>
          <p:cNvSpPr>
            <a:spLocks xmlns:a="http://schemas.openxmlformats.org/drawingml/2006/main" noGrp="1"/>
          </p:cNvSpPr>
          <p:nvPr/>
        </p:nvSpPr>
        <p:spPr>
          <a:xfrm xmlns:a="http://schemas.openxmlformats.org/drawingml/2006/main">
            <a:off x="2800350" y="3743325"/>
            <a:ext cx="847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Try another k. Do the groups change?</a:t>
            </a:r>
          </a:p>
        </p:txBody>
      </p:sp>
      <p:sp>
        <p:nvSpPr>
          <p:cNvPr id="13" name="Project text 11">
            <a:extLst xmlns:a="http://schemas.openxmlformats.org/drawingml/2006/main">
              <a:ext uri="{FF2B5EF4-FFF2-40B4-BE49-F238E27FC236}">
                <a16:creationId xmlns:a16="http://schemas.microsoft.com/office/drawing/2014/main" id="{E9665FE8-962C-4DC6-8850-AAC2350C8A52}"/>
              </a:ext>
            </a:extLst>
          </p:cNvPr>
          <p:cNvSpPr>
            <a:spLocks xmlns:a="http://schemas.openxmlformats.org/drawingml/2006/main" noGrp="1"/>
          </p:cNvSpPr>
          <p:nvPr/>
        </p:nvSpPr>
        <p:spPr>
          <a:xfrm xmlns:a="http://schemas.openxmlformats.org/drawingml/2006/main">
            <a:off x="895350" y="4619625"/>
            <a:ext cx="166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2861FF"/>
                </a:solidFill>
                <a:latin typeface="Arial"/>
                <a:ea typeface="Arial"/>
                <a:cs typeface="Arial"/>
              </a:defRPr>
            </a:pPr>
            <a:r>
              <a:rPr sz="2025" b="1">
                <a:solidFill>
                  <a:srgbClr val="2861FF"/>
                </a:solidFill>
                <a:latin typeface="Arial"/>
                <a:ea typeface="Arial"/>
                <a:cs typeface="Arial"/>
              </a:rPr>
              <a:t>Explain</a:t>
            </a:r>
          </a:p>
        </p:txBody>
      </p:sp>
      <p:sp>
        <p:nvSpPr>
          <p:cNvPr id="14" name="Project text 12">
            <a:extLst xmlns:a="http://schemas.openxmlformats.org/drawingml/2006/main">
              <a:ext uri="{FF2B5EF4-FFF2-40B4-BE49-F238E27FC236}">
                <a16:creationId xmlns:a16="http://schemas.microsoft.com/office/drawing/2014/main" id="{7498C984-359E-4AA9-BEE4-9322BB57A24B}"/>
              </a:ext>
            </a:extLst>
          </p:cNvPr>
          <p:cNvSpPr>
            <a:spLocks xmlns:a="http://schemas.openxmlformats.org/drawingml/2006/main" noGrp="1"/>
          </p:cNvSpPr>
          <p:nvPr/>
        </p:nvSpPr>
        <p:spPr>
          <a:xfrm xmlns:a="http://schemas.openxmlformats.org/drawingml/2006/main">
            <a:off x="2800350" y="4619625"/>
            <a:ext cx="847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Show one useful grouping and one misleading grouping.</a:t>
            </a:r>
          </a:p>
        </p:txBody>
      </p:sp>
      <p:sp>
        <p:nvSpPr>
          <p:cNvPr id="15" name="Project text 13">
            <a:extLst xmlns:a="http://schemas.openxmlformats.org/drawingml/2006/main">
              <a:ext uri="{FF2B5EF4-FFF2-40B4-BE49-F238E27FC236}">
                <a16:creationId xmlns:a16="http://schemas.microsoft.com/office/drawing/2014/main" id="{6CD0B260-9122-46B5-9E58-ED1DABB9C964}"/>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Use the full 256-dimensional vectors for clustering and MLP training.</a:t>
            </a:r>
          </a:p>
        </p:txBody>
      </p:sp>
    </p:spTree>
    <p:extLst>
      <p:ext uri="{BB962C8B-B14F-4D97-AF65-F5344CB8AC3E}">
        <p14:creationId xmlns:p14="http://schemas.microsoft.com/office/powerpoint/2010/main" val="49144901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895350" y="2667000"/>
            <a:ext cx="10477500" cy="15240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4350" b="1">
                <a:solidFill>
                  <a:srgbClr val="E30613"/>
                </a:solidFill>
                <a:latin typeface="Arial"/>
                <a:ea typeface="Arial"/>
                <a:cs typeface="Arial"/>
              </a:defRPr>
            </a:pPr>
            <a:r>
              <a:rPr sz="4350" b="1">
                <a:solidFill>
                  <a:srgbClr val="E30613"/>
                </a:solidFill>
                <a:latin typeface="Arial"/>
                <a:ea typeface="Arial"/>
                <a:cs typeface="Arial"/>
              </a:rPr>
              <a:t>DATA ANNOTATION</a:t>
            </a:r>
          </a:p>
        </p:txBody>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15</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49144901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RECORD REVIEW</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Data quality comes before labels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16</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Project text 5">
            <a:extLst xmlns:a="http://schemas.openxmlformats.org/drawingml/2006/main">
              <a:ext uri="{FF2B5EF4-FFF2-40B4-BE49-F238E27FC236}">
                <a16:creationId xmlns:a16="http://schemas.microsoft.com/office/drawing/2014/main" id="{08A7B490-1CE9-4922-93AB-1A061AE00B56}"/>
              </a:ext>
            </a:extLst>
          </p:cNvPr>
          <p:cNvSpPr>
            <a:spLocks xmlns:a="http://schemas.openxmlformats.org/drawingml/2006/main" noGrp="1"/>
          </p:cNvSpPr>
          <p:nvPr/>
        </p:nvSpPr>
        <p:spPr>
          <a:xfrm xmlns:a="http://schemas.openxmlformats.org/drawingml/2006/main">
            <a:off x="895350" y="1895475"/>
            <a:ext cx="1038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1111"/>
                </a:solidFill>
                <a:latin typeface="Arial"/>
                <a:ea typeface="Arial"/>
                <a:cs typeface="Arial"/>
              </a:defRPr>
            </a:pPr>
            <a:r>
              <a:rPr sz="2175" b="1">
                <a:solidFill>
                  <a:srgbClr val="111111"/>
                </a:solidFill>
                <a:latin typeface="Arial"/>
                <a:ea typeface="Arial"/>
                <a:cs typeface="Arial"/>
              </a:rPr>
              <a:t>Some records contain hotel replies rather than guest opinions.</a:t>
            </a:r>
          </a:p>
        </p:txBody>
      </p:sp>
      <p:sp>
        <p:nvSpPr>
          <p:cNvPr id="8" name="Project text 6">
            <a:extLst xmlns:a="http://schemas.openxmlformats.org/drawingml/2006/main">
              <a:ext uri="{FF2B5EF4-FFF2-40B4-BE49-F238E27FC236}">
                <a16:creationId xmlns:a16="http://schemas.microsoft.com/office/drawing/2014/main" id="{7DDBF9AA-03A4-457D-AE39-D7D99FF71FB8}"/>
              </a:ext>
            </a:extLst>
          </p:cNvPr>
          <p:cNvSpPr>
            <a:spLocks xmlns:a="http://schemas.openxmlformats.org/drawingml/2006/main" noGrp="1"/>
          </p:cNvSpPr>
          <p:nvPr/>
        </p:nvSpPr>
        <p:spPr>
          <a:xfrm xmlns:a="http://schemas.openxmlformats.org/drawingml/2006/main">
            <a:off x="895350" y="283845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E30613"/>
                </a:solidFill>
                <a:latin typeface="Arial"/>
                <a:ea typeface="Noto Sans CJK SC"/>
                <a:cs typeface="Noto Sans CJK SC"/>
              </a:defRPr>
            </a:pPr>
            <a:r>
              <a:rPr sz="2175" b="0">
                <a:solidFill>
                  <a:srgbClr val="E30613"/>
                </a:solidFill>
                <a:latin typeface="Arial"/>
                <a:ea typeface="Noto Sans CJK SC"/>
                <a:cs typeface="Noto Sans CJK SC"/>
              </a:rPr>
              <a:t>“给您带来不便我们深表歉意！”</a:t>
            </a:r>
          </a:p>
        </p:txBody>
      </p:sp>
      <p:sp>
        <p:nvSpPr>
          <p:cNvPr id="9" name="Project text 7">
            <a:extLst xmlns:a="http://schemas.openxmlformats.org/drawingml/2006/main">
              <a:ext uri="{FF2B5EF4-FFF2-40B4-BE49-F238E27FC236}">
                <a16:creationId xmlns:a16="http://schemas.microsoft.com/office/drawing/2014/main" id="{13B63650-E589-4CBF-916C-6779FF83A82C}"/>
              </a:ext>
            </a:extLst>
          </p:cNvPr>
          <p:cNvSpPr>
            <a:spLocks xmlns:a="http://schemas.openxmlformats.org/drawingml/2006/main" noGrp="1"/>
          </p:cNvSpPr>
          <p:nvPr/>
        </p:nvSpPr>
        <p:spPr>
          <a:xfrm xmlns:a="http://schemas.openxmlformats.org/drawingml/2006/main">
            <a:off x="895350" y="3676650"/>
            <a:ext cx="10382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27 records match possible hotel-reply phrases. Review each one.</a:t>
            </a:r>
          </a:p>
        </p:txBody>
      </p:sp>
      <p:graphicFrame>
        <p:nvGraphicFramePr>
          <p:cNvPr id="20" name=""/>
          <p:cNvGraphicFramePr/>
          <p:nvPr/>
        </p:nvGraphicFramePr>
        <p:xfrm>
          <a:off xmlns:a="http://schemas.openxmlformats.org/drawingml/2006/main" x="895350" y="4257675"/>
          <a:ext xmlns:a="http://schemas.openxmlformats.org/drawingml/2006/main" cx="10382250" cy="1285875"/>
        </p:xfrm>
        <a:graphic xmlns:a="http://schemas.openxmlformats.org/drawingml/2006/main">
          <a:graphicData uri="http://schemas.openxmlformats.org/drawingml/2006/table">
            <a:tbl>
              <a:tblPr/>
              <a:tblGrid>
                <a:gridCol w="2524125"/>
                <a:gridCol w="7858125"/>
              </a:tblGrid>
              <a:tr h="321469">
                <a:tc>
                  <a:txBody>
                    <a:bodyPr/>
                    <a:lstStyle/>
                    <a:p>
                      <a:r>
                        <a:rPr sz="1500" b="1">
                          <a:solidFill>
                            <a:srgbClr val="E30613"/>
                          </a:solidFill>
                          <a:latin typeface="Arial"/>
                          <a:ea typeface="Arial"/>
                          <a:cs typeface="Arial"/>
                        </a:rPr>
                        <a:t>Record decision</a:t>
                      </a:r>
                    </a:p>
                  </a:txBody>
                  <a:tcPr marL="76200" marR="76200" marT="38100" marB="38100">
                    <a:solidFill>
                      <a:srgbClr val="FFF0F2"/>
                    </a:solidFill>
                  </a:tcPr>
                </a:tc>
                <a:tc>
                  <a:txBody>
                    <a:bodyPr/>
                    <a:lstStyle/>
                    <a:p>
                      <a:r>
                        <a:rPr sz="1500" b="1">
                          <a:solidFill>
                            <a:srgbClr val="E30613"/>
                          </a:solidFill>
                          <a:latin typeface="Arial"/>
                          <a:ea typeface="Arial"/>
                          <a:cs typeface="Arial"/>
                        </a:rPr>
                        <a:t>What to do</a:t>
                      </a:r>
                    </a:p>
                  </a:txBody>
                  <a:tcPr marL="76200" marR="76200" marT="38100" marB="38100">
                    <a:solidFill>
                      <a:srgbClr val="FFF0F2"/>
                    </a:solidFill>
                  </a:tcPr>
                </a:tc>
              </a:tr>
              <a:tr h="321469">
                <a:tc>
                  <a:txBody>
                    <a:bodyPr/>
                    <a:lstStyle/>
                    <a:p>
                      <a:r>
                        <a:rPr sz="1575" b="0">
                          <a:solidFill>
                            <a:srgbClr val="111111"/>
                          </a:solidFill>
                          <a:latin typeface="Arial"/>
                          <a:ea typeface="Arial"/>
                          <a:cs typeface="Arial"/>
                        </a:rPr>
                        <a:t>Keep</a:t>
                      </a:r>
                    </a:p>
                  </a:txBody>
                  <a:tcPr marL="76200" marR="76200" marT="38100" marB="38100">
                    <a:solidFill>
                      <a:srgbClr val="FFFFFF"/>
                    </a:solidFill>
                  </a:tcPr>
                </a:tc>
                <a:tc>
                  <a:txBody>
                    <a:bodyPr/>
                    <a:lstStyle/>
                    <a:p>
                      <a:r>
                        <a:rPr sz="1575" b="0">
                          <a:solidFill>
                            <a:srgbClr val="111111"/>
                          </a:solidFill>
                          <a:latin typeface="Arial"/>
                          <a:ea typeface="Arial"/>
                          <a:cs typeface="Arial"/>
                        </a:rPr>
                        <a:t>Readable guest opinion or description</a:t>
                      </a:r>
                    </a:p>
                  </a:txBody>
                  <a:tcPr marL="76200" marR="76200" marT="38100" marB="38100">
                    <a:solidFill>
                      <a:srgbClr val="FFFFFF"/>
                    </a:solidFill>
                  </a:tcPr>
                </a:tc>
              </a:tr>
              <a:tr h="321469">
                <a:tc>
                  <a:txBody>
                    <a:bodyPr/>
                    <a:lstStyle/>
                    <a:p>
                      <a:r>
                        <a:rPr sz="1575" b="0">
                          <a:solidFill>
                            <a:srgbClr val="111111"/>
                          </a:solidFill>
                          <a:latin typeface="Arial"/>
                          <a:ea typeface="Arial"/>
                          <a:cs typeface="Arial"/>
                        </a:rPr>
                        <a:t>Needs review</a:t>
                      </a:r>
                    </a:p>
                  </a:txBody>
                  <a:tcPr marL="76200" marR="76200" marT="38100" marB="38100">
                    <a:solidFill>
                      <a:srgbClr val="F4F5F7"/>
                    </a:solidFill>
                  </a:tcPr>
                </a:tc>
                <a:tc>
                  <a:txBody>
                    <a:bodyPr/>
                    <a:lstStyle/>
                    <a:p>
                      <a:r>
                        <a:rPr sz="1575" b="0">
                          <a:solidFill>
                            <a:srgbClr val="111111"/>
                          </a:solidFill>
                          <a:latin typeface="Arial"/>
                          <a:ea typeface="Arial"/>
                          <a:cs typeface="Arial"/>
                        </a:rPr>
                        <a:t>Ambiguous wording or uncertain sentence boundary</a:t>
                      </a:r>
                    </a:p>
                  </a:txBody>
                  <a:tcPr marL="76200" marR="76200" marT="38100" marB="38100">
                    <a:solidFill>
                      <a:srgbClr val="F4F5F7"/>
                    </a:solidFill>
                  </a:tcPr>
                </a:tc>
              </a:tr>
              <a:tr h="321469">
                <a:tc>
                  <a:txBody>
                    <a:bodyPr/>
                    <a:lstStyle/>
                    <a:p>
                      <a:r>
                        <a:rPr sz="1575" b="0">
                          <a:solidFill>
                            <a:srgbClr val="111111"/>
                          </a:solidFill>
                          <a:latin typeface="Arial"/>
                          <a:ea typeface="Arial"/>
                          <a:cs typeface="Arial"/>
                        </a:rPr>
                        <a:t>Exclude</a:t>
                      </a:r>
                    </a:p>
                  </a:txBody>
                  <a:tcPr marL="76200" marR="76200" marT="38100" marB="38100">
                    <a:solidFill>
                      <a:srgbClr val="FFFFFF"/>
                    </a:solidFill>
                  </a:tcPr>
                </a:tc>
                <a:tc>
                  <a:txBody>
                    <a:bodyPr/>
                    <a:lstStyle/>
                    <a:p>
                      <a:r>
                        <a:rPr sz="1575" b="0">
                          <a:solidFill>
                            <a:srgbClr val="111111"/>
                          </a:solidFill>
                          <a:latin typeface="Arial"/>
                          <a:ea typeface="Arial"/>
                          <a:cs typeface="Arial"/>
                        </a:rPr>
                        <a:t>Hotel reply, mixed reply text or unusable fragment</a:t>
                      </a:r>
                    </a:p>
                  </a:txBody>
                  <a:tcPr marL="76200" marR="76200" marT="38100" marB="38100">
                    <a:solidFill>
                      <a:srgbClr val="FFFFFF"/>
                    </a:solidFill>
                  </a:tcPr>
                </a:tc>
              </a:tr>
            </a:tbl>
          </a:graphicData>
        </a:graphic>
      </p:graphicFrame>
      <p:sp>
        <p:nvSpPr>
          <p:cNvPr id="11" name="Project text 8">
            <a:extLst xmlns:a="http://schemas.openxmlformats.org/drawingml/2006/main">
              <a:ext uri="{FF2B5EF4-FFF2-40B4-BE49-F238E27FC236}">
                <a16:creationId xmlns:a16="http://schemas.microsoft.com/office/drawing/2014/main" id="{2ACC17B8-395A-4931-867C-87E0BC439EFA}"/>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Keep sentence_id. If you edit the text, its old embedding no longer matches.</a:t>
            </a:r>
          </a:p>
        </p:txBody>
      </p:sp>
    </p:spTree>
    <p:extLst>
      <p:ext uri="{BB962C8B-B14F-4D97-AF65-F5344CB8AC3E}">
        <p14:creationId xmlns:p14="http://schemas.microsoft.com/office/powerpoint/2010/main" val="49144901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LABEL FORMAT</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One state for each aspect</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17</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5" name=""/>
          <p:cNvGraphicFramePr/>
          <p:nvPr/>
        </p:nvGraphicFramePr>
        <p:xfrm>
          <a:off xmlns:a="http://schemas.openxmlformats.org/drawingml/2006/main" x="895350" y="1981200"/>
          <a:ext xmlns:a="http://schemas.openxmlformats.org/drawingml/2006/main" cx="10382250" cy="3067050"/>
        </p:xfrm>
        <a:graphic xmlns:a="http://schemas.openxmlformats.org/drawingml/2006/main">
          <a:graphicData uri="http://schemas.openxmlformats.org/drawingml/2006/table">
            <a:tbl>
              <a:tblPr/>
              <a:tblGrid>
                <a:gridCol w="952500"/>
                <a:gridCol w="2190750"/>
                <a:gridCol w="7239000"/>
              </a:tblGrid>
              <a:tr h="511175">
                <a:tc>
                  <a:txBody>
                    <a:bodyPr/>
                    <a:lstStyle/>
                    <a:p>
                      <a:r>
                        <a:rPr sz="1800" b="1">
                          <a:solidFill>
                            <a:srgbClr val="E30613"/>
                          </a:solidFill>
                          <a:latin typeface="Arial"/>
                          <a:ea typeface="Arial"/>
                          <a:cs typeface="Arial"/>
                        </a:rPr>
                        <a:t>Code</a:t>
                      </a:r>
                    </a:p>
                  </a:txBody>
                  <a:tcPr marL="76200" marR="76200" marT="38100" marB="38100">
                    <a:solidFill>
                      <a:srgbClr val="FFF0F2"/>
                    </a:solidFill>
                  </a:tcPr>
                </a:tc>
                <a:tc>
                  <a:txBody>
                    <a:bodyPr/>
                    <a:lstStyle/>
                    <a:p>
                      <a:r>
                        <a:rPr sz="1800" b="1">
                          <a:solidFill>
                            <a:srgbClr val="E30613"/>
                          </a:solidFill>
                          <a:latin typeface="Arial"/>
                          <a:ea typeface="Arial"/>
                          <a:cs typeface="Arial"/>
                        </a:rPr>
                        <a:t>State</a:t>
                      </a:r>
                    </a:p>
                  </a:txBody>
                  <a:tcPr marL="76200" marR="76200" marT="38100" marB="38100">
                    <a:solidFill>
                      <a:srgbClr val="FFF0F2"/>
                    </a:solidFill>
                  </a:tcPr>
                </a:tc>
                <a:tc>
                  <a:txBody>
                    <a:bodyPr/>
                    <a:lstStyle/>
                    <a:p>
                      <a:r>
                        <a:rPr sz="1800" b="1">
                          <a:solidFill>
                            <a:srgbClr val="E30613"/>
                          </a:solidFill>
                          <a:latin typeface="Arial"/>
                          <a:ea typeface="Arial"/>
                          <a:cs typeface="Arial"/>
                        </a:rPr>
                        <a:t>Meaning</a:t>
                      </a:r>
                    </a:p>
                  </a:txBody>
                  <a:tcPr marL="76200" marR="76200" marT="38100" marB="38100">
                    <a:solidFill>
                      <a:srgbClr val="FFF0F2"/>
                    </a:solidFill>
                  </a:tcPr>
                </a:tc>
              </a:tr>
              <a:tr h="511175">
                <a:tc>
                  <a:txBody>
                    <a:bodyPr/>
                    <a:lstStyle/>
                    <a:p>
                      <a:r>
                        <a:rPr sz="1875" b="0">
                          <a:solidFill>
                            <a:srgbClr val="111111"/>
                          </a:solidFill>
                          <a:latin typeface="Arial"/>
                          <a:ea typeface="Arial"/>
                          <a:cs typeface="Arial"/>
                        </a:rPr>
                        <a:t>0</a:t>
                      </a:r>
                    </a:p>
                  </a:txBody>
                  <a:tcPr marL="76200" marR="76200" marT="38100" marB="38100">
                    <a:solidFill>
                      <a:srgbClr val="FFFFFF"/>
                    </a:solidFill>
                  </a:tcPr>
                </a:tc>
                <a:tc>
                  <a:txBody>
                    <a:bodyPr/>
                    <a:lstStyle/>
                    <a:p>
                      <a:r>
                        <a:rPr sz="1875" b="0">
                          <a:solidFill>
                            <a:srgbClr val="111111"/>
                          </a:solidFill>
                          <a:latin typeface="Arial"/>
                          <a:ea typeface="Arial"/>
                          <a:cs typeface="Arial"/>
                        </a:rPr>
                        <a:t>Absent</a:t>
                      </a:r>
                    </a:p>
                  </a:txBody>
                  <a:tcPr marL="76200" marR="76200" marT="38100" marB="38100">
                    <a:solidFill>
                      <a:srgbClr val="FFFFFF"/>
                    </a:solidFill>
                  </a:tcPr>
                </a:tc>
                <a:tc>
                  <a:txBody>
                    <a:bodyPr/>
                    <a:lstStyle/>
                    <a:p>
                      <a:r>
                        <a:rPr sz="1875" b="0">
                          <a:solidFill>
                            <a:srgbClr val="111111"/>
                          </a:solidFill>
                          <a:latin typeface="Arial"/>
                          <a:ea typeface="Arial"/>
                          <a:cs typeface="Arial"/>
                        </a:rPr>
                        <a:t>The sentence does not mention this aspect</a:t>
                      </a:r>
                    </a:p>
                  </a:txBody>
                  <a:tcPr marL="76200" marR="76200" marT="38100" marB="38100">
                    <a:solidFill>
                      <a:srgbClr val="FFFFFF"/>
                    </a:solidFill>
                  </a:tcPr>
                </a:tc>
              </a:tr>
              <a:tr h="511175">
                <a:tc>
                  <a:txBody>
                    <a:bodyPr/>
                    <a:lstStyle/>
                    <a:p>
                      <a:r>
                        <a:rPr sz="1875" b="0">
                          <a:solidFill>
                            <a:srgbClr val="111111"/>
                          </a:solidFill>
                          <a:latin typeface="Arial"/>
                          <a:ea typeface="Arial"/>
                          <a:cs typeface="Arial"/>
                        </a:rPr>
                        <a:t>1</a:t>
                      </a:r>
                    </a:p>
                  </a:txBody>
                  <a:tcPr marL="76200" marR="76200" marT="38100" marB="38100">
                    <a:solidFill>
                      <a:srgbClr val="F4F5F7"/>
                    </a:solidFill>
                  </a:tcPr>
                </a:tc>
                <a:tc>
                  <a:txBody>
                    <a:bodyPr/>
                    <a:lstStyle/>
                    <a:p>
                      <a:r>
                        <a:rPr sz="1875" b="0">
                          <a:solidFill>
                            <a:srgbClr val="111111"/>
                          </a:solidFill>
                          <a:latin typeface="Arial"/>
                          <a:ea typeface="Arial"/>
                          <a:cs typeface="Arial"/>
                        </a:rPr>
                        <a:t>Negative</a:t>
                      </a:r>
                    </a:p>
                  </a:txBody>
                  <a:tcPr marL="76200" marR="76200" marT="38100" marB="38100">
                    <a:solidFill>
                      <a:srgbClr val="F4F5F7"/>
                    </a:solidFill>
                  </a:tcPr>
                </a:tc>
                <a:tc>
                  <a:txBody>
                    <a:bodyPr/>
                    <a:lstStyle/>
                    <a:p>
                      <a:r>
                        <a:rPr sz="1875" b="0">
                          <a:solidFill>
                            <a:srgbClr val="111111"/>
                          </a:solidFill>
                          <a:latin typeface="Arial"/>
                          <a:ea typeface="Arial"/>
                          <a:cs typeface="Arial"/>
                        </a:rPr>
                        <a:t>An unfavorable evaluation</a:t>
                      </a:r>
                    </a:p>
                  </a:txBody>
                  <a:tcPr marL="76200" marR="76200" marT="38100" marB="38100">
                    <a:solidFill>
                      <a:srgbClr val="F4F5F7"/>
                    </a:solidFill>
                  </a:tcPr>
                </a:tc>
              </a:tr>
              <a:tr h="511175">
                <a:tc>
                  <a:txBody>
                    <a:bodyPr/>
                    <a:lstStyle/>
                    <a:p>
                      <a:r>
                        <a:rPr sz="1875" b="0">
                          <a:solidFill>
                            <a:srgbClr val="111111"/>
                          </a:solidFill>
                          <a:latin typeface="Arial"/>
                          <a:ea typeface="Arial"/>
                          <a:cs typeface="Arial"/>
                        </a:rPr>
                        <a:t>2</a:t>
                      </a:r>
                    </a:p>
                  </a:txBody>
                  <a:tcPr marL="76200" marR="76200" marT="38100" marB="38100">
                    <a:solidFill>
                      <a:srgbClr val="FFFFFF"/>
                    </a:solidFill>
                  </a:tcPr>
                </a:tc>
                <a:tc>
                  <a:txBody>
                    <a:bodyPr/>
                    <a:lstStyle/>
                    <a:p>
                      <a:r>
                        <a:rPr sz="1875" b="0">
                          <a:solidFill>
                            <a:srgbClr val="111111"/>
                          </a:solidFill>
                          <a:latin typeface="Arial"/>
                          <a:ea typeface="Arial"/>
                          <a:cs typeface="Arial"/>
                        </a:rPr>
                        <a:t>Neutral</a:t>
                      </a:r>
                    </a:p>
                  </a:txBody>
                  <a:tcPr marL="76200" marR="76200" marT="38100" marB="38100">
                    <a:solidFill>
                      <a:srgbClr val="FFFFFF"/>
                    </a:solidFill>
                  </a:tcPr>
                </a:tc>
                <a:tc>
                  <a:txBody>
                    <a:bodyPr/>
                    <a:lstStyle/>
                    <a:p>
                      <a:r>
                        <a:rPr sz="1875" b="0">
                          <a:solidFill>
                            <a:srgbClr val="111111"/>
                          </a:solidFill>
                          <a:latin typeface="Arial"/>
                          <a:ea typeface="Arial"/>
                          <a:cs typeface="Arial"/>
                        </a:rPr>
                        <a:t>Mentioned, with no clear positive or negative view</a:t>
                      </a:r>
                    </a:p>
                  </a:txBody>
                  <a:tcPr marL="76200" marR="76200" marT="38100" marB="38100">
                    <a:solidFill>
                      <a:srgbClr val="FFFFFF"/>
                    </a:solidFill>
                  </a:tcPr>
                </a:tc>
              </a:tr>
              <a:tr h="511175">
                <a:tc>
                  <a:txBody>
                    <a:bodyPr/>
                    <a:lstStyle/>
                    <a:p>
                      <a:r>
                        <a:rPr sz="1875" b="0">
                          <a:solidFill>
                            <a:srgbClr val="111111"/>
                          </a:solidFill>
                          <a:latin typeface="Arial"/>
                          <a:ea typeface="Arial"/>
                          <a:cs typeface="Arial"/>
                        </a:rPr>
                        <a:t>3</a:t>
                      </a:r>
                    </a:p>
                  </a:txBody>
                  <a:tcPr marL="76200" marR="76200" marT="38100" marB="38100">
                    <a:solidFill>
                      <a:srgbClr val="F4F5F7"/>
                    </a:solidFill>
                  </a:tcPr>
                </a:tc>
                <a:tc>
                  <a:txBody>
                    <a:bodyPr/>
                    <a:lstStyle/>
                    <a:p>
                      <a:r>
                        <a:rPr sz="1875" b="0">
                          <a:solidFill>
                            <a:srgbClr val="111111"/>
                          </a:solidFill>
                          <a:latin typeface="Arial"/>
                          <a:ea typeface="Arial"/>
                          <a:cs typeface="Arial"/>
                        </a:rPr>
                        <a:t>Positive</a:t>
                      </a:r>
                    </a:p>
                  </a:txBody>
                  <a:tcPr marL="76200" marR="76200" marT="38100" marB="38100">
                    <a:solidFill>
                      <a:srgbClr val="F4F5F7"/>
                    </a:solidFill>
                  </a:tcPr>
                </a:tc>
                <a:tc>
                  <a:txBody>
                    <a:bodyPr/>
                    <a:lstStyle/>
                    <a:p>
                      <a:r>
                        <a:rPr sz="1875" b="0">
                          <a:solidFill>
                            <a:srgbClr val="111111"/>
                          </a:solidFill>
                          <a:latin typeface="Arial"/>
                          <a:ea typeface="Arial"/>
                          <a:cs typeface="Arial"/>
                        </a:rPr>
                        <a:t>A favorable evaluation</a:t>
                      </a:r>
                    </a:p>
                  </a:txBody>
                  <a:tcPr marL="76200" marR="76200" marT="38100" marB="38100">
                    <a:solidFill>
                      <a:srgbClr val="F4F5F7"/>
                    </a:solidFill>
                  </a:tcPr>
                </a:tc>
              </a:tr>
              <a:tr h="511175">
                <a:tc>
                  <a:txBody>
                    <a:bodyPr/>
                    <a:lstStyle/>
                    <a:p>
                      <a:r>
                        <a:rPr sz="1875" b="0">
                          <a:solidFill>
                            <a:srgbClr val="111111"/>
                          </a:solidFill>
                          <a:latin typeface="Arial"/>
                          <a:ea typeface="Arial"/>
                          <a:cs typeface="Arial"/>
                        </a:rPr>
                        <a:t>4</a:t>
                      </a:r>
                    </a:p>
                  </a:txBody>
                  <a:tcPr marL="76200" marR="76200" marT="38100" marB="38100">
                    <a:solidFill>
                      <a:srgbClr val="FFFFFF"/>
                    </a:solidFill>
                  </a:tcPr>
                </a:tc>
                <a:tc>
                  <a:txBody>
                    <a:bodyPr/>
                    <a:lstStyle/>
                    <a:p>
                      <a:r>
                        <a:rPr sz="1875" b="0">
                          <a:solidFill>
                            <a:srgbClr val="111111"/>
                          </a:solidFill>
                          <a:latin typeface="Arial"/>
                          <a:ea typeface="Arial"/>
                          <a:cs typeface="Arial"/>
                        </a:rPr>
                        <a:t>Mixed</a:t>
                      </a:r>
                    </a:p>
                  </a:txBody>
                  <a:tcPr marL="76200" marR="76200" marT="38100" marB="38100">
                    <a:solidFill>
                      <a:srgbClr val="FFFFFF"/>
                    </a:solidFill>
                  </a:tcPr>
                </a:tc>
                <a:tc>
                  <a:txBody>
                    <a:bodyPr/>
                    <a:lstStyle/>
                    <a:p>
                      <a:r>
                        <a:rPr sz="1875" b="0">
                          <a:solidFill>
                            <a:srgbClr val="111111"/>
                          </a:solidFill>
                          <a:latin typeface="Arial"/>
                          <a:ea typeface="Arial"/>
                          <a:cs typeface="Arial"/>
                        </a:rPr>
                        <a:t>Both positive and negative views of this aspect</a:t>
                      </a:r>
                    </a:p>
                  </a:txBody>
                  <a:tcPr marL="76200" marR="76200" marT="38100" marB="38100">
                    <a:solidFill>
                      <a:srgbClr val="FFFFFF"/>
                    </a:solidFill>
                  </a:tcPr>
                </a:tc>
              </a:tr>
            </a:tbl>
          </a:graphicData>
        </a:graphic>
      </p:graphicFrame>
      <p:sp>
        <p:nvSpPr>
          <p:cNvPr id="8" name="Project text 5">
            <a:extLst xmlns:a="http://schemas.openxmlformats.org/drawingml/2006/main">
              <a:ext uri="{FF2B5EF4-FFF2-40B4-BE49-F238E27FC236}">
                <a16:creationId xmlns:a16="http://schemas.microsoft.com/office/drawing/2014/main" id="{62F97C16-9C23-4D5B-A675-1277030B1D46}"/>
              </a:ext>
            </a:extLst>
          </p:cNvPr>
          <p:cNvSpPr>
            <a:spLocks xmlns:a="http://schemas.openxmlformats.org/drawingml/2006/main" noGrp="1"/>
          </p:cNvSpPr>
          <p:nvPr/>
        </p:nvSpPr>
        <p:spPr>
          <a:xfrm xmlns:a="http://schemas.openxmlformats.org/drawingml/2006/main">
            <a:off x="895350" y="53149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861FF"/>
                </a:solidFill>
                <a:latin typeface="Arial"/>
                <a:ea typeface="Arial"/>
                <a:cs typeface="Arial"/>
              </a:defRPr>
            </a:pPr>
            <a:r>
              <a:rPr sz="2100" b="1">
                <a:solidFill>
                  <a:srgbClr val="2861FF"/>
                </a:solidFill>
                <a:latin typeface="Arial"/>
                <a:ea typeface="Arial"/>
                <a:cs typeface="Arial"/>
              </a:rPr>
              <a:t>Eight aspects give eight state labels for each reviewed sentence.</a:t>
            </a:r>
          </a:p>
        </p:txBody>
      </p:sp>
      <p:sp>
        <p:nvSpPr>
          <p:cNvPr id="9" name="Project text 6">
            <a:extLst xmlns:a="http://schemas.openxmlformats.org/drawingml/2006/main">
              <a:ext uri="{FF2B5EF4-FFF2-40B4-BE49-F238E27FC236}">
                <a16:creationId xmlns:a16="http://schemas.microsoft.com/office/drawing/2014/main" id="{89082FD1-C7C0-43EC-A5F6-58FE3FCF685D}"/>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Unlabeled and excluded records are workflow states, not prediction classes.</a:t>
            </a:r>
          </a:p>
        </p:txBody>
      </p:sp>
    </p:spTree>
    <p:extLst>
      <p:ext uri="{BB962C8B-B14F-4D97-AF65-F5344CB8AC3E}">
        <p14:creationId xmlns:p14="http://schemas.microsoft.com/office/powerpoint/2010/main" val="49144901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ACTUAL DATA, PROPOSED LABELS</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A labeled example</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18</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Project text 5">
            <a:extLst xmlns:a="http://schemas.openxmlformats.org/drawingml/2006/main">
              <a:ext uri="{FF2B5EF4-FFF2-40B4-BE49-F238E27FC236}">
                <a16:creationId xmlns:a16="http://schemas.microsoft.com/office/drawing/2014/main" id="{FC89BDEB-E598-4879-A215-643A6F4CA043}"/>
              </a:ext>
            </a:extLst>
          </p:cNvPr>
          <p:cNvSpPr>
            <a:spLocks xmlns:a="http://schemas.openxmlformats.org/drawingml/2006/main" noGrp="1"/>
          </p:cNvSpPr>
          <p:nvPr/>
        </p:nvSpPr>
        <p:spPr>
          <a:xfrm xmlns:a="http://schemas.openxmlformats.org/drawingml/2006/main">
            <a:off x="895350" y="191452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11111"/>
                </a:solidFill>
                <a:latin typeface="Arial"/>
                <a:ea typeface="Noto Sans CJK SC"/>
                <a:cs typeface="Noto Sans CJK SC"/>
              </a:defRPr>
            </a:pPr>
            <a:r>
              <a:rPr sz="2325" b="0">
                <a:solidFill>
                  <a:srgbClr val="111111"/>
                </a:solidFill>
                <a:latin typeface="Arial"/>
                <a:ea typeface="Noto Sans CJK SC"/>
                <a:cs typeface="Noto Sans CJK SC"/>
              </a:rPr>
              <a:t>房间里还算干净,就是噪音太大,价格相对来说还是贵的</a:t>
            </a:r>
          </a:p>
        </p:txBody>
      </p:sp>
      <p:graphicFrame>
        <p:nvGraphicFramePr>
          <p:cNvPr id="16" name=""/>
          <p:cNvGraphicFramePr/>
          <p:nvPr/>
        </p:nvGraphicFramePr>
        <p:xfrm>
          <a:off xmlns:a="http://schemas.openxmlformats.org/drawingml/2006/main" x="895350" y="3048000"/>
          <a:ext xmlns:a="http://schemas.openxmlformats.org/drawingml/2006/main" cx="10382250" cy="2162175"/>
        </p:xfrm>
        <a:graphic xmlns:a="http://schemas.openxmlformats.org/drawingml/2006/main">
          <a:graphicData uri="http://schemas.openxmlformats.org/drawingml/2006/table">
            <a:tbl>
              <a:tblPr/>
              <a:tblGrid>
                <a:gridCol w="2762250"/>
                <a:gridCol w="2476500"/>
                <a:gridCol w="5143500"/>
              </a:tblGrid>
              <a:tr h="432435">
                <a:tc>
                  <a:txBody>
                    <a:bodyPr/>
                    <a:lstStyle/>
                    <a:p>
                      <a:r>
                        <a:rPr sz="1875" b="1">
                          <a:solidFill>
                            <a:srgbClr val="E30613"/>
                          </a:solidFill>
                          <a:latin typeface="Arial"/>
                          <a:ea typeface="Arial"/>
                          <a:cs typeface="Arial"/>
                        </a:rPr>
                        <a:t>Aspect</a:t>
                      </a:r>
                    </a:p>
                  </a:txBody>
                  <a:tcPr marL="76200" marR="76200" marT="38100" marB="38100">
                    <a:solidFill>
                      <a:srgbClr val="FFF0F2"/>
                    </a:solidFill>
                  </a:tcPr>
                </a:tc>
                <a:tc>
                  <a:txBody>
                    <a:bodyPr/>
                    <a:lstStyle/>
                    <a:p>
                      <a:r>
                        <a:rPr sz="1875" b="1">
                          <a:solidFill>
                            <a:srgbClr val="E30613"/>
                          </a:solidFill>
                          <a:latin typeface="Arial"/>
                          <a:ea typeface="Arial"/>
                          <a:cs typeface="Arial"/>
                        </a:rPr>
                        <a:t>State</a:t>
                      </a:r>
                    </a:p>
                  </a:txBody>
                  <a:tcPr marL="76200" marR="76200" marT="38100" marB="38100">
                    <a:solidFill>
                      <a:srgbClr val="FFF0F2"/>
                    </a:solidFill>
                  </a:tcPr>
                </a:tc>
                <a:tc>
                  <a:txBody>
                    <a:bodyPr/>
                    <a:lstStyle/>
                    <a:p>
                      <a:r>
                        <a:rPr sz="1875" b="1">
                          <a:solidFill>
                            <a:srgbClr val="E30613"/>
                          </a:solidFill>
                          <a:latin typeface="Arial"/>
                          <a:ea typeface="Arial"/>
                          <a:cs typeface="Arial"/>
                        </a:rPr>
                        <a:t>Evidence</a:t>
                      </a:r>
                    </a:p>
                  </a:txBody>
                  <a:tcPr marL="76200" marR="76200" marT="38100" marB="38100">
                    <a:solidFill>
                      <a:srgbClr val="FFF0F2"/>
                    </a:solidFill>
                  </a:tcPr>
                </a:tc>
              </a:tr>
              <a:tr h="432435">
                <a:tc>
                  <a:txBody>
                    <a:bodyPr/>
                    <a:lstStyle/>
                    <a:p>
                      <a:r>
                        <a:rPr sz="1950" b="0">
                          <a:solidFill>
                            <a:srgbClr val="111111"/>
                          </a:solidFill>
                          <a:latin typeface="Arial"/>
                          <a:ea typeface="Arial"/>
                          <a:cs typeface="Arial"/>
                        </a:rPr>
                        <a:t>Cleanliness</a:t>
                      </a:r>
                    </a:p>
                  </a:txBody>
                  <a:tcPr marL="76200" marR="76200" marT="38100" marB="38100">
                    <a:solidFill>
                      <a:srgbClr val="FFFFFF"/>
                    </a:solidFill>
                  </a:tcPr>
                </a:tc>
                <a:tc>
                  <a:txBody>
                    <a:bodyPr/>
                    <a:lstStyle/>
                    <a:p>
                      <a:r>
                        <a:rPr sz="1950" b="0">
                          <a:solidFill>
                            <a:srgbClr val="111111"/>
                          </a:solidFill>
                          <a:latin typeface="Arial"/>
                          <a:ea typeface="Arial"/>
                          <a:cs typeface="Arial"/>
                        </a:rPr>
                        <a:t>Positive (3)</a:t>
                      </a:r>
                    </a:p>
                  </a:txBody>
                  <a:tcPr marL="76200" marR="76200" marT="38100" marB="38100">
                    <a:solidFill>
                      <a:srgbClr val="FFFFFF"/>
                    </a:solidFill>
                  </a:tcPr>
                </a:tc>
                <a:tc>
                  <a:txBody>
                    <a:bodyPr/>
                    <a:lstStyle/>
                    <a:p>
                      <a:r>
                        <a:rPr sz="1950" b="0">
                          <a:solidFill>
                            <a:srgbClr val="111111"/>
                          </a:solidFill>
                          <a:latin typeface="Arial"/>
                          <a:ea typeface="Noto Sans CJK SC"/>
                          <a:cs typeface="Noto Sans CJK SC"/>
                        </a:rPr>
                        <a:t>还算干净</a:t>
                      </a:r>
                    </a:p>
                  </a:txBody>
                  <a:tcPr marL="76200" marR="76200" marT="38100" marB="38100">
                    <a:solidFill>
                      <a:srgbClr val="FFFFFF"/>
                    </a:solidFill>
                  </a:tcPr>
                </a:tc>
              </a:tr>
              <a:tr h="432435">
                <a:tc>
                  <a:txBody>
                    <a:bodyPr/>
                    <a:lstStyle/>
                    <a:p>
                      <a:r>
                        <a:rPr sz="1950" b="0">
                          <a:solidFill>
                            <a:srgbClr val="111111"/>
                          </a:solidFill>
                          <a:latin typeface="Arial"/>
                          <a:ea typeface="Arial"/>
                          <a:cs typeface="Arial"/>
                        </a:rPr>
                        <a:t>Sound insulation</a:t>
                      </a:r>
                    </a:p>
                  </a:txBody>
                  <a:tcPr marL="76200" marR="76200" marT="38100" marB="38100">
                    <a:solidFill>
                      <a:srgbClr val="F4F5F7"/>
                    </a:solidFill>
                  </a:tcPr>
                </a:tc>
                <a:tc>
                  <a:txBody>
                    <a:bodyPr/>
                    <a:lstStyle/>
                    <a:p>
                      <a:r>
                        <a:rPr sz="1950" b="0">
                          <a:solidFill>
                            <a:srgbClr val="111111"/>
                          </a:solidFill>
                          <a:latin typeface="Arial"/>
                          <a:ea typeface="Arial"/>
                          <a:cs typeface="Arial"/>
                        </a:rPr>
                        <a:t>Negative (1)</a:t>
                      </a:r>
                    </a:p>
                  </a:txBody>
                  <a:tcPr marL="76200" marR="76200" marT="38100" marB="38100">
                    <a:solidFill>
                      <a:srgbClr val="F4F5F7"/>
                    </a:solidFill>
                  </a:tcPr>
                </a:tc>
                <a:tc>
                  <a:txBody>
                    <a:bodyPr/>
                    <a:lstStyle/>
                    <a:p>
                      <a:r>
                        <a:rPr sz="1950" b="0">
                          <a:solidFill>
                            <a:srgbClr val="111111"/>
                          </a:solidFill>
                          <a:latin typeface="Arial"/>
                          <a:ea typeface="Noto Sans CJK SC"/>
                          <a:cs typeface="Noto Sans CJK SC"/>
                        </a:rPr>
                        <a:t>噪音太大</a:t>
                      </a:r>
                    </a:p>
                  </a:txBody>
                  <a:tcPr marL="76200" marR="76200" marT="38100" marB="38100">
                    <a:solidFill>
                      <a:srgbClr val="F4F5F7"/>
                    </a:solidFill>
                  </a:tcPr>
                </a:tc>
              </a:tr>
              <a:tr h="432435">
                <a:tc>
                  <a:txBody>
                    <a:bodyPr/>
                    <a:lstStyle/>
                    <a:p>
                      <a:r>
                        <a:rPr sz="1950" b="0">
                          <a:solidFill>
                            <a:srgbClr val="111111"/>
                          </a:solidFill>
                          <a:latin typeface="Arial"/>
                          <a:ea typeface="Arial"/>
                          <a:cs typeface="Arial"/>
                        </a:rPr>
                        <a:t>Value</a:t>
                      </a:r>
                    </a:p>
                  </a:txBody>
                  <a:tcPr marL="76200" marR="76200" marT="38100" marB="38100">
                    <a:solidFill>
                      <a:srgbClr val="FFFFFF"/>
                    </a:solidFill>
                  </a:tcPr>
                </a:tc>
                <a:tc>
                  <a:txBody>
                    <a:bodyPr/>
                    <a:lstStyle/>
                    <a:p>
                      <a:r>
                        <a:rPr sz="1950" b="0">
                          <a:solidFill>
                            <a:srgbClr val="111111"/>
                          </a:solidFill>
                          <a:latin typeface="Arial"/>
                          <a:ea typeface="Arial"/>
                          <a:cs typeface="Arial"/>
                        </a:rPr>
                        <a:t>Negative (1)</a:t>
                      </a:r>
                    </a:p>
                  </a:txBody>
                  <a:tcPr marL="76200" marR="76200" marT="38100" marB="38100">
                    <a:solidFill>
                      <a:srgbClr val="FFFFFF"/>
                    </a:solidFill>
                  </a:tcPr>
                </a:tc>
                <a:tc>
                  <a:txBody>
                    <a:bodyPr/>
                    <a:lstStyle/>
                    <a:p>
                      <a:r>
                        <a:rPr sz="1950" b="0">
                          <a:solidFill>
                            <a:srgbClr val="111111"/>
                          </a:solidFill>
                          <a:latin typeface="Arial"/>
                          <a:ea typeface="Noto Sans CJK SC"/>
                          <a:cs typeface="Noto Sans CJK SC"/>
                        </a:rPr>
                        <a:t>价格…还是贵的</a:t>
                      </a:r>
                    </a:p>
                  </a:txBody>
                  <a:tcPr marL="76200" marR="76200" marT="38100" marB="38100">
                    <a:solidFill>
                      <a:srgbClr val="FFFFFF"/>
                    </a:solidFill>
                  </a:tcPr>
                </a:tc>
              </a:tr>
              <a:tr h="432435">
                <a:tc>
                  <a:txBody>
                    <a:bodyPr/>
                    <a:lstStyle/>
                    <a:p>
                      <a:r>
                        <a:rPr sz="1950" b="0">
                          <a:solidFill>
                            <a:srgbClr val="111111"/>
                          </a:solidFill>
                          <a:latin typeface="Arial"/>
                          <a:ea typeface="Arial"/>
                          <a:cs typeface="Arial"/>
                        </a:rPr>
                        <a:t>Other five aspects</a:t>
                      </a:r>
                    </a:p>
                  </a:txBody>
                  <a:tcPr marL="76200" marR="76200" marT="38100" marB="38100">
                    <a:solidFill>
                      <a:srgbClr val="F4F5F7"/>
                    </a:solidFill>
                  </a:tcPr>
                </a:tc>
                <a:tc>
                  <a:txBody>
                    <a:bodyPr/>
                    <a:lstStyle/>
                    <a:p>
                      <a:r>
                        <a:rPr sz="1950" b="0">
                          <a:solidFill>
                            <a:srgbClr val="111111"/>
                          </a:solidFill>
                          <a:latin typeface="Arial"/>
                          <a:ea typeface="Arial"/>
                          <a:cs typeface="Arial"/>
                        </a:rPr>
                        <a:t>Absent (0)</a:t>
                      </a:r>
                    </a:p>
                  </a:txBody>
                  <a:tcPr marL="76200" marR="76200" marT="38100" marB="38100">
                    <a:solidFill>
                      <a:srgbClr val="F4F5F7"/>
                    </a:solidFill>
                  </a:tcPr>
                </a:tc>
                <a:tc>
                  <a:txBody>
                    <a:bodyPr/>
                    <a:lstStyle/>
                    <a:p>
                      <a:r>
                        <a:rPr sz="1950" b="0">
                          <a:solidFill>
                            <a:srgbClr val="111111"/>
                          </a:solidFill>
                          <a:latin typeface="Arial"/>
                          <a:ea typeface="Noto Sans CJK SC"/>
                          <a:cs typeface="Noto Sans CJK SC"/>
                        </a:rPr>
                        <a:t>No explicit mention</a:t>
                      </a:r>
                    </a:p>
                  </a:txBody>
                  <a:tcPr marL="76200" marR="76200" marT="38100" marB="38100">
                    <a:solidFill>
                      <a:srgbClr val="F4F5F7"/>
                    </a:solidFill>
                  </a:tcPr>
                </a:tc>
              </a:tr>
            </a:tbl>
          </a:graphicData>
        </a:graphic>
      </p:graphicFrame>
      <p:sp>
        <p:nvSpPr>
          <p:cNvPr id="9" name="Project text 6">
            <a:extLst xmlns:a="http://schemas.openxmlformats.org/drawingml/2006/main">
              <a:ext uri="{FF2B5EF4-FFF2-40B4-BE49-F238E27FC236}">
                <a16:creationId xmlns:a16="http://schemas.microsoft.com/office/drawing/2014/main" id="{D3C89BED-036F-40BA-A5FF-F259F83EC0C5}"/>
              </a:ext>
            </a:extLst>
          </p:cNvPr>
          <p:cNvSpPr>
            <a:spLocks xmlns:a="http://schemas.openxmlformats.org/drawingml/2006/main" noGrp="1"/>
          </p:cNvSpPr>
          <p:nvPr/>
        </p:nvSpPr>
        <p:spPr>
          <a:xfrm xmlns:a="http://schemas.openxmlformats.org/drawingml/2006/main">
            <a:off x="895350" y="5391150"/>
            <a:ext cx="6589014"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475" b="0">
                <a:solidFill>
                  <a:srgbClr val="2861FF"/>
                </a:solidFill>
                <a:latin typeface="Cambria Math"/>
                <a:ea typeface="Cambria Math"/>
                <a:cs typeface="Cambria Math"/>
              </a:defRPr>
            </a:pPr>
            <a:r>
              <a:rPr sz="2475" b="0">
                <a:solidFill>
                  <a:srgbClr val="2861FF"/>
                </a:solidFill>
                <a:latin typeface="Cambria Math"/>
                <a:ea typeface="Cambria Math"/>
                <a:cs typeface="Cambria Math"/>
              </a:rPr>
              <a:t>y = [ 3   0   0   0   0   1   0   1 ]</a:t>
            </a:r>
          </a:p>
        </p:txBody>
      </p:sp>
    </p:spTree>
    <p:extLst>
      <p:ext uri="{BB962C8B-B14F-4D97-AF65-F5344CB8AC3E}">
        <p14:creationId xmlns:p14="http://schemas.microsoft.com/office/powerpoint/2010/main" val="49144901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ANNOTATION RULES</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Consistent rules for difficult cases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19</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4" name=""/>
          <p:cNvGraphicFramePr/>
          <p:nvPr/>
        </p:nvGraphicFramePr>
        <p:xfrm>
          <a:off xmlns:a="http://schemas.openxmlformats.org/drawingml/2006/main" x="895350" y="1924050"/>
          <a:ext xmlns:a="http://schemas.openxmlformats.org/drawingml/2006/main" cx="10382250" cy="3324225"/>
        </p:xfrm>
        <a:graphic xmlns:a="http://schemas.openxmlformats.org/drawingml/2006/main">
          <a:graphicData uri="http://schemas.openxmlformats.org/drawingml/2006/table">
            <a:tbl>
              <a:tblPr/>
              <a:tblGrid>
                <a:gridCol w="3952875"/>
                <a:gridCol w="6429375"/>
              </a:tblGrid>
              <a:tr h="474889">
                <a:tc>
                  <a:txBody>
                    <a:bodyPr/>
                    <a:lstStyle/>
                    <a:p>
                      <a:r>
                        <a:rPr sz="1650" b="1">
                          <a:solidFill>
                            <a:srgbClr val="E30613"/>
                          </a:solidFill>
                          <a:latin typeface="Arial"/>
                          <a:ea typeface="Arial"/>
                          <a:cs typeface="Arial"/>
                        </a:rPr>
                        <a:t>Case</a:t>
                      </a:r>
                    </a:p>
                  </a:txBody>
                  <a:tcPr marL="76200" marR="76200" marT="38100" marB="38100">
                    <a:solidFill>
                      <a:srgbClr val="FFF0F2"/>
                    </a:solidFill>
                  </a:tcPr>
                </a:tc>
                <a:tc>
                  <a:txBody>
                    <a:bodyPr/>
                    <a:lstStyle/>
                    <a:p>
                      <a:r>
                        <a:rPr sz="1650" b="1">
                          <a:solidFill>
                            <a:srgbClr val="E30613"/>
                          </a:solidFill>
                          <a:latin typeface="Arial"/>
                          <a:ea typeface="Arial"/>
                          <a:cs typeface="Arial"/>
                        </a:rPr>
                        <a:t>Rule</a:t>
                      </a:r>
                    </a:p>
                  </a:txBody>
                  <a:tcPr marL="76200" marR="76200" marT="38100" marB="38100">
                    <a:solidFill>
                      <a:srgbClr val="FFF0F2"/>
                    </a:solidFill>
                  </a:tcPr>
                </a:tc>
              </a:tr>
              <a:tr h="474889">
                <a:tc>
                  <a:txBody>
                    <a:bodyPr/>
                    <a:lstStyle/>
                    <a:p>
                      <a:r>
                        <a:rPr sz="1725" b="0">
                          <a:solidFill>
                            <a:srgbClr val="111111"/>
                          </a:solidFill>
                          <a:latin typeface="Arial"/>
                          <a:ea typeface="Noto Sans CJK SC"/>
                          <a:cs typeface="Noto Sans CJK SC"/>
                        </a:rPr>
                        <a:t>“早餐一般”</a:t>
                      </a:r>
                    </a:p>
                  </a:txBody>
                  <a:tcPr marL="76200" marR="76200" marT="38100" marB="38100">
                    <a:solidFill>
                      <a:srgbClr val="FFFFFF"/>
                    </a:solidFill>
                  </a:tcPr>
                </a:tc>
                <a:tc>
                  <a:txBody>
                    <a:bodyPr/>
                    <a:lstStyle/>
                    <a:p>
                      <a:r>
                        <a:rPr sz="1725" b="0">
                          <a:solidFill>
                            <a:srgbClr val="111111"/>
                          </a:solidFill>
                          <a:latin typeface="Arial"/>
                          <a:ea typeface="Arial"/>
                          <a:cs typeface="Arial"/>
                        </a:rPr>
                        <a:t>Food = neutral under this project convention</a:t>
                      </a:r>
                    </a:p>
                  </a:txBody>
                  <a:tcPr marL="76200" marR="76200" marT="38100" marB="38100">
                    <a:solidFill>
                      <a:srgbClr val="FFFFFF"/>
                    </a:solidFill>
                  </a:tcPr>
                </a:tc>
              </a:tr>
              <a:tr h="474889">
                <a:tc>
                  <a:txBody>
                    <a:bodyPr/>
                    <a:lstStyle/>
                    <a:p>
                      <a:r>
                        <a:rPr sz="1725" b="0">
                          <a:solidFill>
                            <a:srgbClr val="111111"/>
                          </a:solidFill>
                          <a:latin typeface="Arial"/>
                          <a:ea typeface="Noto Sans CJK SC"/>
                          <a:cs typeface="Noto Sans CJK SC"/>
                        </a:rPr>
                        <a:t>“早餐很差”</a:t>
                      </a:r>
                    </a:p>
                  </a:txBody>
                  <a:tcPr marL="76200" marR="76200" marT="38100" marB="38100">
                    <a:solidFill>
                      <a:srgbClr val="F4F5F7"/>
                    </a:solidFill>
                  </a:tcPr>
                </a:tc>
                <a:tc>
                  <a:txBody>
                    <a:bodyPr/>
                    <a:lstStyle/>
                    <a:p>
                      <a:r>
                        <a:rPr sz="1725" b="0">
                          <a:solidFill>
                            <a:srgbClr val="111111"/>
                          </a:solidFill>
                          <a:latin typeface="Arial"/>
                          <a:ea typeface="Arial"/>
                          <a:cs typeface="Arial"/>
                        </a:rPr>
                        <a:t>Food = negative</a:t>
                      </a:r>
                    </a:p>
                  </a:txBody>
                  <a:tcPr marL="76200" marR="76200" marT="38100" marB="38100">
                    <a:solidFill>
                      <a:srgbClr val="F4F5F7"/>
                    </a:solidFill>
                  </a:tcPr>
                </a:tc>
              </a:tr>
              <a:tr h="474889">
                <a:tc>
                  <a:txBody>
                    <a:bodyPr/>
                    <a:lstStyle/>
                    <a:p>
                      <a:r>
                        <a:rPr sz="1725" b="0">
                          <a:solidFill>
                            <a:srgbClr val="111111"/>
                          </a:solidFill>
                          <a:latin typeface="Arial"/>
                          <a:ea typeface="Noto Sans CJK SC"/>
                          <a:cs typeface="Noto Sans CJK SC"/>
                        </a:rPr>
                        <a:t>“前台热情，但办理太慢”</a:t>
                      </a:r>
                    </a:p>
                  </a:txBody>
                  <a:tcPr marL="76200" marR="76200" marT="38100" marB="38100">
                    <a:solidFill>
                      <a:srgbClr val="FFFFFF"/>
                    </a:solidFill>
                  </a:tcPr>
                </a:tc>
                <a:tc>
                  <a:txBody>
                    <a:bodyPr/>
                    <a:lstStyle/>
                    <a:p>
                      <a:r>
                        <a:rPr sz="1725" b="0">
                          <a:solidFill>
                            <a:srgbClr val="111111"/>
                          </a:solidFill>
                          <a:latin typeface="Arial"/>
                          <a:ea typeface="Arial"/>
                          <a:cs typeface="Arial"/>
                        </a:rPr>
                        <a:t>Service = mixed within one sentence</a:t>
                      </a:r>
                    </a:p>
                  </a:txBody>
                  <a:tcPr marL="76200" marR="76200" marT="38100" marB="38100">
                    <a:solidFill>
                      <a:srgbClr val="FFFFFF"/>
                    </a:solidFill>
                  </a:tcPr>
                </a:tc>
              </a:tr>
              <a:tr h="474889">
                <a:tc>
                  <a:txBody>
                    <a:bodyPr/>
                    <a:lstStyle/>
                    <a:p>
                      <a:r>
                        <a:rPr sz="1725" b="0">
                          <a:solidFill>
                            <a:srgbClr val="111111"/>
                          </a:solidFill>
                          <a:latin typeface="Arial"/>
                          <a:ea typeface="Noto Sans CJK SC"/>
                          <a:cs typeface="Noto Sans CJK SC"/>
                        </a:rPr>
                        <a:t>“位置很好，但服务很差”</a:t>
                      </a:r>
                    </a:p>
                  </a:txBody>
                  <a:tcPr marL="76200" marR="76200" marT="38100" marB="38100">
                    <a:solidFill>
                      <a:srgbClr val="F4F5F7"/>
                    </a:solidFill>
                  </a:tcPr>
                </a:tc>
                <a:tc>
                  <a:txBody>
                    <a:bodyPr/>
                    <a:lstStyle/>
                    <a:p>
                      <a:r>
                        <a:rPr sz="1725" b="0">
                          <a:solidFill>
                            <a:srgbClr val="111111"/>
                          </a:solidFill>
                          <a:latin typeface="Arial"/>
                          <a:ea typeface="Arial"/>
                          <a:cs typeface="Arial"/>
                        </a:rPr>
                        <a:t>Location = positive; Service = negative</a:t>
                      </a:r>
                    </a:p>
                  </a:txBody>
                  <a:tcPr marL="76200" marR="76200" marT="38100" marB="38100">
                    <a:solidFill>
                      <a:srgbClr val="F4F5F7"/>
                    </a:solidFill>
                  </a:tcPr>
                </a:tc>
              </a:tr>
              <a:tr h="474889">
                <a:tc>
                  <a:txBody>
                    <a:bodyPr/>
                    <a:lstStyle/>
                    <a:p>
                      <a:r>
                        <a:rPr sz="1725" b="0">
                          <a:solidFill>
                            <a:srgbClr val="111111"/>
                          </a:solidFill>
                          <a:latin typeface="Arial"/>
                          <a:ea typeface="Noto Sans CJK SC"/>
                          <a:cs typeface="Noto Sans CJK SC"/>
                        </a:rPr>
                        <a:t>“以后不会再住了”</a:t>
                      </a:r>
                    </a:p>
                  </a:txBody>
                  <a:tcPr marL="76200" marR="76200" marT="38100" marB="38100">
                    <a:solidFill>
                      <a:srgbClr val="FFFFFF"/>
                    </a:solidFill>
                  </a:tcPr>
                </a:tc>
                <a:tc>
                  <a:txBody>
                    <a:bodyPr/>
                    <a:lstStyle/>
                    <a:p>
                      <a:r>
                        <a:rPr sz="1725" b="0">
                          <a:solidFill>
                            <a:srgbClr val="111111"/>
                          </a:solidFill>
                          <a:latin typeface="Arial"/>
                          <a:ea typeface="Arial"/>
                          <a:cs typeface="Arial"/>
                        </a:rPr>
                        <a:t>All aspects absent if no specific aspect is stated</a:t>
                      </a:r>
                    </a:p>
                  </a:txBody>
                  <a:tcPr marL="76200" marR="76200" marT="38100" marB="38100">
                    <a:solidFill>
                      <a:srgbClr val="FFFFFF"/>
                    </a:solidFill>
                  </a:tcPr>
                </a:tc>
              </a:tr>
              <a:tr h="474889">
                <a:tc>
                  <a:txBody>
                    <a:bodyPr/>
                    <a:lstStyle/>
                    <a:p>
                      <a:r>
                        <a:rPr sz="1725" b="0">
                          <a:solidFill>
                            <a:srgbClr val="111111"/>
                          </a:solidFill>
                          <a:latin typeface="Arial"/>
                          <a:ea typeface="Noto Sans CJK SC"/>
                          <a:cs typeface="Noto Sans CJK SC"/>
                        </a:rPr>
                        <a:t>Unclear or incomplete text</a:t>
                      </a:r>
                    </a:p>
                  </a:txBody>
                  <a:tcPr marL="76200" marR="76200" marT="38100" marB="38100">
                    <a:solidFill>
                      <a:srgbClr val="F4F5F7"/>
                    </a:solidFill>
                  </a:tcPr>
                </a:tc>
                <a:tc>
                  <a:txBody>
                    <a:bodyPr/>
                    <a:lstStyle/>
                    <a:p>
                      <a:r>
                        <a:rPr sz="1725" b="0">
                          <a:solidFill>
                            <a:srgbClr val="111111"/>
                          </a:solidFill>
                          <a:latin typeface="Arial"/>
                          <a:ea typeface="Arial"/>
                          <a:cs typeface="Arial"/>
                        </a:rPr>
                        <a:t>Mark needs_review; resolve or exclude</a:t>
                      </a:r>
                    </a:p>
                  </a:txBody>
                  <a:tcPr marL="76200" marR="76200" marT="38100" marB="38100">
                    <a:solidFill>
                      <a:srgbClr val="F4F5F7"/>
                    </a:solidFill>
                  </a:tcPr>
                </a:tc>
              </a:tr>
            </a:tbl>
          </a:graphicData>
        </a:graphic>
      </p:graphicFrame>
      <p:sp>
        <p:nvSpPr>
          <p:cNvPr id="8" name="Project text 5">
            <a:extLst xmlns:a="http://schemas.openxmlformats.org/drawingml/2006/main">
              <a:ext uri="{FF2B5EF4-FFF2-40B4-BE49-F238E27FC236}">
                <a16:creationId xmlns:a16="http://schemas.microsoft.com/office/drawing/2014/main" id="{2BDD980D-0F8A-4B40-B33B-0C7EFE31FF4D}"/>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Use exact text as evidence. Do not infer missing aspects from an overall rating.</a:t>
            </a:r>
          </a:p>
        </p:txBody>
      </p:sp>
    </p:spTree>
    <p:extLst>
      <p:ext uri="{BB962C8B-B14F-4D97-AF65-F5344CB8AC3E}">
        <p14:creationId xmlns:p14="http://schemas.microsoft.com/office/powerpoint/2010/main" val="49144901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ANNOTATION INTERFACE</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A web tool for faster annotation</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20</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
            <a:extLst xmlns:a="http://schemas.openxmlformats.org/drawingml/2006/main">
              <a:ext uri="{FF2B5EF4-FFF2-40B4-BE49-F238E27FC236}">
                <a16:creationId xmlns:a16="http://schemas.microsoft.com/office/drawing/2014/main" id="{0F2EA4B6-7864-4EB9-A59F-FAEE890900C8}"/>
              </a:ext>
            </a:extLst>
          </p:cNvPr>
          <p:cNvSpPr>
            <a:spLocks xmlns:a="http://schemas.openxmlformats.org/drawingml/2006/main" noGrp="1"/>
          </p:cNvSpPr>
          <p:nvPr/>
        </p:nvSpPr>
        <p:spPr>
          <a:xfrm xmlns:a="http://schemas.openxmlformats.org/drawingml/2006/main">
            <a:off x="895350" y="1828800"/>
            <a:ext cx="10382250" cy="409575"/>
          </a:xfrm>
          <a:prstGeom xmlns:a="http://schemas.openxmlformats.org/drawingml/2006/main" prst="rect">
            <a:avLst/>
          </a:prstGeom>
          <a:solidFill xmlns:a="http://schemas.openxmlformats.org/drawingml/2006/main">
            <a:srgbClr val="F0F2F5"/>
          </a:solidFill>
          <a:ln xmlns:a="http://schemas.openxmlformats.org/drawingml/2006/main" w="9525">
            <a:solidFill>
              <a:srgbClr val="C8CED6"/>
            </a:solidFill>
          </a:ln>
        </p:spPr>
      </p:sp>
      <p:sp>
        <p:nvSpPr>
          <p:cNvPr id="8" name="Project text 6">
            <a:extLst xmlns:a="http://schemas.openxmlformats.org/drawingml/2006/main">
              <a:ext uri="{FF2B5EF4-FFF2-40B4-BE49-F238E27FC236}">
                <a16:creationId xmlns:a16="http://schemas.microsoft.com/office/drawing/2014/main" id="{90B92774-B01B-48C8-BD53-331C8A3036EB}"/>
              </a:ext>
            </a:extLst>
          </p:cNvPr>
          <p:cNvSpPr>
            <a:spLocks xmlns:a="http://schemas.openxmlformats.org/drawingml/2006/main" noGrp="1"/>
          </p:cNvSpPr>
          <p:nvPr/>
        </p:nvSpPr>
        <p:spPr>
          <a:xfrm xmlns:a="http://schemas.openxmlformats.org/drawingml/2006/main">
            <a:off x="1057275" y="1914525"/>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111111"/>
                </a:solidFill>
                <a:latin typeface="Arial"/>
                <a:ea typeface="Arial"/>
                <a:cs typeface="Arial"/>
              </a:defRPr>
            </a:pPr>
            <a:r>
              <a:rPr sz="1725" b="1">
                <a:solidFill>
                  <a:srgbClr val="111111"/>
                </a:solidFill>
                <a:latin typeface="Arial"/>
                <a:ea typeface="Arial"/>
                <a:cs typeface="Arial"/>
              </a:rPr>
              <a:t>Hotel annotation</a:t>
            </a:r>
          </a:p>
        </p:txBody>
      </p:sp>
      <p:sp>
        <p:nvSpPr>
          <p:cNvPr id="9" name="Project text 7">
            <a:extLst xmlns:a="http://schemas.openxmlformats.org/drawingml/2006/main">
              <a:ext uri="{FF2B5EF4-FFF2-40B4-BE49-F238E27FC236}">
                <a16:creationId xmlns:a16="http://schemas.microsoft.com/office/drawing/2014/main" id="{1888E409-37F1-471E-BDFF-D6D5998ABBD7}"/>
              </a:ext>
            </a:extLst>
          </p:cNvPr>
          <p:cNvSpPr>
            <a:spLocks xmlns:a="http://schemas.openxmlformats.org/drawingml/2006/main" noGrp="1"/>
          </p:cNvSpPr>
          <p:nvPr/>
        </p:nvSpPr>
        <p:spPr>
          <a:xfrm xmlns:a="http://schemas.openxmlformats.org/drawingml/2006/main">
            <a:off x="6381750" y="1933575"/>
            <a:ext cx="4705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46B73"/>
                </a:solidFill>
                <a:latin typeface="Arial"/>
                <a:ea typeface="Arial"/>
                <a:cs typeface="Arial"/>
              </a:defRPr>
            </a:pPr>
            <a:r>
              <a:rPr sz="1500" b="0">
                <a:solidFill>
                  <a:srgbClr val="646B73"/>
                </a:solidFill>
                <a:latin typeface="Arial"/>
                <a:ea typeface="Arial"/>
                <a:cs typeface="Arial"/>
              </a:rPr>
              <a:t>HTL_S1826    Progress: 20 reviewed</a:t>
            </a:r>
          </a:p>
        </p:txBody>
      </p:sp>
      <p:sp>
        <p:nvSpPr>
          <p:cNvPr id="10" name="Project text 8">
            <a:extLst xmlns:a="http://schemas.openxmlformats.org/drawingml/2006/main">
              <a:ext uri="{FF2B5EF4-FFF2-40B4-BE49-F238E27FC236}">
                <a16:creationId xmlns:a16="http://schemas.microsoft.com/office/drawing/2014/main" id="{2BD8280F-945D-40C8-A04C-DED91C05F741}"/>
              </a:ext>
            </a:extLst>
          </p:cNvPr>
          <p:cNvSpPr>
            <a:spLocks xmlns:a="http://schemas.openxmlformats.org/drawingml/2006/main" noGrp="1"/>
          </p:cNvSpPr>
          <p:nvPr/>
        </p:nvSpPr>
        <p:spPr>
          <a:xfrm xmlns:a="http://schemas.openxmlformats.org/drawingml/2006/main">
            <a:off x="1057275" y="23717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Noto Sans CJK SC"/>
                <a:cs typeface="Noto Sans CJK SC"/>
              </a:defRPr>
            </a:pPr>
            <a:r>
              <a:rPr sz="1875" b="0">
                <a:solidFill>
                  <a:srgbClr val="111111"/>
                </a:solidFill>
                <a:latin typeface="Arial"/>
                <a:ea typeface="Noto Sans CJK SC"/>
                <a:cs typeface="Noto Sans CJK SC"/>
              </a:rPr>
              <a:t>房间里还算干净,就是噪音太大,价格相对来说还是贵的</a:t>
            </a:r>
          </a:p>
        </p:txBody>
      </p:sp>
      <p:graphicFrame>
        <p:nvGraphicFramePr>
          <p:cNvPr id="30" name=""/>
          <p:cNvGraphicFramePr/>
          <p:nvPr/>
        </p:nvGraphicFramePr>
        <p:xfrm>
          <a:off xmlns:a="http://schemas.openxmlformats.org/drawingml/2006/main" x="1057275" y="2714625"/>
          <a:ext xmlns:a="http://schemas.openxmlformats.org/drawingml/2006/main" cx="10020300" cy="2352675"/>
        </p:xfrm>
        <a:graphic xmlns:a="http://schemas.openxmlformats.org/drawingml/2006/main">
          <a:graphicData uri="http://schemas.openxmlformats.org/drawingml/2006/table">
            <a:tbl>
              <a:tblPr/>
              <a:tblGrid>
                <a:gridCol w="2257425"/>
                <a:gridCol w="1552575"/>
                <a:gridCol w="1552575"/>
                <a:gridCol w="1552575"/>
                <a:gridCol w="1552575"/>
                <a:gridCol w="1552575"/>
              </a:tblGrid>
              <a:tr h="261408">
                <a:tc>
                  <a:txBody>
                    <a:bodyPr/>
                    <a:lstStyle/>
                    <a:p>
                      <a:r>
                        <a:rPr sz="1125" b="1">
                          <a:solidFill>
                            <a:srgbClr val="E30613"/>
                          </a:solidFill>
                          <a:latin typeface="Arial"/>
                          <a:ea typeface="Arial"/>
                          <a:cs typeface="Arial"/>
                        </a:rPr>
                        <a:t>Aspect</a:t>
                      </a:r>
                    </a:p>
                  </a:txBody>
                  <a:tcPr marL="76200" marR="76200" marT="38100" marB="38100">
                    <a:solidFill>
                      <a:srgbClr val="FFF0F2"/>
                    </a:solidFill>
                  </a:tcPr>
                </a:tc>
                <a:tc>
                  <a:txBody>
                    <a:bodyPr/>
                    <a:lstStyle/>
                    <a:p>
                      <a:r>
                        <a:rPr sz="1125" b="1">
                          <a:solidFill>
                            <a:srgbClr val="E30613"/>
                          </a:solidFill>
                          <a:latin typeface="Arial"/>
                          <a:ea typeface="Arial"/>
                          <a:cs typeface="Arial"/>
                        </a:rPr>
                        <a:t>Absent</a:t>
                      </a:r>
                    </a:p>
                  </a:txBody>
                  <a:tcPr marL="76200" marR="76200" marT="38100" marB="38100">
                    <a:solidFill>
                      <a:srgbClr val="FFF0F2"/>
                    </a:solidFill>
                  </a:tcPr>
                </a:tc>
                <a:tc>
                  <a:txBody>
                    <a:bodyPr/>
                    <a:lstStyle/>
                    <a:p>
                      <a:r>
                        <a:rPr sz="1125" b="1">
                          <a:solidFill>
                            <a:srgbClr val="E30613"/>
                          </a:solidFill>
                          <a:latin typeface="Arial"/>
                          <a:ea typeface="Arial"/>
                          <a:cs typeface="Arial"/>
                        </a:rPr>
                        <a:t>Negative</a:t>
                      </a:r>
                    </a:p>
                  </a:txBody>
                  <a:tcPr marL="76200" marR="76200" marT="38100" marB="38100">
                    <a:solidFill>
                      <a:srgbClr val="FFF0F2"/>
                    </a:solidFill>
                  </a:tcPr>
                </a:tc>
                <a:tc>
                  <a:txBody>
                    <a:bodyPr/>
                    <a:lstStyle/>
                    <a:p>
                      <a:r>
                        <a:rPr sz="1125" b="1">
                          <a:solidFill>
                            <a:srgbClr val="E30613"/>
                          </a:solidFill>
                          <a:latin typeface="Arial"/>
                          <a:ea typeface="Arial"/>
                          <a:cs typeface="Arial"/>
                        </a:rPr>
                        <a:t>Neutral</a:t>
                      </a:r>
                    </a:p>
                  </a:txBody>
                  <a:tcPr marL="76200" marR="76200" marT="38100" marB="38100">
                    <a:solidFill>
                      <a:srgbClr val="FFF0F2"/>
                    </a:solidFill>
                  </a:tcPr>
                </a:tc>
                <a:tc>
                  <a:txBody>
                    <a:bodyPr/>
                    <a:lstStyle/>
                    <a:p>
                      <a:r>
                        <a:rPr sz="1125" b="1">
                          <a:solidFill>
                            <a:srgbClr val="E30613"/>
                          </a:solidFill>
                          <a:latin typeface="Arial"/>
                          <a:ea typeface="Arial"/>
                          <a:cs typeface="Arial"/>
                        </a:rPr>
                        <a:t>Positive</a:t>
                      </a:r>
                    </a:p>
                  </a:txBody>
                  <a:tcPr marL="76200" marR="76200" marT="38100" marB="38100">
                    <a:solidFill>
                      <a:srgbClr val="FFF0F2"/>
                    </a:solidFill>
                  </a:tcPr>
                </a:tc>
                <a:tc>
                  <a:txBody>
                    <a:bodyPr/>
                    <a:lstStyle/>
                    <a:p>
                      <a:r>
                        <a:rPr sz="1125" b="1">
                          <a:solidFill>
                            <a:srgbClr val="E30613"/>
                          </a:solidFill>
                          <a:latin typeface="Arial"/>
                          <a:ea typeface="Arial"/>
                          <a:cs typeface="Arial"/>
                        </a:rPr>
                        <a:t>Mixed</a:t>
                      </a:r>
                    </a:p>
                  </a:txBody>
                  <a:tcPr marL="76200" marR="76200" marT="38100" marB="38100">
                    <a:solidFill>
                      <a:srgbClr val="FFF0F2"/>
                    </a:solidFill>
                  </a:tcPr>
                </a:tc>
              </a:tr>
              <a:tr h="261408">
                <a:tc>
                  <a:txBody>
                    <a:bodyPr/>
                    <a:lstStyle/>
                    <a:p>
                      <a:r>
                        <a:rPr sz="1200" b="0">
                          <a:solidFill>
                            <a:srgbClr val="111111"/>
                          </a:solidFill>
                          <a:latin typeface="Arial"/>
                          <a:ea typeface="Arial"/>
                          <a:cs typeface="Arial"/>
                        </a:rPr>
                        <a:t>Cleanliness</a:t>
                      </a:r>
                    </a:p>
                  </a:txBody>
                  <a:tcPr marL="76200" marR="76200" marT="38100" marB="38100">
                    <a:solidFill>
                      <a:srgbClr val="FFFF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c>
                  <a:txBody>
                    <a:bodyPr/>
                    <a:lstStyle/>
                    <a:p>
                      <a:r>
                        <a:rPr sz="1200" b="1">
                          <a:solidFill>
                            <a:srgbClr val="2861FF"/>
                          </a:solidFill>
                          <a:latin typeface="Arial"/>
                          <a:ea typeface="Arial"/>
                          <a:cs typeface="Arial"/>
                        </a:rPr>
                        <a:t>Selected</a:t>
                      </a:r>
                    </a:p>
                  </a:txBody>
                  <a:tcPr marL="76200" marR="76200" marT="38100" marB="38100">
                    <a:solidFill>
                      <a:srgbClr val="DEE8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r>
              <a:tr h="261408">
                <a:tc>
                  <a:txBody>
                    <a:bodyPr/>
                    <a:lstStyle/>
                    <a:p>
                      <a:r>
                        <a:rPr sz="1200" b="0">
                          <a:solidFill>
                            <a:srgbClr val="111111"/>
                          </a:solidFill>
                          <a:latin typeface="Arial"/>
                          <a:ea typeface="Arial"/>
                          <a:cs typeface="Arial"/>
                        </a:rPr>
                        <a:t>Service</a:t>
                      </a:r>
                    </a:p>
                  </a:txBody>
                  <a:tcPr marL="76200" marR="76200" marT="38100" marB="38100">
                    <a:solidFill>
                      <a:srgbClr val="F4F5F7"/>
                    </a:solidFill>
                  </a:tcPr>
                </a:tc>
                <a:tc>
                  <a:txBody>
                    <a:bodyPr/>
                    <a:lstStyle/>
                    <a:p>
                      <a:r>
                        <a:rPr sz="1200" b="1">
                          <a:solidFill>
                            <a:srgbClr val="2861FF"/>
                          </a:solidFill>
                          <a:latin typeface="Arial"/>
                          <a:ea typeface="Arial"/>
                          <a:cs typeface="Arial"/>
                        </a:rPr>
                        <a:t>Selected</a:t>
                      </a:r>
                    </a:p>
                  </a:txBody>
                  <a:tcPr marL="76200" marR="76200" marT="38100" marB="38100">
                    <a:solidFill>
                      <a:srgbClr val="DEE8FF"/>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r>
              <a:tr h="261408">
                <a:tc>
                  <a:txBody>
                    <a:bodyPr/>
                    <a:lstStyle/>
                    <a:p>
                      <a:r>
                        <a:rPr sz="1200" b="0">
                          <a:solidFill>
                            <a:srgbClr val="111111"/>
                          </a:solidFill>
                          <a:latin typeface="Arial"/>
                          <a:ea typeface="Arial"/>
                          <a:cs typeface="Arial"/>
                        </a:rPr>
                        <a:t>Location</a:t>
                      </a:r>
                    </a:p>
                  </a:txBody>
                  <a:tcPr marL="76200" marR="76200" marT="38100" marB="38100">
                    <a:solidFill>
                      <a:srgbClr val="FFFFFF"/>
                    </a:solidFill>
                  </a:tcPr>
                </a:tc>
                <a:tc>
                  <a:txBody>
                    <a:bodyPr/>
                    <a:lstStyle/>
                    <a:p>
                      <a:r>
                        <a:rPr sz="1200" b="1">
                          <a:solidFill>
                            <a:srgbClr val="2861FF"/>
                          </a:solidFill>
                          <a:latin typeface="Arial"/>
                          <a:ea typeface="Arial"/>
                          <a:cs typeface="Arial"/>
                        </a:rPr>
                        <a:t>Selected</a:t>
                      </a:r>
                    </a:p>
                  </a:txBody>
                  <a:tcPr marL="76200" marR="76200" marT="38100" marB="38100">
                    <a:solidFill>
                      <a:srgbClr val="DEE8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r>
              <a:tr h="261408">
                <a:tc>
                  <a:txBody>
                    <a:bodyPr/>
                    <a:lstStyle/>
                    <a:p>
                      <a:r>
                        <a:rPr sz="1200" b="0">
                          <a:solidFill>
                            <a:srgbClr val="111111"/>
                          </a:solidFill>
                          <a:latin typeface="Arial"/>
                          <a:ea typeface="Arial"/>
                          <a:cs typeface="Arial"/>
                        </a:rPr>
                        <a:t>Facilities</a:t>
                      </a:r>
                    </a:p>
                  </a:txBody>
                  <a:tcPr marL="76200" marR="76200" marT="38100" marB="38100">
                    <a:solidFill>
                      <a:srgbClr val="F4F5F7"/>
                    </a:solidFill>
                  </a:tcPr>
                </a:tc>
                <a:tc>
                  <a:txBody>
                    <a:bodyPr/>
                    <a:lstStyle/>
                    <a:p>
                      <a:r>
                        <a:rPr sz="1200" b="1">
                          <a:solidFill>
                            <a:srgbClr val="2861FF"/>
                          </a:solidFill>
                          <a:latin typeface="Arial"/>
                          <a:ea typeface="Arial"/>
                          <a:cs typeface="Arial"/>
                        </a:rPr>
                        <a:t>Selected</a:t>
                      </a:r>
                    </a:p>
                  </a:txBody>
                  <a:tcPr marL="76200" marR="76200" marT="38100" marB="38100">
                    <a:solidFill>
                      <a:srgbClr val="DEE8FF"/>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r>
              <a:tr h="261408">
                <a:tc>
                  <a:txBody>
                    <a:bodyPr/>
                    <a:lstStyle/>
                    <a:p>
                      <a:r>
                        <a:rPr sz="1200" b="0">
                          <a:solidFill>
                            <a:srgbClr val="111111"/>
                          </a:solidFill>
                          <a:latin typeface="Arial"/>
                          <a:ea typeface="Arial"/>
                          <a:cs typeface="Arial"/>
                        </a:rPr>
                        <a:t>Room comfort</a:t>
                      </a:r>
                    </a:p>
                  </a:txBody>
                  <a:tcPr marL="76200" marR="76200" marT="38100" marB="38100">
                    <a:solidFill>
                      <a:srgbClr val="FFFFFF"/>
                    </a:solidFill>
                  </a:tcPr>
                </a:tc>
                <a:tc>
                  <a:txBody>
                    <a:bodyPr/>
                    <a:lstStyle/>
                    <a:p>
                      <a:r>
                        <a:rPr sz="1200" b="1">
                          <a:solidFill>
                            <a:srgbClr val="2861FF"/>
                          </a:solidFill>
                          <a:latin typeface="Arial"/>
                          <a:ea typeface="Arial"/>
                          <a:cs typeface="Arial"/>
                        </a:rPr>
                        <a:t>Selected</a:t>
                      </a:r>
                    </a:p>
                  </a:txBody>
                  <a:tcPr marL="76200" marR="76200" marT="38100" marB="38100">
                    <a:solidFill>
                      <a:srgbClr val="DEE8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r>
              <a:tr h="261408">
                <a:tc>
                  <a:txBody>
                    <a:bodyPr/>
                    <a:lstStyle/>
                    <a:p>
                      <a:r>
                        <a:rPr sz="1200" b="0">
                          <a:solidFill>
                            <a:srgbClr val="111111"/>
                          </a:solidFill>
                          <a:latin typeface="Arial"/>
                          <a:ea typeface="Arial"/>
                          <a:cs typeface="Arial"/>
                        </a:rPr>
                        <a:t>Sound insulation</a:t>
                      </a:r>
                    </a:p>
                  </a:txBody>
                  <a:tcPr marL="76200" marR="76200" marT="38100" marB="38100">
                    <a:solidFill>
                      <a:srgbClr val="F4F5F7"/>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c>
                  <a:txBody>
                    <a:bodyPr/>
                    <a:lstStyle/>
                    <a:p>
                      <a:r>
                        <a:rPr sz="1200" b="1">
                          <a:solidFill>
                            <a:srgbClr val="2861FF"/>
                          </a:solidFill>
                          <a:latin typeface="Arial"/>
                          <a:ea typeface="Arial"/>
                          <a:cs typeface="Arial"/>
                        </a:rPr>
                        <a:t>Selected</a:t>
                      </a:r>
                    </a:p>
                  </a:txBody>
                  <a:tcPr marL="76200" marR="76200" marT="38100" marB="38100">
                    <a:solidFill>
                      <a:srgbClr val="DEE8FF"/>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r>
              <a:tr h="261408">
                <a:tc>
                  <a:txBody>
                    <a:bodyPr/>
                    <a:lstStyle/>
                    <a:p>
                      <a:r>
                        <a:rPr sz="1200" b="0">
                          <a:solidFill>
                            <a:srgbClr val="111111"/>
                          </a:solidFill>
                          <a:latin typeface="Arial"/>
                          <a:ea typeface="Arial"/>
                          <a:cs typeface="Arial"/>
                        </a:rPr>
                        <a:t>Food</a:t>
                      </a:r>
                    </a:p>
                  </a:txBody>
                  <a:tcPr marL="76200" marR="76200" marT="38100" marB="38100">
                    <a:solidFill>
                      <a:srgbClr val="FFFFFF"/>
                    </a:solidFill>
                  </a:tcPr>
                </a:tc>
                <a:tc>
                  <a:txBody>
                    <a:bodyPr/>
                    <a:lstStyle/>
                    <a:p>
                      <a:r>
                        <a:rPr sz="1200" b="1">
                          <a:solidFill>
                            <a:srgbClr val="2861FF"/>
                          </a:solidFill>
                          <a:latin typeface="Arial"/>
                          <a:ea typeface="Arial"/>
                          <a:cs typeface="Arial"/>
                        </a:rPr>
                        <a:t>Selected</a:t>
                      </a:r>
                    </a:p>
                  </a:txBody>
                  <a:tcPr marL="76200" marR="76200" marT="38100" marB="38100">
                    <a:solidFill>
                      <a:srgbClr val="DEE8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c>
                  <a:txBody>
                    <a:bodyPr/>
                    <a:lstStyle/>
                    <a:p>
                      <a:r>
                        <a:rPr sz="1200" b="0">
                          <a:solidFill>
                            <a:srgbClr val="111111"/>
                          </a:solidFill>
                          <a:latin typeface="Arial"/>
                          <a:ea typeface="Arial"/>
                          <a:cs typeface="Arial"/>
                        </a:rPr>
                        <a:t/>
                      </a:r>
                    </a:p>
                  </a:txBody>
                  <a:tcPr marL="76200" marR="76200" marT="38100" marB="38100">
                    <a:solidFill>
                      <a:srgbClr val="FFFFFF"/>
                    </a:solidFill>
                  </a:tcPr>
                </a:tc>
              </a:tr>
              <a:tr h="261408">
                <a:tc>
                  <a:txBody>
                    <a:bodyPr/>
                    <a:lstStyle/>
                    <a:p>
                      <a:r>
                        <a:rPr sz="1200" b="0">
                          <a:solidFill>
                            <a:srgbClr val="111111"/>
                          </a:solidFill>
                          <a:latin typeface="Arial"/>
                          <a:ea typeface="Arial"/>
                          <a:cs typeface="Arial"/>
                        </a:rPr>
                        <a:t>Value</a:t>
                      </a:r>
                    </a:p>
                  </a:txBody>
                  <a:tcPr marL="76200" marR="76200" marT="38100" marB="38100">
                    <a:solidFill>
                      <a:srgbClr val="F4F5F7"/>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c>
                  <a:txBody>
                    <a:bodyPr/>
                    <a:lstStyle/>
                    <a:p>
                      <a:r>
                        <a:rPr sz="1200" b="1">
                          <a:solidFill>
                            <a:srgbClr val="2861FF"/>
                          </a:solidFill>
                          <a:latin typeface="Arial"/>
                          <a:ea typeface="Arial"/>
                          <a:cs typeface="Arial"/>
                        </a:rPr>
                        <a:t>Selected</a:t>
                      </a:r>
                    </a:p>
                  </a:txBody>
                  <a:tcPr marL="76200" marR="76200" marT="38100" marB="38100">
                    <a:solidFill>
                      <a:srgbClr val="DEE8FF"/>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c>
                  <a:txBody>
                    <a:bodyPr/>
                    <a:lstStyle/>
                    <a:p>
                      <a:r>
                        <a:rPr sz="1200" b="0">
                          <a:solidFill>
                            <a:srgbClr val="111111"/>
                          </a:solidFill>
                          <a:latin typeface="Arial"/>
                          <a:ea typeface="Arial"/>
                          <a:cs typeface="Arial"/>
                        </a:rPr>
                        <a:t/>
                      </a:r>
                    </a:p>
                  </a:txBody>
                  <a:tcPr marL="76200" marR="76200" marT="38100" marB="38100">
                    <a:solidFill>
                      <a:srgbClr val="F4F5F7"/>
                    </a:solidFill>
                  </a:tcPr>
                </a:tc>
              </a:tr>
            </a:tbl>
          </a:graphicData>
        </a:graphic>
      </p:graphicFrame>
      <p:sp>
        <p:nvSpPr>
          <p:cNvPr id="12" name="">
            <a:extLst xmlns:a="http://schemas.openxmlformats.org/drawingml/2006/main">
              <a:ext uri="{FF2B5EF4-FFF2-40B4-BE49-F238E27FC236}">
                <a16:creationId xmlns:a16="http://schemas.microsoft.com/office/drawing/2014/main" id="{3D4F6188-6469-48A1-80B2-2BEDBAED7201}"/>
              </a:ext>
            </a:extLst>
          </p:cNvPr>
          <p:cNvSpPr>
            <a:spLocks xmlns:a="http://schemas.openxmlformats.org/drawingml/2006/main" noGrp="1"/>
          </p:cNvSpPr>
          <p:nvPr/>
        </p:nvSpPr>
        <p:spPr>
          <a:xfrm xmlns:a="http://schemas.openxmlformats.org/drawingml/2006/main">
            <a:off x="1057275" y="5762625"/>
            <a:ext cx="2095500" cy="323850"/>
          </a:xfrm>
          <a:prstGeom xmlns:a="http://schemas.openxmlformats.org/drawingml/2006/main" prst="rect">
            <a:avLst/>
          </a:prstGeom>
          <a:solidFill xmlns:a="http://schemas.openxmlformats.org/drawingml/2006/main">
            <a:srgbClr val="2861FF"/>
          </a:solidFill>
          <a:ln xmlns:a="http://schemas.openxmlformats.org/drawingml/2006/main" w="9525">
            <a:solidFill>
              <a:srgbClr val="2861FF"/>
            </a:solidFill>
          </a:ln>
        </p:spPr>
      </p:sp>
      <p:sp>
        <p:nvSpPr>
          <p:cNvPr id="13" name="Project text 10">
            <a:extLst xmlns:a="http://schemas.openxmlformats.org/drawingml/2006/main">
              <a:ext uri="{FF2B5EF4-FFF2-40B4-BE49-F238E27FC236}">
                <a16:creationId xmlns:a16="http://schemas.microsoft.com/office/drawing/2014/main" id="{FE8C9246-7562-42C2-80C9-79A79C70DA59}"/>
              </a:ext>
            </a:extLst>
          </p:cNvPr>
          <p:cNvSpPr>
            <a:spLocks xmlns:a="http://schemas.openxmlformats.org/drawingml/2006/main" noGrp="1"/>
          </p:cNvSpPr>
          <p:nvPr/>
        </p:nvSpPr>
        <p:spPr>
          <a:xfrm xmlns:a="http://schemas.openxmlformats.org/drawingml/2006/main">
            <a:off x="1143000" y="5829300"/>
            <a:ext cx="1924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Save and next</a:t>
            </a:r>
          </a:p>
        </p:txBody>
      </p:sp>
      <p:sp>
        <p:nvSpPr>
          <p:cNvPr id="14" name="">
            <a:extLst xmlns:a="http://schemas.openxmlformats.org/drawingml/2006/main">
              <a:ext uri="{FF2B5EF4-FFF2-40B4-BE49-F238E27FC236}">
                <a16:creationId xmlns:a16="http://schemas.microsoft.com/office/drawing/2014/main" id="{CD42A3DE-D951-4F73-8AA0-33A0C1B2619A}"/>
              </a:ext>
            </a:extLst>
          </p:cNvPr>
          <p:cNvSpPr>
            <a:spLocks xmlns:a="http://schemas.openxmlformats.org/drawingml/2006/main" noGrp="1"/>
          </p:cNvSpPr>
          <p:nvPr/>
        </p:nvSpPr>
        <p:spPr>
          <a:xfrm xmlns:a="http://schemas.openxmlformats.org/drawingml/2006/main">
            <a:off x="3362325" y="5762625"/>
            <a:ext cx="1905000" cy="323850"/>
          </a:xfrm>
          <a:prstGeom xmlns:a="http://schemas.openxmlformats.org/drawingml/2006/main" prst="rect">
            <a:avLst/>
          </a:prstGeom>
          <a:solidFill xmlns:a="http://schemas.openxmlformats.org/drawingml/2006/main">
            <a:srgbClr val="646B73"/>
          </a:solidFill>
          <a:ln xmlns:a="http://schemas.openxmlformats.org/drawingml/2006/main" w="9525">
            <a:solidFill>
              <a:srgbClr val="646B73"/>
            </a:solidFill>
          </a:ln>
        </p:spPr>
      </p:sp>
      <p:sp>
        <p:nvSpPr>
          <p:cNvPr id="15" name="Project text 12">
            <a:extLst xmlns:a="http://schemas.openxmlformats.org/drawingml/2006/main">
              <a:ext uri="{FF2B5EF4-FFF2-40B4-BE49-F238E27FC236}">
                <a16:creationId xmlns:a16="http://schemas.microsoft.com/office/drawing/2014/main" id="{EE345A85-5709-4C39-9FB5-53A380E3DBE6}"/>
              </a:ext>
            </a:extLst>
          </p:cNvPr>
          <p:cNvSpPr>
            <a:spLocks xmlns:a="http://schemas.openxmlformats.org/drawingml/2006/main" noGrp="1"/>
          </p:cNvSpPr>
          <p:nvPr/>
        </p:nvSpPr>
        <p:spPr>
          <a:xfrm xmlns:a="http://schemas.openxmlformats.org/drawingml/2006/main">
            <a:off x="3448050" y="582930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Needs review</a:t>
            </a:r>
          </a:p>
        </p:txBody>
      </p:sp>
      <p:sp>
        <p:nvSpPr>
          <p:cNvPr id="16" name="">
            <a:extLst xmlns:a="http://schemas.openxmlformats.org/drawingml/2006/main">
              <a:ext uri="{FF2B5EF4-FFF2-40B4-BE49-F238E27FC236}">
                <a16:creationId xmlns:a16="http://schemas.microsoft.com/office/drawing/2014/main" id="{68E96C66-27B3-45F4-9BD1-09789042EEA2}"/>
              </a:ext>
            </a:extLst>
          </p:cNvPr>
          <p:cNvSpPr>
            <a:spLocks xmlns:a="http://schemas.openxmlformats.org/drawingml/2006/main" noGrp="1"/>
          </p:cNvSpPr>
          <p:nvPr/>
        </p:nvSpPr>
        <p:spPr>
          <a:xfrm xmlns:a="http://schemas.openxmlformats.org/drawingml/2006/main">
            <a:off x="5476875" y="5762625"/>
            <a:ext cx="1333500" cy="323850"/>
          </a:xfrm>
          <a:prstGeom xmlns:a="http://schemas.openxmlformats.org/drawingml/2006/main" prst="rect">
            <a:avLst/>
          </a:prstGeom>
          <a:solidFill xmlns:a="http://schemas.openxmlformats.org/drawingml/2006/main">
            <a:srgbClr val="E30613"/>
          </a:solidFill>
          <a:ln xmlns:a="http://schemas.openxmlformats.org/drawingml/2006/main" w="9525">
            <a:solidFill>
              <a:srgbClr val="E30613"/>
            </a:solidFill>
          </a:ln>
        </p:spPr>
      </p:sp>
      <p:sp>
        <p:nvSpPr>
          <p:cNvPr id="17" name="Project text 14">
            <a:extLst xmlns:a="http://schemas.openxmlformats.org/drawingml/2006/main">
              <a:ext uri="{FF2B5EF4-FFF2-40B4-BE49-F238E27FC236}">
                <a16:creationId xmlns:a16="http://schemas.microsoft.com/office/drawing/2014/main" id="{EE04D4CE-8EF2-4F6D-B44F-39E7787070C5}"/>
              </a:ext>
            </a:extLst>
          </p:cNvPr>
          <p:cNvSpPr>
            <a:spLocks xmlns:a="http://schemas.openxmlformats.org/drawingml/2006/main" noGrp="1"/>
          </p:cNvSpPr>
          <p:nvPr/>
        </p:nvSpPr>
        <p:spPr>
          <a:xfrm xmlns:a="http://schemas.openxmlformats.org/drawingml/2006/main">
            <a:off x="5562600" y="58293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Exclude</a:t>
            </a:r>
          </a:p>
        </p:txBody>
      </p:sp>
      <p:sp>
        <p:nvSpPr>
          <p:cNvPr id="18" name="">
            <a:extLst xmlns:a="http://schemas.openxmlformats.org/drawingml/2006/main">
              <a:ext uri="{FF2B5EF4-FFF2-40B4-BE49-F238E27FC236}">
                <a16:creationId xmlns:a16="http://schemas.microsoft.com/office/drawing/2014/main" id="{F695E52D-F126-44C1-B7DD-DC1E220D502D}"/>
              </a:ext>
            </a:extLst>
          </p:cNvPr>
          <p:cNvSpPr>
            <a:spLocks xmlns:a="http://schemas.openxmlformats.org/drawingml/2006/main" noGrp="1"/>
          </p:cNvSpPr>
          <p:nvPr/>
        </p:nvSpPr>
        <p:spPr>
          <a:xfrm xmlns:a="http://schemas.openxmlformats.org/drawingml/2006/main">
            <a:off x="7019925" y="5762625"/>
            <a:ext cx="2000250" cy="323850"/>
          </a:xfrm>
          <a:prstGeom xmlns:a="http://schemas.openxmlformats.org/drawingml/2006/main" prst="rect">
            <a:avLst/>
          </a:prstGeom>
          <a:solidFill xmlns:a="http://schemas.openxmlformats.org/drawingml/2006/main">
            <a:srgbClr val="646B73"/>
          </a:solidFill>
          <a:ln xmlns:a="http://schemas.openxmlformats.org/drawingml/2006/main" w="9525">
            <a:solidFill>
              <a:srgbClr val="646B73"/>
            </a:solidFill>
          </a:ln>
        </p:spPr>
      </p:sp>
      <p:sp>
        <p:nvSpPr>
          <p:cNvPr id="19" name="Project text 16">
            <a:extLst xmlns:a="http://schemas.openxmlformats.org/drawingml/2006/main">
              <a:ext uri="{FF2B5EF4-FFF2-40B4-BE49-F238E27FC236}">
                <a16:creationId xmlns:a16="http://schemas.microsoft.com/office/drawing/2014/main" id="{8C0122D6-9B23-4D45-BD6B-91FC89B64727}"/>
              </a:ext>
            </a:extLst>
          </p:cNvPr>
          <p:cNvSpPr>
            <a:spLocks xmlns:a="http://schemas.openxmlformats.org/drawingml/2006/main" noGrp="1"/>
          </p:cNvSpPr>
          <p:nvPr/>
        </p:nvSpPr>
        <p:spPr>
          <a:xfrm xmlns:a="http://schemas.openxmlformats.org/drawingml/2006/main">
            <a:off x="7105650" y="5829300"/>
            <a:ext cx="1828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Undo / previous</a:t>
            </a:r>
          </a:p>
        </p:txBody>
      </p:sp>
      <p:sp>
        <p:nvSpPr>
          <p:cNvPr id="20" name="Project text 17">
            <a:extLst xmlns:a="http://schemas.openxmlformats.org/drawingml/2006/main">
              <a:ext uri="{FF2B5EF4-FFF2-40B4-BE49-F238E27FC236}">
                <a16:creationId xmlns:a16="http://schemas.microsoft.com/office/drawing/2014/main" id="{509F6457-D71C-451A-8EE0-3FE00DD5C000}"/>
              </a:ext>
            </a:extLst>
          </p:cNvPr>
          <p:cNvSpPr>
            <a:spLocks xmlns:a="http://schemas.openxmlformats.org/drawingml/2006/main" noGrp="1"/>
          </p:cNvSpPr>
          <p:nvPr/>
        </p:nvSpPr>
        <p:spPr>
          <a:xfrm xmlns:a="http://schemas.openxmlformats.org/drawingml/2006/main">
            <a:off x="1057275" y="6172200"/>
            <a:ext cx="10020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646B73"/>
                </a:solidFill>
                <a:latin typeface="Arial"/>
                <a:ea typeface="Arial"/>
                <a:cs typeface="Arial"/>
              </a:defRPr>
            </a:pPr>
            <a:r>
              <a:rPr sz="1275" b="0">
                <a:solidFill>
                  <a:srgbClr val="646B73"/>
                </a:solidFill>
                <a:latin typeface="Arial"/>
                <a:ea typeface="Arial"/>
                <a:cs typeface="Arial"/>
              </a:rPr>
              <a:t>Autosave, keyboard shortcuts, context toggle and CSV / JSON export</a:t>
            </a:r>
          </a:p>
        </p:txBody>
      </p:sp>
    </p:spTree>
    <p:extLst>
      <p:ext uri="{BB962C8B-B14F-4D97-AF65-F5344CB8AC3E}">
        <p14:creationId xmlns:p14="http://schemas.microsoft.com/office/powerpoint/2010/main" val="49144901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ASSISTED ANNOTATION</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LLM suggestions with human review</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21</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Project text 5">
            <a:extLst xmlns:a="http://schemas.openxmlformats.org/drawingml/2006/main">
              <a:ext uri="{FF2B5EF4-FFF2-40B4-BE49-F238E27FC236}">
                <a16:creationId xmlns:a16="http://schemas.microsoft.com/office/drawing/2014/main" id="{09060DD6-7059-4AF8-B70E-26F1757013B6}"/>
              </a:ext>
            </a:extLst>
          </p:cNvPr>
          <p:cNvSpPr>
            <a:spLocks xmlns:a="http://schemas.openxmlformats.org/drawingml/2006/main" noGrp="1"/>
          </p:cNvSpPr>
          <p:nvPr/>
        </p:nvSpPr>
        <p:spPr>
          <a:xfrm xmlns:a="http://schemas.openxmlformats.org/drawingml/2006/main">
            <a:off x="895350" y="19716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1">
                <a:solidFill>
                  <a:srgbClr val="E30613"/>
                </a:solidFill>
                <a:latin typeface="Arial"/>
                <a:ea typeface="Arial"/>
                <a:cs typeface="Arial"/>
              </a:defRPr>
            </a:pPr>
            <a:r>
              <a:rPr sz="3375" b="1">
                <a:solidFill>
                  <a:srgbClr val="E30613"/>
                </a:solidFill>
                <a:latin typeface="Arial"/>
                <a:ea typeface="Arial"/>
                <a:cs typeface="Arial"/>
              </a:rPr>
              <a:t>01</a:t>
            </a:r>
          </a:p>
        </p:txBody>
      </p:sp>
      <p:sp>
        <p:nvSpPr>
          <p:cNvPr id="8" name="Project text 6">
            <a:extLst xmlns:a="http://schemas.openxmlformats.org/drawingml/2006/main">
              <a:ext uri="{FF2B5EF4-FFF2-40B4-BE49-F238E27FC236}">
                <a16:creationId xmlns:a16="http://schemas.microsoft.com/office/drawing/2014/main" id="{1ECB6C51-CCB6-4238-A5FF-DFB68B2A9A88}"/>
              </a:ext>
            </a:extLst>
          </p:cNvPr>
          <p:cNvSpPr>
            <a:spLocks xmlns:a="http://schemas.openxmlformats.org/drawingml/2006/main" noGrp="1"/>
          </p:cNvSpPr>
          <p:nvPr/>
        </p:nvSpPr>
        <p:spPr>
          <a:xfrm xmlns:a="http://schemas.openxmlformats.org/drawingml/2006/main">
            <a:off x="895350" y="2686050"/>
            <a:ext cx="2305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1111"/>
                </a:solidFill>
                <a:latin typeface="Arial"/>
                <a:ea typeface="Arial"/>
                <a:cs typeface="Arial"/>
              </a:defRPr>
            </a:pPr>
            <a:r>
              <a:rPr sz="2175" b="1">
                <a:solidFill>
                  <a:srgbClr val="111111"/>
                </a:solidFill>
                <a:latin typeface="Arial"/>
                <a:ea typeface="Arial"/>
                <a:cs typeface="Arial"/>
              </a:rPr>
              <a:t>Define the prompt</a:t>
            </a:r>
          </a:p>
        </p:txBody>
      </p:sp>
      <p:sp>
        <p:nvSpPr>
          <p:cNvPr id="9" name="Project text 7">
            <a:extLst xmlns:a="http://schemas.openxmlformats.org/drawingml/2006/main">
              <a:ext uri="{FF2B5EF4-FFF2-40B4-BE49-F238E27FC236}">
                <a16:creationId xmlns:a16="http://schemas.microsoft.com/office/drawing/2014/main" id="{D9ABCC0C-5944-48A1-84B2-385CDAFE1205}"/>
              </a:ext>
            </a:extLst>
          </p:cNvPr>
          <p:cNvSpPr>
            <a:spLocks xmlns:a="http://schemas.openxmlformats.org/drawingml/2006/main" noGrp="1"/>
          </p:cNvSpPr>
          <p:nvPr/>
        </p:nvSpPr>
        <p:spPr>
          <a:xfrm xmlns:a="http://schemas.openxmlformats.org/drawingml/2006/main">
            <a:off x="895350" y="3714750"/>
            <a:ext cx="23050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Provide aspect definitions, state codes and a few examples.</a:t>
            </a:r>
          </a:p>
        </p:txBody>
      </p:sp>
      <p:sp>
        <p:nvSpPr>
          <p:cNvPr id="10" name="Project text 8">
            <a:extLst xmlns:a="http://schemas.openxmlformats.org/drawingml/2006/main">
              <a:ext uri="{FF2B5EF4-FFF2-40B4-BE49-F238E27FC236}">
                <a16:creationId xmlns:a16="http://schemas.microsoft.com/office/drawing/2014/main" id="{BA0C4DF9-47B6-4C30-BEEC-4FBC3807B571}"/>
              </a:ext>
            </a:extLst>
          </p:cNvPr>
          <p:cNvSpPr>
            <a:spLocks xmlns:a="http://schemas.openxmlformats.org/drawingml/2006/main" noGrp="1"/>
          </p:cNvSpPr>
          <p:nvPr/>
        </p:nvSpPr>
        <p:spPr>
          <a:xfrm xmlns:a="http://schemas.openxmlformats.org/drawingml/2006/main">
            <a:off x="3562350" y="19716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1">
                <a:solidFill>
                  <a:srgbClr val="E30613"/>
                </a:solidFill>
                <a:latin typeface="Arial"/>
                <a:ea typeface="Arial"/>
                <a:cs typeface="Arial"/>
              </a:defRPr>
            </a:pPr>
            <a:r>
              <a:rPr sz="3375" b="1">
                <a:solidFill>
                  <a:srgbClr val="E30613"/>
                </a:solidFill>
                <a:latin typeface="Arial"/>
                <a:ea typeface="Arial"/>
                <a:cs typeface="Arial"/>
              </a:rPr>
              <a:t>02</a:t>
            </a:r>
          </a:p>
        </p:txBody>
      </p:sp>
      <p:sp>
        <p:nvSpPr>
          <p:cNvPr id="11" name="Project text 9">
            <a:extLst xmlns:a="http://schemas.openxmlformats.org/drawingml/2006/main">
              <a:ext uri="{FF2B5EF4-FFF2-40B4-BE49-F238E27FC236}">
                <a16:creationId xmlns:a16="http://schemas.microsoft.com/office/drawing/2014/main" id="{6A9E1B0C-44BF-48D2-A8D2-CFF7E89B9B2F}"/>
              </a:ext>
            </a:extLst>
          </p:cNvPr>
          <p:cNvSpPr>
            <a:spLocks xmlns:a="http://schemas.openxmlformats.org/drawingml/2006/main" noGrp="1"/>
          </p:cNvSpPr>
          <p:nvPr/>
        </p:nvSpPr>
        <p:spPr>
          <a:xfrm xmlns:a="http://schemas.openxmlformats.org/drawingml/2006/main">
            <a:off x="3562350" y="2686050"/>
            <a:ext cx="2305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1111"/>
                </a:solidFill>
                <a:latin typeface="Arial"/>
                <a:ea typeface="Arial"/>
                <a:cs typeface="Arial"/>
              </a:defRPr>
            </a:pPr>
            <a:r>
              <a:rPr sz="2175" b="1">
                <a:solidFill>
                  <a:srgbClr val="111111"/>
                </a:solidFill>
                <a:latin typeface="Arial"/>
                <a:ea typeface="Arial"/>
                <a:cs typeface="Arial"/>
              </a:rPr>
              <a:t>Request JSON</a:t>
            </a:r>
          </a:p>
        </p:txBody>
      </p:sp>
      <p:sp>
        <p:nvSpPr>
          <p:cNvPr id="12" name="Project text 10">
            <a:extLst xmlns:a="http://schemas.openxmlformats.org/drawingml/2006/main">
              <a:ext uri="{FF2B5EF4-FFF2-40B4-BE49-F238E27FC236}">
                <a16:creationId xmlns:a16="http://schemas.microsoft.com/office/drawing/2014/main" id="{B9B2AC78-D956-4EC0-8BBD-3753681F9C71}"/>
              </a:ext>
            </a:extLst>
          </p:cNvPr>
          <p:cNvSpPr>
            <a:spLocks xmlns:a="http://schemas.openxmlformats.org/drawingml/2006/main" noGrp="1"/>
          </p:cNvSpPr>
          <p:nvPr/>
        </p:nvSpPr>
        <p:spPr>
          <a:xfrm xmlns:a="http://schemas.openxmlformats.org/drawingml/2006/main">
            <a:off x="3562350" y="3714750"/>
            <a:ext cx="23050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Return sentence_id, 8 states and exact evidence spans.</a:t>
            </a:r>
          </a:p>
        </p:txBody>
      </p:sp>
      <p:sp>
        <p:nvSpPr>
          <p:cNvPr id="13" name="Project text 11">
            <a:extLst xmlns:a="http://schemas.openxmlformats.org/drawingml/2006/main">
              <a:ext uri="{FF2B5EF4-FFF2-40B4-BE49-F238E27FC236}">
                <a16:creationId xmlns:a16="http://schemas.microsoft.com/office/drawing/2014/main" id="{40A5CB57-D130-4FAC-B514-FB7CAB8E0BE4}"/>
              </a:ext>
            </a:extLst>
          </p:cNvPr>
          <p:cNvSpPr>
            <a:spLocks xmlns:a="http://schemas.openxmlformats.org/drawingml/2006/main" noGrp="1"/>
          </p:cNvSpPr>
          <p:nvPr/>
        </p:nvSpPr>
        <p:spPr>
          <a:xfrm xmlns:a="http://schemas.openxmlformats.org/drawingml/2006/main">
            <a:off x="6229350" y="19716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1">
                <a:solidFill>
                  <a:srgbClr val="E30613"/>
                </a:solidFill>
                <a:latin typeface="Arial"/>
                <a:ea typeface="Arial"/>
                <a:cs typeface="Arial"/>
              </a:defRPr>
            </a:pPr>
            <a:r>
              <a:rPr sz="3375" b="1">
                <a:solidFill>
                  <a:srgbClr val="E30613"/>
                </a:solidFill>
                <a:latin typeface="Arial"/>
                <a:ea typeface="Arial"/>
                <a:cs typeface="Arial"/>
              </a:rPr>
              <a:t>03</a:t>
            </a:r>
          </a:p>
        </p:txBody>
      </p:sp>
      <p:sp>
        <p:nvSpPr>
          <p:cNvPr id="14" name="Project text 12">
            <a:extLst xmlns:a="http://schemas.openxmlformats.org/drawingml/2006/main">
              <a:ext uri="{FF2B5EF4-FFF2-40B4-BE49-F238E27FC236}">
                <a16:creationId xmlns:a16="http://schemas.microsoft.com/office/drawing/2014/main" id="{1304E012-CDE9-4EFB-9A03-A2FB7E2AB70D}"/>
              </a:ext>
            </a:extLst>
          </p:cNvPr>
          <p:cNvSpPr>
            <a:spLocks xmlns:a="http://schemas.openxmlformats.org/drawingml/2006/main" noGrp="1"/>
          </p:cNvSpPr>
          <p:nvPr/>
        </p:nvSpPr>
        <p:spPr>
          <a:xfrm xmlns:a="http://schemas.openxmlformats.org/drawingml/2006/main">
            <a:off x="6229350" y="2686050"/>
            <a:ext cx="2305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1111"/>
                </a:solidFill>
                <a:latin typeface="Arial"/>
                <a:ea typeface="Arial"/>
                <a:cs typeface="Arial"/>
              </a:defRPr>
            </a:pPr>
            <a:r>
              <a:rPr sz="2175" b="1">
                <a:solidFill>
                  <a:srgbClr val="111111"/>
                </a:solidFill>
                <a:latin typeface="Arial"/>
                <a:ea typeface="Arial"/>
                <a:cs typeface="Arial"/>
              </a:rPr>
              <a:t>Check the result</a:t>
            </a:r>
          </a:p>
        </p:txBody>
      </p:sp>
      <p:sp>
        <p:nvSpPr>
          <p:cNvPr id="15" name="Project text 13">
            <a:extLst xmlns:a="http://schemas.openxmlformats.org/drawingml/2006/main">
              <a:ext uri="{FF2B5EF4-FFF2-40B4-BE49-F238E27FC236}">
                <a16:creationId xmlns:a16="http://schemas.microsoft.com/office/drawing/2014/main" id="{233A73CD-F77A-4EC5-BE70-FF9D38D269DB}"/>
              </a:ext>
            </a:extLst>
          </p:cNvPr>
          <p:cNvSpPr>
            <a:spLocks xmlns:a="http://schemas.openxmlformats.org/drawingml/2006/main" noGrp="1"/>
          </p:cNvSpPr>
          <p:nvPr/>
        </p:nvSpPr>
        <p:spPr>
          <a:xfrm xmlns:a="http://schemas.openxmlformats.org/drawingml/2006/main">
            <a:off x="6229350" y="3714750"/>
            <a:ext cx="23050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Validate the schema and let a human correct every record.</a:t>
            </a:r>
          </a:p>
        </p:txBody>
      </p:sp>
      <p:sp>
        <p:nvSpPr>
          <p:cNvPr id="16" name="Project text 14">
            <a:extLst xmlns:a="http://schemas.openxmlformats.org/drawingml/2006/main">
              <a:ext uri="{FF2B5EF4-FFF2-40B4-BE49-F238E27FC236}">
                <a16:creationId xmlns:a16="http://schemas.microsoft.com/office/drawing/2014/main" id="{4D477B34-C087-43FF-839C-105739DABC8F}"/>
              </a:ext>
            </a:extLst>
          </p:cNvPr>
          <p:cNvSpPr>
            <a:spLocks xmlns:a="http://schemas.openxmlformats.org/drawingml/2006/main" noGrp="1"/>
          </p:cNvSpPr>
          <p:nvPr/>
        </p:nvSpPr>
        <p:spPr>
          <a:xfrm xmlns:a="http://schemas.openxmlformats.org/drawingml/2006/main">
            <a:off x="8896350" y="19716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1">
                <a:solidFill>
                  <a:srgbClr val="E30613"/>
                </a:solidFill>
                <a:latin typeface="Arial"/>
                <a:ea typeface="Arial"/>
                <a:cs typeface="Arial"/>
              </a:defRPr>
            </a:pPr>
            <a:r>
              <a:rPr sz="3375" b="1">
                <a:solidFill>
                  <a:srgbClr val="E30613"/>
                </a:solidFill>
                <a:latin typeface="Arial"/>
                <a:ea typeface="Arial"/>
                <a:cs typeface="Arial"/>
              </a:rPr>
              <a:t>04</a:t>
            </a:r>
          </a:p>
        </p:txBody>
      </p:sp>
      <p:sp>
        <p:nvSpPr>
          <p:cNvPr id="17" name="Project text 15">
            <a:extLst xmlns:a="http://schemas.openxmlformats.org/drawingml/2006/main">
              <a:ext uri="{FF2B5EF4-FFF2-40B4-BE49-F238E27FC236}">
                <a16:creationId xmlns:a16="http://schemas.microsoft.com/office/drawing/2014/main" id="{E38B1CFB-EE82-4B81-8E87-F3CF275AC1BF}"/>
              </a:ext>
            </a:extLst>
          </p:cNvPr>
          <p:cNvSpPr>
            <a:spLocks xmlns:a="http://schemas.openxmlformats.org/drawingml/2006/main" noGrp="1"/>
          </p:cNvSpPr>
          <p:nvPr/>
        </p:nvSpPr>
        <p:spPr>
          <a:xfrm xmlns:a="http://schemas.openxmlformats.org/drawingml/2006/main">
            <a:off x="8896350" y="2686050"/>
            <a:ext cx="2305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1111"/>
                </a:solidFill>
                <a:latin typeface="Arial"/>
                <a:ea typeface="Arial"/>
                <a:cs typeface="Arial"/>
              </a:defRPr>
            </a:pPr>
            <a:r>
              <a:rPr sz="2175" b="1">
                <a:solidFill>
                  <a:srgbClr val="111111"/>
                </a:solidFill>
                <a:latin typeface="Arial"/>
                <a:ea typeface="Arial"/>
                <a:cs typeface="Arial"/>
              </a:rPr>
              <a:t>Save separately</a:t>
            </a:r>
          </a:p>
        </p:txBody>
      </p:sp>
      <p:sp>
        <p:nvSpPr>
          <p:cNvPr id="18" name="Project text 16">
            <a:extLst xmlns:a="http://schemas.openxmlformats.org/drawingml/2006/main">
              <a:ext uri="{FF2B5EF4-FFF2-40B4-BE49-F238E27FC236}">
                <a16:creationId xmlns:a16="http://schemas.microsoft.com/office/drawing/2014/main" id="{C5634E1A-9E2B-4DEF-91AD-0734C713E75F}"/>
              </a:ext>
            </a:extLst>
          </p:cNvPr>
          <p:cNvSpPr>
            <a:spLocks xmlns:a="http://schemas.openxmlformats.org/drawingml/2006/main" noGrp="1"/>
          </p:cNvSpPr>
          <p:nvPr/>
        </p:nvSpPr>
        <p:spPr>
          <a:xfrm xmlns:a="http://schemas.openxmlformats.org/drawingml/2006/main">
            <a:off x="8896350" y="3714750"/>
            <a:ext cx="23050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Keep AI suggestions, human labels and review status.</a:t>
            </a:r>
          </a:p>
        </p:txBody>
      </p:sp>
      <p:sp>
        <p:nvSpPr>
          <p:cNvPr id="19" name="Project text 17">
            <a:extLst xmlns:a="http://schemas.openxmlformats.org/drawingml/2006/main">
              <a:ext uri="{FF2B5EF4-FFF2-40B4-BE49-F238E27FC236}">
                <a16:creationId xmlns:a16="http://schemas.microsoft.com/office/drawing/2014/main" id="{A6A5E564-7C0D-4222-A5D1-56C1B561E0F6}"/>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A suggested label becomes training data only after a human confirms it.</a:t>
            </a:r>
          </a:p>
        </p:txBody>
      </p:sp>
    </p:spTree>
    <p:extLst>
      <p:ext uri="{BB962C8B-B14F-4D97-AF65-F5344CB8AC3E}">
        <p14:creationId xmlns:p14="http://schemas.microsoft.com/office/powerpoint/2010/main" val="49144901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ANNOTATION QUALITY</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A reviewed dataset for training</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22</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Project text 5">
            <a:extLst xmlns:a="http://schemas.openxmlformats.org/drawingml/2006/main">
              <a:ext uri="{FF2B5EF4-FFF2-40B4-BE49-F238E27FC236}">
                <a16:creationId xmlns:a16="http://schemas.microsoft.com/office/drawing/2014/main" id="{57BFCD11-BB55-48E0-B1E9-4ED7458A2302}"/>
              </a:ext>
            </a:extLst>
          </p:cNvPr>
          <p:cNvSpPr>
            <a:spLocks xmlns:a="http://schemas.openxmlformats.org/drawingml/2006/main" noGrp="1"/>
          </p:cNvSpPr>
          <p:nvPr/>
        </p:nvSpPr>
        <p:spPr>
          <a:xfrm xmlns:a="http://schemas.openxmlformats.org/drawingml/2006/main">
            <a:off x="895350" y="18669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2861FF"/>
                </a:solidFill>
                <a:latin typeface="Arial"/>
                <a:ea typeface="Arial"/>
                <a:cs typeface="Arial"/>
              </a:defRPr>
            </a:pPr>
            <a:r>
              <a:rPr sz="1875" b="1">
                <a:solidFill>
                  <a:srgbClr val="2861FF"/>
                </a:solidFill>
                <a:latin typeface="Arial"/>
                <a:ea typeface="Arial"/>
                <a:cs typeface="Arial"/>
              </a:rPr>
              <a:t>Pilot first</a:t>
            </a:r>
          </a:p>
        </p:txBody>
      </p:sp>
      <p:sp>
        <p:nvSpPr>
          <p:cNvPr id="8" name="Project text 6">
            <a:extLst xmlns:a="http://schemas.openxmlformats.org/drawingml/2006/main">
              <a:ext uri="{FF2B5EF4-FFF2-40B4-BE49-F238E27FC236}">
                <a16:creationId xmlns:a16="http://schemas.microsoft.com/office/drawing/2014/main" id="{CE5A936D-D52F-4FF1-AF1E-5F7C6572D9C7}"/>
              </a:ext>
            </a:extLst>
          </p:cNvPr>
          <p:cNvSpPr>
            <a:spLocks xmlns:a="http://schemas.openxmlformats.org/drawingml/2006/main" noGrp="1"/>
          </p:cNvSpPr>
          <p:nvPr/>
        </p:nvSpPr>
        <p:spPr>
          <a:xfrm xmlns:a="http://schemas.openxmlformats.org/drawingml/2006/main">
            <a:off x="3228975" y="1866900"/>
            <a:ext cx="8048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Two people label the same 20 sentences independently.</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Discuss disagreements and update the codebook.</a:t>
            </a:r>
          </a:p>
        </p:txBody>
      </p:sp>
      <p:sp>
        <p:nvSpPr>
          <p:cNvPr id="9" name="Project text 7">
            <a:extLst xmlns:a="http://schemas.openxmlformats.org/drawingml/2006/main">
              <a:ext uri="{FF2B5EF4-FFF2-40B4-BE49-F238E27FC236}">
                <a16:creationId xmlns:a16="http://schemas.microsoft.com/office/drawing/2014/main" id="{0E92FCF2-1710-4FF2-9B5B-736A5AECD46F}"/>
              </a:ext>
            </a:extLst>
          </p:cNvPr>
          <p:cNvSpPr>
            <a:spLocks xmlns:a="http://schemas.openxmlformats.org/drawingml/2006/main" noGrp="1"/>
          </p:cNvSpPr>
          <p:nvPr/>
        </p:nvSpPr>
        <p:spPr>
          <a:xfrm xmlns:a="http://schemas.openxmlformats.org/drawingml/2006/main">
            <a:off x="895350" y="28194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2861FF"/>
                </a:solidFill>
                <a:latin typeface="Arial"/>
                <a:ea typeface="Arial"/>
                <a:cs typeface="Arial"/>
              </a:defRPr>
            </a:pPr>
            <a:r>
              <a:rPr sz="1875" b="1">
                <a:solidFill>
                  <a:srgbClr val="2861FF"/>
                </a:solidFill>
                <a:latin typeface="Arial"/>
                <a:ea typeface="Arial"/>
                <a:cs typeface="Arial"/>
              </a:rPr>
              <a:t>Review all labels</a:t>
            </a:r>
          </a:p>
        </p:txBody>
      </p:sp>
      <p:sp>
        <p:nvSpPr>
          <p:cNvPr id="10" name="Project text 8">
            <a:extLst xmlns:a="http://schemas.openxmlformats.org/drawingml/2006/main">
              <a:ext uri="{FF2B5EF4-FFF2-40B4-BE49-F238E27FC236}">
                <a16:creationId xmlns:a16="http://schemas.microsoft.com/office/drawing/2014/main" id="{60C05461-A46F-4959-8446-39A8DB769321}"/>
              </a:ext>
            </a:extLst>
          </p:cNvPr>
          <p:cNvSpPr>
            <a:spLocks xmlns:a="http://schemas.openxmlformats.org/drawingml/2006/main" noGrp="1"/>
          </p:cNvSpPr>
          <p:nvPr/>
        </p:nvSpPr>
        <p:spPr>
          <a:xfrm xmlns:a="http://schemas.openxmlformats.org/drawingml/2006/main">
            <a:off x="3228975" y="2819400"/>
            <a:ext cx="8048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Check every AI suggestion. Resolve needs_review records.</a:t>
            </a:r>
          </a:p>
        </p:txBody>
      </p:sp>
      <p:sp>
        <p:nvSpPr>
          <p:cNvPr id="11" name="Project text 9">
            <a:extLst xmlns:a="http://schemas.openxmlformats.org/drawingml/2006/main">
              <a:ext uri="{FF2B5EF4-FFF2-40B4-BE49-F238E27FC236}">
                <a16:creationId xmlns:a16="http://schemas.microsoft.com/office/drawing/2014/main" id="{778FF4F7-248C-4374-9288-0178FCDE2473}"/>
              </a:ext>
            </a:extLst>
          </p:cNvPr>
          <p:cNvSpPr>
            <a:spLocks xmlns:a="http://schemas.openxmlformats.org/drawingml/2006/main" noGrp="1"/>
          </p:cNvSpPr>
          <p:nvPr/>
        </p:nvSpPr>
        <p:spPr>
          <a:xfrm xmlns:a="http://schemas.openxmlformats.org/drawingml/2006/main">
            <a:off x="895350" y="37719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2861FF"/>
                </a:solidFill>
                <a:latin typeface="Arial"/>
                <a:ea typeface="Arial"/>
                <a:cs typeface="Arial"/>
              </a:defRPr>
            </a:pPr>
            <a:r>
              <a:rPr sz="1875" b="1">
                <a:solidFill>
                  <a:srgbClr val="2861FF"/>
                </a:solidFill>
                <a:latin typeface="Arial"/>
                <a:ea typeface="Arial"/>
                <a:cs typeface="Arial"/>
              </a:rPr>
              <a:t>Record exclusions</a:t>
            </a:r>
          </a:p>
        </p:txBody>
      </p:sp>
      <p:sp>
        <p:nvSpPr>
          <p:cNvPr id="12" name="Project text 10">
            <a:extLst xmlns:a="http://schemas.openxmlformats.org/drawingml/2006/main">
              <a:ext uri="{FF2B5EF4-FFF2-40B4-BE49-F238E27FC236}">
                <a16:creationId xmlns:a16="http://schemas.microsoft.com/office/drawing/2014/main" id="{F389D74F-A049-4899-992E-3196965D05C8}"/>
              </a:ext>
            </a:extLst>
          </p:cNvPr>
          <p:cNvSpPr>
            <a:spLocks xmlns:a="http://schemas.openxmlformats.org/drawingml/2006/main" noGrp="1"/>
          </p:cNvSpPr>
          <p:nvPr/>
        </p:nvSpPr>
        <p:spPr>
          <a:xfrm xmlns:a="http://schemas.openxmlformats.org/drawingml/2006/main">
            <a:off x="3228975" y="3771900"/>
            <a:ext cx="8048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Keep an exclusion reason and the original sentence_id.</a:t>
            </a:r>
          </a:p>
        </p:txBody>
      </p:sp>
      <p:sp>
        <p:nvSpPr>
          <p:cNvPr id="13" name="Project text 11">
            <a:extLst xmlns:a="http://schemas.openxmlformats.org/drawingml/2006/main">
              <a:ext uri="{FF2B5EF4-FFF2-40B4-BE49-F238E27FC236}">
                <a16:creationId xmlns:a16="http://schemas.microsoft.com/office/drawing/2014/main" id="{1C5FAF84-6492-4F8E-B45D-7C5A506C804D}"/>
              </a:ext>
            </a:extLst>
          </p:cNvPr>
          <p:cNvSpPr>
            <a:spLocks xmlns:a="http://schemas.openxmlformats.org/drawingml/2006/main" noGrp="1"/>
          </p:cNvSpPr>
          <p:nvPr/>
        </p:nvSpPr>
        <p:spPr>
          <a:xfrm xmlns:a="http://schemas.openxmlformats.org/drawingml/2006/main">
            <a:off x="895350" y="47244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2861FF"/>
                </a:solidFill>
                <a:latin typeface="Arial"/>
                <a:ea typeface="Arial"/>
                <a:cs typeface="Arial"/>
              </a:defRPr>
            </a:pPr>
            <a:r>
              <a:rPr sz="1875" b="1">
                <a:solidFill>
                  <a:srgbClr val="2861FF"/>
                </a:solidFill>
                <a:latin typeface="Arial"/>
                <a:ea typeface="Arial"/>
                <a:cs typeface="Arial"/>
              </a:rPr>
              <a:t>Freeze a split</a:t>
            </a:r>
          </a:p>
        </p:txBody>
      </p:sp>
      <p:sp>
        <p:nvSpPr>
          <p:cNvPr id="14" name="Project text 12">
            <a:extLst xmlns:a="http://schemas.openxmlformats.org/drawingml/2006/main">
              <a:ext uri="{FF2B5EF4-FFF2-40B4-BE49-F238E27FC236}">
                <a16:creationId xmlns:a16="http://schemas.microsoft.com/office/drawing/2014/main" id="{E4E0188F-2B3C-477E-9D11-01CA06C44F29}"/>
              </a:ext>
            </a:extLst>
          </p:cNvPr>
          <p:cNvSpPr>
            <a:spLocks xmlns:a="http://schemas.openxmlformats.org/drawingml/2006/main" noGrp="1"/>
          </p:cNvSpPr>
          <p:nvPr/>
        </p:nvSpPr>
        <p:spPr>
          <a:xfrm xmlns:a="http://schemas.openxmlformats.org/drawingml/2006/main">
            <a:off x="3228975" y="4724400"/>
            <a:ext cx="8048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Use reviewed records only. Keep review IDs separate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across train, validation and test sets.</a:t>
            </a:r>
          </a:p>
        </p:txBody>
      </p:sp>
      <p:sp>
        <p:nvSpPr>
          <p:cNvPr id="15" name="Project text 13">
            <a:extLst xmlns:a="http://schemas.openxmlformats.org/drawingml/2006/main">
              <a:ext uri="{FF2B5EF4-FFF2-40B4-BE49-F238E27FC236}">
                <a16:creationId xmlns:a16="http://schemas.microsoft.com/office/drawing/2014/main" id="{209FF47F-250D-4C72-82B7-AD5596769A2C}"/>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Freeze the label rules and test set before comparing MLP architectures.</a:t>
            </a:r>
          </a:p>
        </p:txBody>
      </p:sp>
    </p:spTree>
    <p:extLst>
      <p:ext uri="{BB962C8B-B14F-4D97-AF65-F5344CB8AC3E}">
        <p14:creationId xmlns:p14="http://schemas.microsoft.com/office/powerpoint/2010/main" val="49144901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895350" y="2667000"/>
            <a:ext cx="10477500" cy="15240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4350" b="1">
                <a:solidFill>
                  <a:srgbClr val="E30613"/>
                </a:solidFill>
                <a:latin typeface="Arial"/>
                <a:ea typeface="Arial"/>
                <a:cs typeface="Arial"/>
              </a:defRPr>
            </a:pPr>
            <a:r>
              <a:rPr sz="4350" b="1">
                <a:solidFill>
                  <a:srgbClr val="E30613"/>
                </a:solidFill>
                <a:latin typeface="Arial"/>
                <a:ea typeface="Arial"/>
                <a:cs typeface="Arial"/>
              </a:rPr>
              <a:t>MLP TRAINING</a:t>
            </a:r>
          </a:p>
        </p:txBody>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23</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49144901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MODEL STRUCTURE</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An MLP with eight classification outputs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24</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
            <a:extLst xmlns:a="http://schemas.openxmlformats.org/drawingml/2006/main">
              <a:ext uri="{FF2B5EF4-FFF2-40B4-BE49-F238E27FC236}">
                <a16:creationId xmlns:a16="http://schemas.microsoft.com/office/drawing/2014/main" id="{288AB61D-0E2E-450D-854D-B62355D5AD92}"/>
              </a:ext>
            </a:extLst>
          </p:cNvPr>
          <p:cNvSpPr>
            <a:spLocks xmlns:a="http://schemas.openxmlformats.org/drawingml/2006/main" noGrp="1"/>
          </p:cNvSpPr>
          <p:nvPr/>
        </p:nvSpPr>
        <p:spPr>
          <a:xfrm xmlns:a="http://schemas.openxmlformats.org/drawingml/2006/main">
            <a:off x="895350" y="2028825"/>
            <a:ext cx="2095500" cy="857250"/>
          </a:xfrm>
          <a:prstGeom xmlns:a="http://schemas.openxmlformats.org/drawingml/2006/main" prst="rect">
            <a:avLst/>
          </a:prstGeom>
          <a:solidFill xmlns:a="http://schemas.openxmlformats.org/drawingml/2006/main">
            <a:srgbClr val="EDF2FF"/>
          </a:solidFill>
          <a:ln xmlns:a="http://schemas.openxmlformats.org/drawingml/2006/main" w="9525">
            <a:solidFill>
              <a:srgbClr val="2861FF"/>
            </a:solidFill>
          </a:ln>
        </p:spPr>
      </p:sp>
      <p:sp>
        <p:nvSpPr>
          <p:cNvPr id="8" name="Project text 6">
            <a:extLst xmlns:a="http://schemas.openxmlformats.org/drawingml/2006/main">
              <a:ext uri="{FF2B5EF4-FFF2-40B4-BE49-F238E27FC236}">
                <a16:creationId xmlns:a16="http://schemas.microsoft.com/office/drawing/2014/main" id="{1986AF76-4113-4B20-8F61-5FCB08D573B4}"/>
              </a:ext>
            </a:extLst>
          </p:cNvPr>
          <p:cNvSpPr>
            <a:spLocks xmlns:a="http://schemas.openxmlformats.org/drawingml/2006/main" noGrp="1"/>
          </p:cNvSpPr>
          <p:nvPr/>
        </p:nvSpPr>
        <p:spPr>
          <a:xfrm xmlns:a="http://schemas.openxmlformats.org/drawingml/2006/main">
            <a:off x="895350" y="2181225"/>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225" b="1">
                <a:solidFill>
                  <a:srgbClr val="2861FF"/>
                </a:solidFill>
                <a:latin typeface="Arial"/>
                <a:ea typeface="Arial"/>
                <a:cs typeface="Arial"/>
              </a:defRPr>
            </a:pPr>
            <a:r>
              <a:rPr sz="3225" b="1">
                <a:solidFill>
                  <a:srgbClr val="2861FF"/>
                </a:solidFill>
                <a:latin typeface="Arial"/>
                <a:ea typeface="Arial"/>
                <a:cs typeface="Arial"/>
              </a:rPr>
              <a:t>256</a:t>
            </a:r>
          </a:p>
        </p:txBody>
      </p:sp>
      <p:sp>
        <p:nvSpPr>
          <p:cNvPr id="9" name="Project text 7">
            <a:extLst xmlns:a="http://schemas.openxmlformats.org/drawingml/2006/main">
              <a:ext uri="{FF2B5EF4-FFF2-40B4-BE49-F238E27FC236}">
                <a16:creationId xmlns:a16="http://schemas.microsoft.com/office/drawing/2014/main" id="{68878A84-6D42-45BF-9017-B20FC48486E3}"/>
              </a:ext>
            </a:extLst>
          </p:cNvPr>
          <p:cNvSpPr>
            <a:spLocks xmlns:a="http://schemas.openxmlformats.org/drawingml/2006/main" noGrp="1"/>
          </p:cNvSpPr>
          <p:nvPr/>
        </p:nvSpPr>
        <p:spPr>
          <a:xfrm xmlns:a="http://schemas.openxmlformats.org/drawingml/2006/main">
            <a:off x="895350" y="3028950"/>
            <a:ext cx="2143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Embedding input</a:t>
            </a:r>
          </a:p>
        </p:txBody>
      </p:sp>
      <p:sp>
        <p:nvSpPr>
          <p:cNvPr id="10" name="Project text 8">
            <a:extLst xmlns:a="http://schemas.openxmlformats.org/drawingml/2006/main">
              <a:ext uri="{FF2B5EF4-FFF2-40B4-BE49-F238E27FC236}">
                <a16:creationId xmlns:a16="http://schemas.microsoft.com/office/drawing/2014/main" id="{B5B552B8-E6BA-47A3-942B-4B840C9FBE23}"/>
              </a:ext>
            </a:extLst>
          </p:cNvPr>
          <p:cNvSpPr>
            <a:spLocks xmlns:a="http://schemas.openxmlformats.org/drawingml/2006/main" noGrp="1"/>
          </p:cNvSpPr>
          <p:nvPr/>
        </p:nvSpPr>
        <p:spPr>
          <a:xfrm xmlns:a="http://schemas.openxmlformats.org/drawingml/2006/main">
            <a:off x="3133725" y="2238375"/>
            <a:ext cx="352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646B73"/>
                </a:solidFill>
                <a:latin typeface="Arial"/>
                <a:ea typeface="Arial"/>
                <a:cs typeface="Arial"/>
              </a:defRPr>
            </a:pPr>
            <a:r>
              <a:rPr sz="2475" b="0">
                <a:solidFill>
                  <a:srgbClr val="646B73"/>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68D44AD1-F291-4B5E-8CCA-C07426E64700}"/>
              </a:ext>
            </a:extLst>
          </p:cNvPr>
          <p:cNvSpPr>
            <a:spLocks xmlns:a="http://schemas.openxmlformats.org/drawingml/2006/main" noGrp="1"/>
          </p:cNvSpPr>
          <p:nvPr/>
        </p:nvSpPr>
        <p:spPr>
          <a:xfrm xmlns:a="http://schemas.openxmlformats.org/drawingml/2006/main">
            <a:off x="3562350" y="2028825"/>
            <a:ext cx="2095500" cy="857250"/>
          </a:xfrm>
          <a:prstGeom xmlns:a="http://schemas.openxmlformats.org/drawingml/2006/main" prst="rect">
            <a:avLst/>
          </a:prstGeom>
          <a:solidFill xmlns:a="http://schemas.openxmlformats.org/drawingml/2006/main">
            <a:srgbClr val="EDF2FF"/>
          </a:solidFill>
          <a:ln xmlns:a="http://schemas.openxmlformats.org/drawingml/2006/main" w="9525">
            <a:solidFill>
              <a:srgbClr val="2861FF"/>
            </a:solidFill>
          </a:ln>
        </p:spPr>
      </p:sp>
      <p:sp>
        <p:nvSpPr>
          <p:cNvPr id="12" name="Project text 10">
            <a:extLst xmlns:a="http://schemas.openxmlformats.org/drawingml/2006/main">
              <a:ext uri="{FF2B5EF4-FFF2-40B4-BE49-F238E27FC236}">
                <a16:creationId xmlns:a16="http://schemas.microsoft.com/office/drawing/2014/main" id="{02AF082B-C90D-46E9-81FA-3952D980F0EA}"/>
              </a:ext>
            </a:extLst>
          </p:cNvPr>
          <p:cNvSpPr>
            <a:spLocks xmlns:a="http://schemas.openxmlformats.org/drawingml/2006/main" noGrp="1"/>
          </p:cNvSpPr>
          <p:nvPr/>
        </p:nvSpPr>
        <p:spPr>
          <a:xfrm xmlns:a="http://schemas.openxmlformats.org/drawingml/2006/main">
            <a:off x="3562350" y="2181225"/>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225" b="1">
                <a:solidFill>
                  <a:srgbClr val="2861FF"/>
                </a:solidFill>
                <a:latin typeface="Arial"/>
                <a:ea typeface="Arial"/>
                <a:cs typeface="Arial"/>
              </a:defRPr>
            </a:pPr>
            <a:r>
              <a:rPr sz="3225" b="1">
                <a:solidFill>
                  <a:srgbClr val="2861FF"/>
                </a:solidFill>
                <a:latin typeface="Arial"/>
                <a:ea typeface="Arial"/>
                <a:cs typeface="Arial"/>
              </a:rPr>
              <a:t>128</a:t>
            </a:r>
          </a:p>
        </p:txBody>
      </p:sp>
      <p:sp>
        <p:nvSpPr>
          <p:cNvPr id="13" name="Project text 11">
            <a:extLst xmlns:a="http://schemas.openxmlformats.org/drawingml/2006/main">
              <a:ext uri="{FF2B5EF4-FFF2-40B4-BE49-F238E27FC236}">
                <a16:creationId xmlns:a16="http://schemas.microsoft.com/office/drawing/2014/main" id="{FCFFE278-AC4F-4329-8F4C-05A59B89175D}"/>
              </a:ext>
            </a:extLst>
          </p:cNvPr>
          <p:cNvSpPr>
            <a:spLocks xmlns:a="http://schemas.openxmlformats.org/drawingml/2006/main" noGrp="1"/>
          </p:cNvSpPr>
          <p:nvPr/>
        </p:nvSpPr>
        <p:spPr>
          <a:xfrm xmlns:a="http://schemas.openxmlformats.org/drawingml/2006/main">
            <a:off x="3562350" y="3028950"/>
            <a:ext cx="2143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Hidden layer 0</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ReLU</a:t>
            </a:r>
          </a:p>
        </p:txBody>
      </p:sp>
      <p:sp>
        <p:nvSpPr>
          <p:cNvPr id="14" name="Project text 12">
            <a:extLst xmlns:a="http://schemas.openxmlformats.org/drawingml/2006/main">
              <a:ext uri="{FF2B5EF4-FFF2-40B4-BE49-F238E27FC236}">
                <a16:creationId xmlns:a16="http://schemas.microsoft.com/office/drawing/2014/main" id="{51C3F034-043B-4D82-A454-ADC85C3FC460}"/>
              </a:ext>
            </a:extLst>
          </p:cNvPr>
          <p:cNvSpPr>
            <a:spLocks xmlns:a="http://schemas.openxmlformats.org/drawingml/2006/main" noGrp="1"/>
          </p:cNvSpPr>
          <p:nvPr/>
        </p:nvSpPr>
        <p:spPr>
          <a:xfrm xmlns:a="http://schemas.openxmlformats.org/drawingml/2006/main">
            <a:off x="5800725" y="2238375"/>
            <a:ext cx="352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646B73"/>
                </a:solidFill>
                <a:latin typeface="Arial"/>
                <a:ea typeface="Arial"/>
                <a:cs typeface="Arial"/>
              </a:defRPr>
            </a:pPr>
            <a:r>
              <a:rPr sz="2475" b="0">
                <a:solidFill>
                  <a:srgbClr val="646B73"/>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A516DA60-B72E-4568-BA21-93B614CB295E}"/>
              </a:ext>
            </a:extLst>
          </p:cNvPr>
          <p:cNvSpPr>
            <a:spLocks xmlns:a="http://schemas.openxmlformats.org/drawingml/2006/main" noGrp="1"/>
          </p:cNvSpPr>
          <p:nvPr/>
        </p:nvSpPr>
        <p:spPr>
          <a:xfrm xmlns:a="http://schemas.openxmlformats.org/drawingml/2006/main">
            <a:off x="6229350" y="2028825"/>
            <a:ext cx="2095500" cy="857250"/>
          </a:xfrm>
          <a:prstGeom xmlns:a="http://schemas.openxmlformats.org/drawingml/2006/main" prst="rect">
            <a:avLst/>
          </a:prstGeom>
          <a:solidFill xmlns:a="http://schemas.openxmlformats.org/drawingml/2006/main">
            <a:srgbClr val="EDF2FF"/>
          </a:solidFill>
          <a:ln xmlns:a="http://schemas.openxmlformats.org/drawingml/2006/main" w="9525">
            <a:solidFill>
              <a:srgbClr val="2861FF"/>
            </a:solidFill>
          </a:ln>
        </p:spPr>
      </p:sp>
      <p:sp>
        <p:nvSpPr>
          <p:cNvPr id="16" name="Project text 14">
            <a:extLst xmlns:a="http://schemas.openxmlformats.org/drawingml/2006/main">
              <a:ext uri="{FF2B5EF4-FFF2-40B4-BE49-F238E27FC236}">
                <a16:creationId xmlns:a16="http://schemas.microsoft.com/office/drawing/2014/main" id="{D347ED78-AFC9-4F7C-9490-17C13E0F6DB8}"/>
              </a:ext>
            </a:extLst>
          </p:cNvPr>
          <p:cNvSpPr>
            <a:spLocks xmlns:a="http://schemas.openxmlformats.org/drawingml/2006/main" noGrp="1"/>
          </p:cNvSpPr>
          <p:nvPr/>
        </p:nvSpPr>
        <p:spPr>
          <a:xfrm xmlns:a="http://schemas.openxmlformats.org/drawingml/2006/main">
            <a:off x="6229350" y="2181225"/>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225" b="1">
                <a:solidFill>
                  <a:srgbClr val="2861FF"/>
                </a:solidFill>
                <a:latin typeface="Arial"/>
                <a:ea typeface="Arial"/>
                <a:cs typeface="Arial"/>
              </a:defRPr>
            </a:pPr>
            <a:r>
              <a:rPr sz="3225" b="1">
                <a:solidFill>
                  <a:srgbClr val="2861FF"/>
                </a:solidFill>
                <a:latin typeface="Arial"/>
                <a:ea typeface="Arial"/>
                <a:cs typeface="Arial"/>
              </a:rPr>
              <a:t>64</a:t>
            </a:r>
          </a:p>
        </p:txBody>
      </p:sp>
      <p:sp>
        <p:nvSpPr>
          <p:cNvPr id="17" name="Project text 15">
            <a:extLst xmlns:a="http://schemas.openxmlformats.org/drawingml/2006/main">
              <a:ext uri="{FF2B5EF4-FFF2-40B4-BE49-F238E27FC236}">
                <a16:creationId xmlns:a16="http://schemas.microsoft.com/office/drawing/2014/main" id="{C68749C9-3A59-4447-A5B4-913D39402118}"/>
              </a:ext>
            </a:extLst>
          </p:cNvPr>
          <p:cNvSpPr>
            <a:spLocks xmlns:a="http://schemas.openxmlformats.org/drawingml/2006/main" noGrp="1"/>
          </p:cNvSpPr>
          <p:nvPr/>
        </p:nvSpPr>
        <p:spPr>
          <a:xfrm xmlns:a="http://schemas.openxmlformats.org/drawingml/2006/main">
            <a:off x="6229350" y="3028950"/>
            <a:ext cx="2143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Hidden layer 1</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ReLU</a:t>
            </a:r>
          </a:p>
        </p:txBody>
      </p:sp>
      <p:sp>
        <p:nvSpPr>
          <p:cNvPr id="18" name="Project text 16">
            <a:extLst xmlns:a="http://schemas.openxmlformats.org/drawingml/2006/main">
              <a:ext uri="{FF2B5EF4-FFF2-40B4-BE49-F238E27FC236}">
                <a16:creationId xmlns:a16="http://schemas.microsoft.com/office/drawing/2014/main" id="{7D83DB87-81DF-4B86-8822-1E7AF026DA11}"/>
              </a:ext>
            </a:extLst>
          </p:cNvPr>
          <p:cNvSpPr>
            <a:spLocks xmlns:a="http://schemas.openxmlformats.org/drawingml/2006/main" noGrp="1"/>
          </p:cNvSpPr>
          <p:nvPr/>
        </p:nvSpPr>
        <p:spPr>
          <a:xfrm xmlns:a="http://schemas.openxmlformats.org/drawingml/2006/main">
            <a:off x="8467725" y="2238375"/>
            <a:ext cx="352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646B73"/>
                </a:solidFill>
                <a:latin typeface="Arial"/>
                <a:ea typeface="Arial"/>
                <a:cs typeface="Arial"/>
              </a:defRPr>
            </a:pPr>
            <a:r>
              <a:rPr sz="2475" b="0">
                <a:solidFill>
                  <a:srgbClr val="646B73"/>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5926F653-E472-48F0-8F0D-CA344C88A311}"/>
              </a:ext>
            </a:extLst>
          </p:cNvPr>
          <p:cNvSpPr>
            <a:spLocks xmlns:a="http://schemas.openxmlformats.org/drawingml/2006/main" noGrp="1"/>
          </p:cNvSpPr>
          <p:nvPr/>
        </p:nvSpPr>
        <p:spPr>
          <a:xfrm xmlns:a="http://schemas.openxmlformats.org/drawingml/2006/main">
            <a:off x="8896350" y="2028825"/>
            <a:ext cx="2095500" cy="857250"/>
          </a:xfrm>
          <a:prstGeom xmlns:a="http://schemas.openxmlformats.org/drawingml/2006/main" prst="rect">
            <a:avLst/>
          </a:prstGeom>
          <a:solidFill xmlns:a="http://schemas.openxmlformats.org/drawingml/2006/main">
            <a:srgbClr val="FFF0F2"/>
          </a:solidFill>
          <a:ln xmlns:a="http://schemas.openxmlformats.org/drawingml/2006/main" w="9525">
            <a:solidFill>
              <a:srgbClr val="E30613"/>
            </a:solidFill>
          </a:ln>
        </p:spPr>
      </p:sp>
      <p:sp>
        <p:nvSpPr>
          <p:cNvPr id="20" name="Project text 18">
            <a:extLst xmlns:a="http://schemas.openxmlformats.org/drawingml/2006/main">
              <a:ext uri="{FF2B5EF4-FFF2-40B4-BE49-F238E27FC236}">
                <a16:creationId xmlns:a16="http://schemas.microsoft.com/office/drawing/2014/main" id="{479CBA89-00E9-4A65-BB13-B2AC77E3DEE7}"/>
              </a:ext>
            </a:extLst>
          </p:cNvPr>
          <p:cNvSpPr>
            <a:spLocks xmlns:a="http://schemas.openxmlformats.org/drawingml/2006/main" noGrp="1"/>
          </p:cNvSpPr>
          <p:nvPr/>
        </p:nvSpPr>
        <p:spPr>
          <a:xfrm xmlns:a="http://schemas.openxmlformats.org/drawingml/2006/main">
            <a:off x="8896350" y="2181225"/>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225" b="1">
                <a:solidFill>
                  <a:srgbClr val="E30613"/>
                </a:solidFill>
                <a:latin typeface="Arial"/>
                <a:ea typeface="Arial"/>
                <a:cs typeface="Arial"/>
              </a:defRPr>
            </a:pPr>
            <a:r>
              <a:rPr sz="3225" b="1">
                <a:solidFill>
                  <a:srgbClr val="E30613"/>
                </a:solidFill>
                <a:latin typeface="Arial"/>
                <a:ea typeface="Arial"/>
                <a:cs typeface="Arial"/>
              </a:rPr>
              <a:t>40</a:t>
            </a:r>
          </a:p>
        </p:txBody>
      </p:sp>
      <p:sp>
        <p:nvSpPr>
          <p:cNvPr id="21" name="Project text 19">
            <a:extLst xmlns:a="http://schemas.openxmlformats.org/drawingml/2006/main">
              <a:ext uri="{FF2B5EF4-FFF2-40B4-BE49-F238E27FC236}">
                <a16:creationId xmlns:a16="http://schemas.microsoft.com/office/drawing/2014/main" id="{3901933D-5557-40F5-BA1E-D558660E238D}"/>
              </a:ext>
            </a:extLst>
          </p:cNvPr>
          <p:cNvSpPr>
            <a:spLocks xmlns:a="http://schemas.openxmlformats.org/drawingml/2006/main" noGrp="1"/>
          </p:cNvSpPr>
          <p:nvPr/>
        </p:nvSpPr>
        <p:spPr>
          <a:xfrm xmlns:a="http://schemas.openxmlformats.org/drawingml/2006/main">
            <a:off x="8896350" y="3028950"/>
            <a:ext cx="2143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Raw output scores</a:t>
            </a:r>
          </a:p>
        </p:txBody>
      </p:sp>
      <p:sp>
        <p:nvSpPr>
          <p:cNvPr id="22" name="Project text 20">
            <a:extLst xmlns:a="http://schemas.openxmlformats.org/drawingml/2006/main">
              <a:ext uri="{FF2B5EF4-FFF2-40B4-BE49-F238E27FC236}">
                <a16:creationId xmlns:a16="http://schemas.microsoft.com/office/drawing/2014/main" id="{412570C1-84EE-4C33-9F00-9E0194A9F559}"/>
              </a:ext>
            </a:extLst>
          </p:cNvPr>
          <p:cNvSpPr>
            <a:spLocks xmlns:a="http://schemas.openxmlformats.org/drawingml/2006/main" noGrp="1"/>
          </p:cNvSpPr>
          <p:nvPr/>
        </p:nvSpPr>
        <p:spPr>
          <a:xfrm xmlns:a="http://schemas.openxmlformats.org/drawingml/2006/main">
            <a:off x="895350" y="421957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11111"/>
                </a:solidFill>
                <a:latin typeface="Arial"/>
                <a:ea typeface="Arial"/>
                <a:cs typeface="Arial"/>
              </a:defRPr>
            </a:pPr>
            <a:r>
              <a:rPr sz="2475" b="1">
                <a:solidFill>
                  <a:srgbClr val="111111"/>
                </a:solidFill>
                <a:latin typeface="Arial"/>
                <a:ea typeface="Arial"/>
                <a:cs typeface="Arial"/>
              </a:rPr>
              <a:t>Reshape 40 scores into 8 aspects × 5 states.</a:t>
            </a:r>
          </a:p>
        </p:txBody>
      </p:sp>
      <p:sp>
        <p:nvSpPr>
          <p:cNvPr id="23" name="Project text 21">
            <a:extLst xmlns:a="http://schemas.openxmlformats.org/drawingml/2006/main">
              <a:ext uri="{FF2B5EF4-FFF2-40B4-BE49-F238E27FC236}">
                <a16:creationId xmlns:a16="http://schemas.microsoft.com/office/drawing/2014/main" id="{359608AD-1C7F-47F8-9905-95A46BBED76A}"/>
              </a:ext>
            </a:extLst>
          </p:cNvPr>
          <p:cNvSpPr>
            <a:spLocks xmlns:a="http://schemas.openxmlformats.org/drawingml/2006/main" noGrp="1"/>
          </p:cNvSpPr>
          <p:nvPr/>
        </p:nvSpPr>
        <p:spPr>
          <a:xfrm xmlns:a="http://schemas.openxmlformats.org/drawingml/2006/main">
            <a:off x="895350" y="4924425"/>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Each aspect chooses one state. Different aspects can be present together.</a:t>
            </a:r>
          </a:p>
        </p:txBody>
      </p:sp>
      <p:sp>
        <p:nvSpPr>
          <p:cNvPr id="24" name="Project text 22">
            <a:extLst xmlns:a="http://schemas.openxmlformats.org/drawingml/2006/main">
              <a:ext uri="{FF2B5EF4-FFF2-40B4-BE49-F238E27FC236}">
                <a16:creationId xmlns:a16="http://schemas.microsoft.com/office/drawing/2014/main" id="{0E64EDAF-BA80-4EB6-ADB1-442D88E57DE9}"/>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Use one softmax per aspect, not one softmax over all 40 outputs.</a:t>
            </a:r>
          </a:p>
        </p:txBody>
      </p:sp>
    </p:spTree>
    <p:extLst>
      <p:ext uri="{BB962C8B-B14F-4D97-AF65-F5344CB8AC3E}">
        <p14:creationId xmlns:p14="http://schemas.microsoft.com/office/powerpoint/2010/main" val="49144901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MLP ONLY</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Architecture experiments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25</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5" name=""/>
          <p:cNvGraphicFramePr/>
          <p:nvPr/>
        </p:nvGraphicFramePr>
        <p:xfrm>
          <a:off xmlns:a="http://schemas.openxmlformats.org/drawingml/2006/main" x="895350" y="2095500"/>
          <a:ext xmlns:a="http://schemas.openxmlformats.org/drawingml/2006/main" cx="10382250" cy="2190750"/>
        </p:xfrm>
        <a:graphic xmlns:a="http://schemas.openxmlformats.org/drawingml/2006/main">
          <a:graphicData uri="http://schemas.openxmlformats.org/drawingml/2006/table">
            <a:tbl>
              <a:tblPr/>
              <a:tblGrid>
                <a:gridCol w="1238250"/>
                <a:gridCol w="3238500"/>
                <a:gridCol w="5905500"/>
              </a:tblGrid>
              <a:tr h="547688">
                <a:tc>
                  <a:txBody>
                    <a:bodyPr/>
                    <a:lstStyle/>
                    <a:p>
                      <a:r>
                        <a:rPr sz="1950" b="1">
                          <a:solidFill>
                            <a:srgbClr val="E30613"/>
                          </a:solidFill>
                          <a:latin typeface="Arial"/>
                          <a:ea typeface="Arial"/>
                          <a:cs typeface="Arial"/>
                        </a:rPr>
                        <a:t>Run</a:t>
                      </a:r>
                    </a:p>
                  </a:txBody>
                  <a:tcPr marL="76200" marR="76200" marT="38100" marB="38100">
                    <a:solidFill>
                      <a:srgbClr val="FFF0F2"/>
                    </a:solidFill>
                  </a:tcPr>
                </a:tc>
                <a:tc>
                  <a:txBody>
                    <a:bodyPr/>
                    <a:lstStyle/>
                    <a:p>
                      <a:r>
                        <a:rPr sz="1950" b="1">
                          <a:solidFill>
                            <a:srgbClr val="E30613"/>
                          </a:solidFill>
                          <a:latin typeface="Arial"/>
                          <a:ea typeface="Arial"/>
                          <a:cs typeface="Arial"/>
                        </a:rPr>
                        <a:t>Hidden widths</a:t>
                      </a:r>
                    </a:p>
                  </a:txBody>
                  <a:tcPr marL="76200" marR="76200" marT="38100" marB="38100">
                    <a:solidFill>
                      <a:srgbClr val="FFF0F2"/>
                    </a:solidFill>
                  </a:tcPr>
                </a:tc>
                <a:tc>
                  <a:txBody>
                    <a:bodyPr/>
                    <a:lstStyle/>
                    <a:p>
                      <a:r>
                        <a:rPr sz="1950" b="1">
                          <a:solidFill>
                            <a:srgbClr val="E30613"/>
                          </a:solidFill>
                          <a:latin typeface="Arial"/>
                          <a:ea typeface="Arial"/>
                          <a:cs typeface="Arial"/>
                        </a:rPr>
                        <a:t>What you compare</a:t>
                      </a:r>
                    </a:p>
                  </a:txBody>
                  <a:tcPr marL="76200" marR="76200" marT="38100" marB="38100">
                    <a:solidFill>
                      <a:srgbClr val="FFF0F2"/>
                    </a:solidFill>
                  </a:tcPr>
                </a:tc>
              </a:tr>
              <a:tr h="547688">
                <a:tc>
                  <a:txBody>
                    <a:bodyPr/>
                    <a:lstStyle/>
                    <a:p>
                      <a:r>
                        <a:rPr sz="2025" b="0">
                          <a:solidFill>
                            <a:srgbClr val="111111"/>
                          </a:solidFill>
                          <a:latin typeface="Arial"/>
                          <a:ea typeface="Arial"/>
                          <a:cs typeface="Arial"/>
                        </a:rPr>
                        <a:t>A</a:t>
                      </a:r>
                    </a:p>
                  </a:txBody>
                  <a:tcPr marL="76200" marR="76200" marT="38100" marB="38100">
                    <a:solidFill>
                      <a:srgbClr val="FFFFFF"/>
                    </a:solidFill>
                  </a:tcPr>
                </a:tc>
                <a:tc>
                  <a:txBody>
                    <a:bodyPr/>
                    <a:lstStyle/>
                    <a:p>
                      <a:r>
                        <a:rPr sz="2025" b="0">
                          <a:solidFill>
                            <a:srgbClr val="111111"/>
                          </a:solidFill>
                          <a:latin typeface="Arial"/>
                          <a:ea typeface="Arial"/>
                          <a:cs typeface="Arial"/>
                        </a:rPr>
                        <a:t>(64)</a:t>
                      </a:r>
                    </a:p>
                  </a:txBody>
                  <a:tcPr marL="76200" marR="76200" marT="38100" marB="38100">
                    <a:solidFill>
                      <a:srgbClr val="FFFFFF"/>
                    </a:solidFill>
                  </a:tcPr>
                </a:tc>
                <a:tc>
                  <a:txBody>
                    <a:bodyPr/>
                    <a:lstStyle/>
                    <a:p>
                      <a:r>
                        <a:rPr sz="2025" b="0">
                          <a:solidFill>
                            <a:srgbClr val="111111"/>
                          </a:solidFill>
                          <a:latin typeface="Arial"/>
                          <a:ea typeface="Arial"/>
                          <a:cs typeface="Arial"/>
                        </a:rPr>
                        <a:t>A compact starting model</a:t>
                      </a:r>
                    </a:p>
                  </a:txBody>
                  <a:tcPr marL="76200" marR="76200" marT="38100" marB="38100">
                    <a:solidFill>
                      <a:srgbClr val="FFFFFF"/>
                    </a:solidFill>
                  </a:tcPr>
                </a:tc>
              </a:tr>
              <a:tr h="547688">
                <a:tc>
                  <a:txBody>
                    <a:bodyPr/>
                    <a:lstStyle/>
                    <a:p>
                      <a:r>
                        <a:rPr sz="2025" b="0">
                          <a:solidFill>
                            <a:srgbClr val="111111"/>
                          </a:solidFill>
                          <a:latin typeface="Arial"/>
                          <a:ea typeface="Arial"/>
                          <a:cs typeface="Arial"/>
                        </a:rPr>
                        <a:t>B</a:t>
                      </a:r>
                    </a:p>
                  </a:txBody>
                  <a:tcPr marL="76200" marR="76200" marT="38100" marB="38100">
                    <a:solidFill>
                      <a:srgbClr val="F4F5F7"/>
                    </a:solidFill>
                  </a:tcPr>
                </a:tc>
                <a:tc>
                  <a:txBody>
                    <a:bodyPr/>
                    <a:lstStyle/>
                    <a:p>
                      <a:r>
                        <a:rPr sz="2025" b="0">
                          <a:solidFill>
                            <a:srgbClr val="111111"/>
                          </a:solidFill>
                          <a:latin typeface="Arial"/>
                          <a:ea typeface="Arial"/>
                          <a:cs typeface="Arial"/>
                        </a:rPr>
                        <a:t>(128, 64)</a:t>
                      </a:r>
                    </a:p>
                  </a:txBody>
                  <a:tcPr marL="76200" marR="76200" marT="38100" marB="38100">
                    <a:solidFill>
                      <a:srgbClr val="F4F5F7"/>
                    </a:solidFill>
                  </a:tcPr>
                </a:tc>
                <a:tc>
                  <a:txBody>
                    <a:bodyPr/>
                    <a:lstStyle/>
                    <a:p>
                      <a:r>
                        <a:rPr sz="2025" b="0">
                          <a:solidFill>
                            <a:srgbClr val="111111"/>
                          </a:solidFill>
                          <a:latin typeface="Arial"/>
                          <a:ea typeface="Arial"/>
                          <a:cs typeface="Arial"/>
                        </a:rPr>
                        <a:t>More capacity and depth</a:t>
                      </a:r>
                    </a:p>
                  </a:txBody>
                  <a:tcPr marL="76200" marR="76200" marT="38100" marB="38100">
                    <a:solidFill>
                      <a:srgbClr val="F4F5F7"/>
                    </a:solidFill>
                  </a:tcPr>
                </a:tc>
              </a:tr>
              <a:tr h="547688">
                <a:tc>
                  <a:txBody>
                    <a:bodyPr/>
                    <a:lstStyle/>
                    <a:p>
                      <a:r>
                        <a:rPr sz="2025" b="0">
                          <a:solidFill>
                            <a:srgbClr val="111111"/>
                          </a:solidFill>
                          <a:latin typeface="Arial"/>
                          <a:ea typeface="Arial"/>
                          <a:cs typeface="Arial"/>
                        </a:rPr>
                        <a:t>C</a:t>
                      </a:r>
                    </a:p>
                  </a:txBody>
                  <a:tcPr marL="76200" marR="76200" marT="38100" marB="38100">
                    <a:solidFill>
                      <a:srgbClr val="FFFFFF"/>
                    </a:solidFill>
                  </a:tcPr>
                </a:tc>
                <a:tc>
                  <a:txBody>
                    <a:bodyPr/>
                    <a:lstStyle/>
                    <a:p>
                      <a:r>
                        <a:rPr sz="2025" b="0">
                          <a:solidFill>
                            <a:srgbClr val="111111"/>
                          </a:solidFill>
                          <a:latin typeface="Arial"/>
                          <a:ea typeface="Arial"/>
                          <a:cs typeface="Arial"/>
                        </a:rPr>
                        <a:t>(128, 64, 32)</a:t>
                      </a:r>
                    </a:p>
                  </a:txBody>
                  <a:tcPr marL="76200" marR="76200" marT="38100" marB="38100">
                    <a:solidFill>
                      <a:srgbClr val="FFFFFF"/>
                    </a:solidFill>
                  </a:tcPr>
                </a:tc>
                <a:tc>
                  <a:txBody>
                    <a:bodyPr/>
                    <a:lstStyle/>
                    <a:p>
                      <a:r>
                        <a:rPr sz="2025" b="0">
                          <a:solidFill>
                            <a:srgbClr val="111111"/>
                          </a:solidFill>
                          <a:latin typeface="Arial"/>
                          <a:ea typeface="Arial"/>
                          <a:cs typeface="Arial"/>
                        </a:rPr>
                        <a:t>An additional hidden layer</a:t>
                      </a:r>
                    </a:p>
                  </a:txBody>
                  <a:tcPr marL="76200" marR="76200" marT="38100" marB="38100">
                    <a:solidFill>
                      <a:srgbClr val="FFFFFF"/>
                    </a:solidFill>
                  </a:tcPr>
                </a:tc>
              </a:tr>
            </a:tbl>
          </a:graphicData>
        </a:graphic>
      </p:graphicFrame>
      <p:sp>
        <p:nvSpPr>
          <p:cNvPr id="8" name="Project text 5">
            <a:extLst xmlns:a="http://schemas.openxmlformats.org/drawingml/2006/main">
              <a:ext uri="{FF2B5EF4-FFF2-40B4-BE49-F238E27FC236}">
                <a16:creationId xmlns:a16="http://schemas.microsoft.com/office/drawing/2014/main" id="{F2B95308-4E55-4010-A6F4-46266D7B6F8D}"/>
              </a:ext>
            </a:extLst>
          </p:cNvPr>
          <p:cNvSpPr>
            <a:spLocks xmlns:a="http://schemas.openxmlformats.org/drawingml/2006/main" noGrp="1"/>
          </p:cNvSpPr>
          <p:nvPr/>
        </p:nvSpPr>
        <p:spPr>
          <a:xfrm xmlns:a="http://schemas.openxmlformats.org/drawingml/2006/main">
            <a:off x="895350" y="4686300"/>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Keep the same labels and data split.</a:t>
            </a:r>
          </a:p>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Record learning rate, batch size, dropout, seed and parameter count.</a:t>
            </a:r>
          </a:p>
        </p:txBody>
      </p:sp>
      <p:sp>
        <p:nvSpPr>
          <p:cNvPr id="9" name="Project text 6">
            <a:extLst xmlns:a="http://schemas.openxmlformats.org/drawingml/2006/main">
              <a:ext uri="{FF2B5EF4-FFF2-40B4-BE49-F238E27FC236}">
                <a16:creationId xmlns:a16="http://schemas.microsoft.com/office/drawing/2014/main" id="{1439C8BC-962D-4523-8E4C-543072BCB053}"/>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The learned classifier must be an MLP. LLMs may assist labeling, not replace inference.</a:t>
            </a:r>
          </a:p>
        </p:txBody>
      </p:sp>
    </p:spTree>
    <p:extLst>
      <p:ext uri="{BB962C8B-B14F-4D97-AF65-F5344CB8AC3E}">
        <p14:creationId xmlns:p14="http://schemas.microsoft.com/office/powerpoint/2010/main" val="49144901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PYTORCH</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Training with the reviewed labels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26</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Project text 5">
            <a:extLst xmlns:a="http://schemas.openxmlformats.org/drawingml/2006/main">
              <a:ext uri="{FF2B5EF4-FFF2-40B4-BE49-F238E27FC236}">
                <a16:creationId xmlns:a16="http://schemas.microsoft.com/office/drawing/2014/main" id="{12E7BF35-D9EB-4CB0-AA2C-2DB610A1D816}"/>
              </a:ext>
            </a:extLst>
          </p:cNvPr>
          <p:cNvSpPr>
            <a:spLocks xmlns:a="http://schemas.openxmlformats.org/drawingml/2006/main" noGrp="1"/>
          </p:cNvSpPr>
          <p:nvPr/>
        </p:nvSpPr>
        <p:spPr>
          <a:xfrm xmlns:a="http://schemas.openxmlformats.org/drawingml/2006/main">
            <a:off x="895350" y="1943100"/>
            <a:ext cx="103822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11111"/>
                </a:solidFill>
                <a:latin typeface="Menlo"/>
                <a:ea typeface="Menlo"/>
                <a:cs typeface="Menlo"/>
              </a:defRPr>
            </a:pPr>
            <a:r>
              <a:rPr sz="2025" b="0">
                <a:solidFill>
                  <a:srgbClr val="111111"/>
                </a:solidFill>
                <a:latin typeface="Menlo"/>
                <a:ea typeface="Menlo"/>
                <a:cs typeface="Menlo"/>
              </a:rPr>
              <a:t>logits = model(X_batch).reshape(-1, 8, 5)</a:t>
            </a:r>
          </a:p>
          <a:p xmlns:a="http://schemas.openxmlformats.org/drawingml/2006/main">
            <a:pPr>
              <a:defRPr sz="2025" b="0">
                <a:solidFill>
                  <a:srgbClr val="111111"/>
                </a:solidFill>
                <a:latin typeface="Menlo"/>
                <a:ea typeface="Menlo"/>
                <a:cs typeface="Menlo"/>
              </a:defRPr>
            </a:pPr>
            <a:r>
              <a:rPr sz="2025" b="0">
                <a:solidFill>
                  <a:srgbClr val="111111"/>
                </a:solidFill>
                <a:latin typeface="Menlo"/>
                <a:ea typeface="Menlo"/>
                <a:cs typeface="Menlo"/>
              </a:rPr>
              <a:t>loss = criterion(</a:t>
            </a:r>
          </a:p>
          <a:p xmlns:a="http://schemas.openxmlformats.org/drawingml/2006/main">
            <a:pPr>
              <a:defRPr sz="2025" b="0">
                <a:solidFill>
                  <a:srgbClr val="111111"/>
                </a:solidFill>
                <a:latin typeface="Menlo"/>
                <a:ea typeface="Menlo"/>
                <a:cs typeface="Menlo"/>
              </a:defRPr>
            </a:pPr>
            <a:r>
              <a:rPr sz="2025" b="0">
                <a:solidFill>
                  <a:srgbClr val="111111"/>
                </a:solidFill>
                <a:latin typeface="Menlo"/>
                <a:ea typeface="Menlo"/>
                <a:cs typeface="Menlo"/>
              </a:rPr>
              <a:t>    logits.reshape(-1, 5), y_batch.reshape(-1)</a:t>
            </a:r>
          </a:p>
          <a:p xmlns:a="http://schemas.openxmlformats.org/drawingml/2006/main">
            <a:pPr>
              <a:defRPr sz="2025" b="0">
                <a:solidFill>
                  <a:srgbClr val="111111"/>
                </a:solidFill>
                <a:latin typeface="Menlo"/>
                <a:ea typeface="Menlo"/>
                <a:cs typeface="Menlo"/>
              </a:defRPr>
            </a:pPr>
            <a:r>
              <a:rPr sz="2025" b="0">
                <a:solidFill>
                  <a:srgbClr val="111111"/>
                </a:solidFill>
                <a:latin typeface="Menlo"/>
                <a:ea typeface="Menlo"/>
                <a:cs typeface="Menlo"/>
              </a:rPr>
              <a:t>)</a:t>
            </a:r>
          </a:p>
          <a:p xmlns:a="http://schemas.openxmlformats.org/drawingml/2006/main">
            <a:pPr>
              <a:defRPr sz="2025" b="0">
                <a:solidFill>
                  <a:srgbClr val="111111"/>
                </a:solidFill>
                <a:latin typeface="Menlo"/>
                <a:ea typeface="Menlo"/>
                <a:cs typeface="Menlo"/>
              </a:defRPr>
            </a:pPr>
            <a:r>
              <a:rPr sz="2025" b="0">
                <a:solidFill>
                  <a:srgbClr val="111111"/>
                </a:solidFill>
                <a:latin typeface="Menlo"/>
                <a:ea typeface="Menlo"/>
                <a:cs typeface="Menlo"/>
              </a:rPr>
              <a:t>optimizer.zero_grad()</a:t>
            </a:r>
          </a:p>
          <a:p xmlns:a="http://schemas.openxmlformats.org/drawingml/2006/main">
            <a:pPr>
              <a:defRPr sz="2025" b="0">
                <a:solidFill>
                  <a:srgbClr val="111111"/>
                </a:solidFill>
                <a:latin typeface="Menlo"/>
                <a:ea typeface="Menlo"/>
                <a:cs typeface="Menlo"/>
              </a:defRPr>
            </a:pPr>
            <a:r>
              <a:rPr sz="2025" b="0">
                <a:solidFill>
                  <a:srgbClr val="111111"/>
                </a:solidFill>
                <a:latin typeface="Menlo"/>
                <a:ea typeface="Menlo"/>
                <a:cs typeface="Menlo"/>
              </a:rPr>
              <a:t>loss.backward()</a:t>
            </a:r>
          </a:p>
          <a:p xmlns:a="http://schemas.openxmlformats.org/drawingml/2006/main">
            <a:pPr>
              <a:defRPr sz="2025" b="0">
                <a:solidFill>
                  <a:srgbClr val="111111"/>
                </a:solidFill>
                <a:latin typeface="Menlo"/>
                <a:ea typeface="Menlo"/>
                <a:cs typeface="Menlo"/>
              </a:defRPr>
            </a:pPr>
            <a:r>
              <a:rPr sz="2025" b="0">
                <a:solidFill>
                  <a:srgbClr val="111111"/>
                </a:solidFill>
                <a:latin typeface="Menlo"/>
                <a:ea typeface="Menlo"/>
                <a:cs typeface="Menlo"/>
              </a:rPr>
              <a:t>optimizer.step()</a:t>
            </a:r>
          </a:p>
        </p:txBody>
      </p:sp>
      <p:sp>
        <p:nvSpPr>
          <p:cNvPr id="8" name="Project text 6">
            <a:extLst xmlns:a="http://schemas.openxmlformats.org/drawingml/2006/main">
              <a:ext uri="{FF2B5EF4-FFF2-40B4-BE49-F238E27FC236}">
                <a16:creationId xmlns:a16="http://schemas.microsoft.com/office/drawing/2014/main" id="{70E884DE-2AAC-45E6-A91C-AE7EB7B1D161}"/>
              </a:ext>
            </a:extLst>
          </p:cNvPr>
          <p:cNvSpPr>
            <a:spLocks xmlns:a="http://schemas.openxmlformats.org/drawingml/2006/main" noGrp="1"/>
          </p:cNvSpPr>
          <p:nvPr/>
        </p:nvSpPr>
        <p:spPr>
          <a:xfrm xmlns:a="http://schemas.openxmlformats.org/drawingml/2006/main">
            <a:off x="895350" y="4991100"/>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2861FF"/>
                </a:solidFill>
                <a:latin typeface="Arial"/>
                <a:ea typeface="Arial"/>
                <a:cs typeface="Arial"/>
              </a:defRPr>
            </a:pPr>
            <a:r>
              <a:rPr sz="1875" b="0">
                <a:solidFill>
                  <a:srgbClr val="2861FF"/>
                </a:solidFill>
                <a:latin typeface="Arial"/>
                <a:ea typeface="Arial"/>
                <a:cs typeface="Arial"/>
              </a:rPr>
              <a:t>criterion = nn.CrossEntropyLoss()</a:t>
            </a:r>
          </a:p>
          <a:p xmlns:a="http://schemas.openxmlformats.org/drawingml/2006/main">
            <a:pPr>
              <a:defRPr sz="1875" b="0">
                <a:solidFill>
                  <a:srgbClr val="2861FF"/>
                </a:solidFill>
                <a:latin typeface="Arial"/>
                <a:ea typeface="Arial"/>
                <a:cs typeface="Arial"/>
              </a:defRPr>
            </a:pPr>
            <a:r>
              <a:rPr sz="1875" b="0">
                <a:solidFill>
                  <a:srgbClr val="2861FF"/>
                </a:solidFill>
                <a:latin typeface="Arial"/>
                <a:ea typeface="Arial"/>
                <a:cs typeface="Arial"/>
              </a:rPr>
              <a:t>y_batch contains 8 integer state codes per sentence.</a:t>
            </a:r>
          </a:p>
        </p:txBody>
      </p:sp>
      <p:sp>
        <p:nvSpPr>
          <p:cNvPr id="9" name="Project text 7">
            <a:extLst xmlns:a="http://schemas.openxmlformats.org/drawingml/2006/main">
              <a:ext uri="{FF2B5EF4-FFF2-40B4-BE49-F238E27FC236}">
                <a16:creationId xmlns:a16="http://schemas.microsoft.com/office/drawing/2014/main" id="{540AA191-784D-4F6A-9070-23550173AA24}"/>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Plot training and validation loss. Select the checkpoint using validation performance.</a:t>
            </a:r>
          </a:p>
        </p:txBody>
      </p:sp>
    </p:spTree>
    <p:extLst>
      <p:ext uri="{BB962C8B-B14F-4D97-AF65-F5344CB8AC3E}">
        <p14:creationId xmlns:p14="http://schemas.microsoft.com/office/powerpoint/2010/main" val="49144901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MODEL EVALUATION</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Evaluation beyond overall accuracy</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27</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5" name=""/>
          <p:cNvGraphicFramePr/>
          <p:nvPr/>
        </p:nvGraphicFramePr>
        <p:xfrm>
          <a:off xmlns:a="http://schemas.openxmlformats.org/drawingml/2006/main" x="895350" y="2009775"/>
          <a:ext xmlns:a="http://schemas.openxmlformats.org/drawingml/2006/main" cx="10382250" cy="3000375"/>
        </p:xfrm>
        <a:graphic xmlns:a="http://schemas.openxmlformats.org/drawingml/2006/main">
          <a:graphicData uri="http://schemas.openxmlformats.org/drawingml/2006/table">
            <a:tbl>
              <a:tblPr/>
              <a:tblGrid>
                <a:gridCol w="4476750"/>
                <a:gridCol w="5905500"/>
              </a:tblGrid>
              <a:tr h="500063">
                <a:tc>
                  <a:txBody>
                    <a:bodyPr/>
                    <a:lstStyle/>
                    <a:p>
                      <a:r>
                        <a:rPr sz="1800" b="1">
                          <a:solidFill>
                            <a:srgbClr val="E30613"/>
                          </a:solidFill>
                          <a:latin typeface="Arial"/>
                          <a:ea typeface="Arial"/>
                          <a:cs typeface="Arial"/>
                        </a:rPr>
                        <a:t>Question</a:t>
                      </a:r>
                    </a:p>
                  </a:txBody>
                  <a:tcPr marL="76200" marR="76200" marT="38100" marB="38100">
                    <a:solidFill>
                      <a:srgbClr val="FFF0F2"/>
                    </a:solidFill>
                  </a:tcPr>
                </a:tc>
                <a:tc>
                  <a:txBody>
                    <a:bodyPr/>
                    <a:lstStyle/>
                    <a:p>
                      <a:r>
                        <a:rPr sz="1800" b="1">
                          <a:solidFill>
                            <a:srgbClr val="E30613"/>
                          </a:solidFill>
                          <a:latin typeface="Arial"/>
                          <a:ea typeface="Arial"/>
                          <a:cs typeface="Arial"/>
                        </a:rPr>
                        <a:t>Evidence to report</a:t>
                      </a:r>
                    </a:p>
                  </a:txBody>
                  <a:tcPr marL="76200" marR="76200" marT="38100" marB="38100">
                    <a:solidFill>
                      <a:srgbClr val="FFF0F2"/>
                    </a:solidFill>
                  </a:tcPr>
                </a:tc>
              </a:tr>
              <a:tr h="500063">
                <a:tc>
                  <a:txBody>
                    <a:bodyPr/>
                    <a:lstStyle/>
                    <a:p>
                      <a:r>
                        <a:rPr sz="1875" b="0">
                          <a:solidFill>
                            <a:srgbClr val="111111"/>
                          </a:solidFill>
                          <a:latin typeface="Arial"/>
                          <a:ea typeface="Arial"/>
                          <a:cs typeface="Arial"/>
                        </a:rPr>
                        <a:t>Did we identify the aspects?</a:t>
                      </a:r>
                    </a:p>
                  </a:txBody>
                  <a:tcPr marL="76200" marR="76200" marT="38100" marB="38100">
                    <a:solidFill>
                      <a:srgbClr val="FFFFFF"/>
                    </a:solidFill>
                  </a:tcPr>
                </a:tc>
                <a:tc>
                  <a:txBody>
                    <a:bodyPr/>
                    <a:lstStyle/>
                    <a:p>
                      <a:r>
                        <a:rPr sz="1875" b="0">
                          <a:solidFill>
                            <a:srgbClr val="111111"/>
                          </a:solidFill>
                          <a:latin typeface="Arial"/>
                          <a:ea typeface="Arial"/>
                          <a:cs typeface="Arial"/>
                        </a:rPr>
                        <a:t>Mention detection: precision, recall and F1</a:t>
                      </a:r>
                    </a:p>
                  </a:txBody>
                  <a:tcPr marL="76200" marR="76200" marT="38100" marB="38100">
                    <a:solidFill>
                      <a:srgbClr val="FFFFFF"/>
                    </a:solidFill>
                  </a:tcPr>
                </a:tc>
              </a:tr>
              <a:tr h="500063">
                <a:tc>
                  <a:txBody>
                    <a:bodyPr/>
                    <a:lstStyle/>
                    <a:p>
                      <a:r>
                        <a:rPr sz="1875" b="0">
                          <a:solidFill>
                            <a:srgbClr val="111111"/>
                          </a:solidFill>
                          <a:latin typeface="Arial"/>
                          <a:ea typeface="Arial"/>
                          <a:cs typeface="Arial"/>
                        </a:rPr>
                        <a:t>Did we identify aspect + sentiment?</a:t>
                      </a:r>
                    </a:p>
                  </a:txBody>
                  <a:tcPr marL="76200" marR="76200" marT="38100" marB="38100">
                    <a:solidFill>
                      <a:srgbClr val="F4F5F7"/>
                    </a:solidFill>
                  </a:tcPr>
                </a:tc>
                <a:tc>
                  <a:txBody>
                    <a:bodyPr/>
                    <a:lstStyle/>
                    <a:p>
                      <a:r>
                        <a:rPr sz="1875" b="0">
                          <a:solidFill>
                            <a:srgbClr val="111111"/>
                          </a:solidFill>
                          <a:latin typeface="Arial"/>
                          <a:ea typeface="Arial"/>
                          <a:cs typeface="Arial"/>
                        </a:rPr>
                        <a:t>End-to-end micro-F1 and macro-F1</a:t>
                      </a:r>
                    </a:p>
                  </a:txBody>
                  <a:tcPr marL="76200" marR="76200" marT="38100" marB="38100">
                    <a:solidFill>
                      <a:srgbClr val="F4F5F7"/>
                    </a:solidFill>
                  </a:tcPr>
                </a:tc>
              </a:tr>
              <a:tr h="500063">
                <a:tc>
                  <a:txBody>
                    <a:bodyPr/>
                    <a:lstStyle/>
                    <a:p>
                      <a:r>
                        <a:rPr sz="1875" b="0">
                          <a:solidFill>
                            <a:srgbClr val="111111"/>
                          </a:solidFill>
                          <a:latin typeface="Arial"/>
                          <a:ea typeface="Arial"/>
                          <a:cs typeface="Arial"/>
                        </a:rPr>
                        <a:t>Which labels are difficult?</a:t>
                      </a:r>
                    </a:p>
                  </a:txBody>
                  <a:tcPr marL="76200" marR="76200" marT="38100" marB="38100">
                    <a:solidFill>
                      <a:srgbClr val="FFFFFF"/>
                    </a:solidFill>
                  </a:tcPr>
                </a:tc>
                <a:tc>
                  <a:txBody>
                    <a:bodyPr/>
                    <a:lstStyle/>
                    <a:p>
                      <a:r>
                        <a:rPr sz="1875" b="0">
                          <a:solidFill>
                            <a:srgbClr val="111111"/>
                          </a:solidFill>
                          <a:latin typeface="Arial"/>
                          <a:ea typeface="Arial"/>
                          <a:cs typeface="Arial"/>
                        </a:rPr>
                        <a:t>Per-aspect results and class support</a:t>
                      </a:r>
                    </a:p>
                  </a:txBody>
                  <a:tcPr marL="76200" marR="76200" marT="38100" marB="38100">
                    <a:solidFill>
                      <a:srgbClr val="FFFFFF"/>
                    </a:solidFill>
                  </a:tcPr>
                </a:tc>
              </a:tr>
              <a:tr h="500063">
                <a:tc>
                  <a:txBody>
                    <a:bodyPr/>
                    <a:lstStyle/>
                    <a:p>
                      <a:r>
                        <a:rPr sz="1875" b="0">
                          <a:solidFill>
                            <a:srgbClr val="111111"/>
                          </a:solidFill>
                          <a:latin typeface="Arial"/>
                          <a:ea typeface="Arial"/>
                          <a:cs typeface="Arial"/>
                        </a:rPr>
                        <a:t>Does the model overfit?</a:t>
                      </a:r>
                    </a:p>
                  </a:txBody>
                  <a:tcPr marL="76200" marR="76200" marT="38100" marB="38100">
                    <a:solidFill>
                      <a:srgbClr val="F4F5F7"/>
                    </a:solidFill>
                  </a:tcPr>
                </a:tc>
                <a:tc>
                  <a:txBody>
                    <a:bodyPr/>
                    <a:lstStyle/>
                    <a:p>
                      <a:r>
                        <a:rPr sz="1875" b="0">
                          <a:solidFill>
                            <a:srgbClr val="111111"/>
                          </a:solidFill>
                          <a:latin typeface="Arial"/>
                          <a:ea typeface="Arial"/>
                          <a:cs typeface="Arial"/>
                        </a:rPr>
                        <a:t>Training / validation loss and metric curves</a:t>
                      </a:r>
                    </a:p>
                  </a:txBody>
                  <a:tcPr marL="76200" marR="76200" marT="38100" marB="38100">
                    <a:solidFill>
                      <a:srgbClr val="F4F5F7"/>
                    </a:solidFill>
                  </a:tcPr>
                </a:tc>
              </a:tr>
              <a:tr h="500063">
                <a:tc>
                  <a:txBody>
                    <a:bodyPr/>
                    <a:lstStyle/>
                    <a:p>
                      <a:r>
                        <a:rPr sz="1875" b="0">
                          <a:solidFill>
                            <a:srgbClr val="111111"/>
                          </a:solidFill>
                          <a:latin typeface="Arial"/>
                          <a:ea typeface="Arial"/>
                          <a:cs typeface="Arial"/>
                        </a:rPr>
                        <a:t>Why does it fail?</a:t>
                      </a:r>
                    </a:p>
                  </a:txBody>
                  <a:tcPr marL="76200" marR="76200" marT="38100" marB="38100">
                    <a:solidFill>
                      <a:srgbClr val="FFFFFF"/>
                    </a:solidFill>
                  </a:tcPr>
                </a:tc>
                <a:tc>
                  <a:txBody>
                    <a:bodyPr/>
                    <a:lstStyle/>
                    <a:p>
                      <a:r>
                        <a:rPr sz="1875" b="0">
                          <a:solidFill>
                            <a:srgbClr val="111111"/>
                          </a:solidFill>
                          <a:latin typeface="Arial"/>
                          <a:ea typeface="Arial"/>
                          <a:cs typeface="Arial"/>
                        </a:rPr>
                        <a:t>At least 5 errors with text and expected labels</a:t>
                      </a:r>
                    </a:p>
                  </a:txBody>
                  <a:tcPr marL="76200" marR="76200" marT="38100" marB="38100">
                    <a:solidFill>
                      <a:srgbClr val="FFFFFF"/>
                    </a:solidFill>
                  </a:tcPr>
                </a:tc>
              </a:tr>
            </a:tbl>
          </a:graphicData>
        </a:graphic>
      </p:graphicFrame>
      <p:sp>
        <p:nvSpPr>
          <p:cNvPr id="8" name="Project text 5">
            <a:extLst xmlns:a="http://schemas.openxmlformats.org/drawingml/2006/main">
              <a:ext uri="{FF2B5EF4-FFF2-40B4-BE49-F238E27FC236}">
                <a16:creationId xmlns:a16="http://schemas.microsoft.com/office/drawing/2014/main" id="{5144B01E-DB4D-48DE-B60B-0DEFD9FEE00A}"/>
              </a:ext>
            </a:extLst>
          </p:cNvPr>
          <p:cNvSpPr>
            <a:spLocks xmlns:a="http://schemas.openxmlformats.org/drawingml/2006/main" noGrp="1"/>
          </p:cNvSpPr>
          <p:nvPr/>
        </p:nvSpPr>
        <p:spPr>
          <a:xfrm xmlns:a="http://schemas.openxmlformats.org/drawingml/2006/main">
            <a:off x="895350" y="526732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2861FF"/>
                </a:solidFill>
                <a:latin typeface="Arial"/>
                <a:ea typeface="Arial"/>
                <a:cs typeface="Arial"/>
              </a:defRPr>
            </a:pPr>
            <a:r>
              <a:rPr sz="2025" b="1">
                <a:solidFill>
                  <a:srgbClr val="2861FF"/>
                </a:solidFill>
                <a:latin typeface="Arial"/>
                <a:ea typeface="Arial"/>
                <a:cs typeface="Arial"/>
              </a:rPr>
              <a:t>Report results on the same held-out test set after model selection.</a:t>
            </a:r>
          </a:p>
        </p:txBody>
      </p:sp>
      <p:sp>
        <p:nvSpPr>
          <p:cNvPr id="9" name="Project text 6">
            <a:extLst xmlns:a="http://schemas.openxmlformats.org/drawingml/2006/main">
              <a:ext uri="{FF2B5EF4-FFF2-40B4-BE49-F238E27FC236}">
                <a16:creationId xmlns:a16="http://schemas.microsoft.com/office/drawing/2014/main" id="{89192DD2-D2F2-4BC1-851C-7696218A6C45}"/>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Predicting “absent” often can produce high accuracy while missing useful opinions.</a:t>
            </a:r>
          </a:p>
        </p:txBody>
      </p:sp>
    </p:spTree>
    <p:extLst>
      <p:ext uri="{BB962C8B-B14F-4D97-AF65-F5344CB8AC3E}">
        <p14:creationId xmlns:p14="http://schemas.microsoft.com/office/powerpoint/2010/main" val="49144901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895350" y="2667000"/>
            <a:ext cx="10477500" cy="15240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4350" b="1">
                <a:solidFill>
                  <a:srgbClr val="E30613"/>
                </a:solidFill>
                <a:latin typeface="Arial"/>
                <a:ea typeface="Arial"/>
                <a:cs typeface="Arial"/>
              </a:defRPr>
            </a:pPr>
            <a:r>
              <a:rPr sz="4350" b="1">
                <a:solidFill>
                  <a:srgbClr val="E30613"/>
                </a:solidFill>
                <a:latin typeface="Arial"/>
                <a:ea typeface="Arial"/>
                <a:cs typeface="Arial"/>
              </a:rPr>
              <a:t>WEB DEPLOYMENT</a:t>
            </a:r>
          </a:p>
        </p:txBody>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28</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49144901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WEB REQUIREMENTS</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The application students will deliver</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29</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Project text 5">
            <a:extLst xmlns:a="http://schemas.openxmlformats.org/drawingml/2006/main">
              <a:ext uri="{FF2B5EF4-FFF2-40B4-BE49-F238E27FC236}">
                <a16:creationId xmlns:a16="http://schemas.microsoft.com/office/drawing/2014/main" id="{F53D024C-530F-42E9-B814-410EE8F10C60}"/>
              </a:ext>
            </a:extLst>
          </p:cNvPr>
          <p:cNvSpPr>
            <a:spLocks xmlns:a="http://schemas.openxmlformats.org/drawingml/2006/main" noGrp="1"/>
          </p:cNvSpPr>
          <p:nvPr/>
        </p:nvSpPr>
        <p:spPr>
          <a:xfrm xmlns:a="http://schemas.openxmlformats.org/drawingml/2006/main">
            <a:off x="895350" y="195262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2861FF"/>
                </a:solidFill>
                <a:latin typeface="Arial"/>
                <a:ea typeface="Arial"/>
                <a:cs typeface="Arial"/>
              </a:defRPr>
            </a:pPr>
            <a:r>
              <a:rPr sz="2025" b="1">
                <a:solidFill>
                  <a:srgbClr val="2861FF"/>
                </a:solidFill>
                <a:latin typeface="Arial"/>
                <a:ea typeface="Arial"/>
                <a:cs typeface="Arial"/>
              </a:rPr>
              <a:t>Sign in</a:t>
            </a:r>
          </a:p>
        </p:txBody>
      </p:sp>
      <p:sp>
        <p:nvSpPr>
          <p:cNvPr id="8" name="Project text 6">
            <a:extLst xmlns:a="http://schemas.openxmlformats.org/drawingml/2006/main">
              <a:ext uri="{FF2B5EF4-FFF2-40B4-BE49-F238E27FC236}">
                <a16:creationId xmlns:a16="http://schemas.microsoft.com/office/drawing/2014/main" id="{2DEDA76C-8217-454C-9B03-9F348BD157CA}"/>
              </a:ext>
            </a:extLst>
          </p:cNvPr>
          <p:cNvSpPr>
            <a:spLocks xmlns:a="http://schemas.openxmlformats.org/drawingml/2006/main" noGrp="1"/>
          </p:cNvSpPr>
          <p:nvPr/>
        </p:nvSpPr>
        <p:spPr>
          <a:xfrm xmlns:a="http://schemas.openxmlformats.org/drawingml/2006/main">
            <a:off x="3038475" y="1952625"/>
            <a:ext cx="823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A working login, logout and a test account for the teacher.</a:t>
            </a:r>
          </a:p>
        </p:txBody>
      </p:sp>
      <p:sp>
        <p:nvSpPr>
          <p:cNvPr id="9" name="Project text 7">
            <a:extLst xmlns:a="http://schemas.openxmlformats.org/drawingml/2006/main">
              <a:ext uri="{FF2B5EF4-FFF2-40B4-BE49-F238E27FC236}">
                <a16:creationId xmlns:a16="http://schemas.microsoft.com/office/drawing/2014/main" id="{C3C02852-AB6B-4781-9FC7-1F6D9FBABDDF}"/>
              </a:ext>
            </a:extLst>
          </p:cNvPr>
          <p:cNvSpPr>
            <a:spLocks xmlns:a="http://schemas.openxmlformats.org/drawingml/2006/main" noGrp="1"/>
          </p:cNvSpPr>
          <p:nvPr/>
        </p:nvSpPr>
        <p:spPr>
          <a:xfrm xmlns:a="http://schemas.openxmlformats.org/drawingml/2006/main">
            <a:off x="895350" y="285750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2861FF"/>
                </a:solidFill>
                <a:latin typeface="Arial"/>
                <a:ea typeface="Arial"/>
                <a:cs typeface="Arial"/>
              </a:defRPr>
            </a:pPr>
            <a:r>
              <a:rPr sz="2025" b="1">
                <a:solidFill>
                  <a:srgbClr val="2861FF"/>
                </a:solidFill>
                <a:latin typeface="Arial"/>
                <a:ea typeface="Arial"/>
                <a:cs typeface="Arial"/>
              </a:rPr>
              <a:t>Paste a review</a:t>
            </a:r>
          </a:p>
        </p:txBody>
      </p:sp>
      <p:sp>
        <p:nvSpPr>
          <p:cNvPr id="10" name="Project text 8">
            <a:extLst xmlns:a="http://schemas.openxmlformats.org/drawingml/2006/main">
              <a:ext uri="{FF2B5EF4-FFF2-40B4-BE49-F238E27FC236}">
                <a16:creationId xmlns:a16="http://schemas.microsoft.com/office/drawing/2014/main" id="{B00FC723-9550-491A-999C-E03DE65AF419}"/>
              </a:ext>
            </a:extLst>
          </p:cNvPr>
          <p:cNvSpPr>
            <a:spLocks xmlns:a="http://schemas.openxmlformats.org/drawingml/2006/main" noGrp="1"/>
          </p:cNvSpPr>
          <p:nvPr/>
        </p:nvSpPr>
        <p:spPr>
          <a:xfrm xmlns:a="http://schemas.openxmlformats.org/drawingml/2006/main">
            <a:off x="3038475" y="2857500"/>
            <a:ext cx="823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Accept Chinese text with one or several sentences.</a:t>
            </a:r>
          </a:p>
        </p:txBody>
      </p:sp>
      <p:sp>
        <p:nvSpPr>
          <p:cNvPr id="11" name="Project text 9">
            <a:extLst xmlns:a="http://schemas.openxmlformats.org/drawingml/2006/main">
              <a:ext uri="{FF2B5EF4-FFF2-40B4-BE49-F238E27FC236}">
                <a16:creationId xmlns:a16="http://schemas.microsoft.com/office/drawing/2014/main" id="{C7473E7B-54B7-46A8-B08F-8D3D9E75A402}"/>
              </a:ext>
            </a:extLst>
          </p:cNvPr>
          <p:cNvSpPr>
            <a:spLocks xmlns:a="http://schemas.openxmlformats.org/drawingml/2006/main" noGrp="1"/>
          </p:cNvSpPr>
          <p:nvPr/>
        </p:nvSpPr>
        <p:spPr>
          <a:xfrm xmlns:a="http://schemas.openxmlformats.org/drawingml/2006/main">
            <a:off x="895350" y="376237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2861FF"/>
                </a:solidFill>
                <a:latin typeface="Arial"/>
                <a:ea typeface="Arial"/>
                <a:cs typeface="Arial"/>
              </a:defRPr>
            </a:pPr>
            <a:r>
              <a:rPr sz="2025" b="1">
                <a:solidFill>
                  <a:srgbClr val="2861FF"/>
                </a:solidFill>
                <a:latin typeface="Arial"/>
                <a:ea typeface="Arial"/>
                <a:cs typeface="Arial"/>
              </a:rPr>
              <a:t>Analyze</a:t>
            </a:r>
          </a:p>
        </p:txBody>
      </p:sp>
      <p:sp>
        <p:nvSpPr>
          <p:cNvPr id="12" name="Project text 10">
            <a:extLst xmlns:a="http://schemas.openxmlformats.org/drawingml/2006/main">
              <a:ext uri="{FF2B5EF4-FFF2-40B4-BE49-F238E27FC236}">
                <a16:creationId xmlns:a16="http://schemas.microsoft.com/office/drawing/2014/main" id="{DBE31A45-E9E8-4184-B55B-1F12B3059789}"/>
              </a:ext>
            </a:extLst>
          </p:cNvPr>
          <p:cNvSpPr>
            <a:spLocks xmlns:a="http://schemas.openxmlformats.org/drawingml/2006/main" noGrp="1"/>
          </p:cNvSpPr>
          <p:nvPr/>
        </p:nvSpPr>
        <p:spPr>
          <a:xfrm xmlns:a="http://schemas.openxmlformats.org/drawingml/2006/main">
            <a:off x="3038475" y="3762375"/>
            <a:ext cx="823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Split text, embed sentences and run the saved MLP.</a:t>
            </a:r>
          </a:p>
        </p:txBody>
      </p:sp>
      <p:sp>
        <p:nvSpPr>
          <p:cNvPr id="13" name="Project text 11">
            <a:extLst xmlns:a="http://schemas.openxmlformats.org/drawingml/2006/main">
              <a:ext uri="{FF2B5EF4-FFF2-40B4-BE49-F238E27FC236}">
                <a16:creationId xmlns:a16="http://schemas.microsoft.com/office/drawing/2014/main" id="{F5224D88-F37A-483B-BA8C-BA29C5995009}"/>
              </a:ext>
            </a:extLst>
          </p:cNvPr>
          <p:cNvSpPr>
            <a:spLocks xmlns:a="http://schemas.openxmlformats.org/drawingml/2006/main" noGrp="1"/>
          </p:cNvSpPr>
          <p:nvPr/>
        </p:nvSpPr>
        <p:spPr>
          <a:xfrm xmlns:a="http://schemas.openxmlformats.org/drawingml/2006/main">
            <a:off x="895350" y="466725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2861FF"/>
                </a:solidFill>
                <a:latin typeface="Arial"/>
                <a:ea typeface="Arial"/>
                <a:cs typeface="Arial"/>
              </a:defRPr>
            </a:pPr>
            <a:r>
              <a:rPr sz="2025" b="1">
                <a:solidFill>
                  <a:srgbClr val="2861FF"/>
                </a:solidFill>
                <a:latin typeface="Arial"/>
                <a:ea typeface="Arial"/>
                <a:cs typeface="Arial"/>
              </a:rPr>
              <a:t>Explain</a:t>
            </a:r>
          </a:p>
        </p:txBody>
      </p:sp>
      <p:sp>
        <p:nvSpPr>
          <p:cNvPr id="14" name="Project text 12">
            <a:extLst xmlns:a="http://schemas.openxmlformats.org/drawingml/2006/main">
              <a:ext uri="{FF2B5EF4-FFF2-40B4-BE49-F238E27FC236}">
                <a16:creationId xmlns:a16="http://schemas.microsoft.com/office/drawing/2014/main" id="{59416ECE-810A-44BD-BD59-CBFB7CA41A16}"/>
              </a:ext>
            </a:extLst>
          </p:cNvPr>
          <p:cNvSpPr>
            <a:spLocks xmlns:a="http://schemas.openxmlformats.org/drawingml/2006/main" noGrp="1"/>
          </p:cNvSpPr>
          <p:nvPr/>
        </p:nvSpPr>
        <p:spPr>
          <a:xfrm xmlns:a="http://schemas.openxmlformats.org/drawingml/2006/main">
            <a:off x="3038475" y="4667250"/>
            <a:ext cx="823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Show each aspect score, mention count and evidence.</a:t>
            </a:r>
          </a:p>
        </p:txBody>
      </p:sp>
      <p:sp>
        <p:nvSpPr>
          <p:cNvPr id="15" name="Project text 13">
            <a:extLst xmlns:a="http://schemas.openxmlformats.org/drawingml/2006/main">
              <a:ext uri="{FF2B5EF4-FFF2-40B4-BE49-F238E27FC236}">
                <a16:creationId xmlns:a16="http://schemas.microsoft.com/office/drawing/2014/main" id="{461BEA86-C383-4D19-8B34-50368285F047}"/>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Each student submits a URL that the teacher can open and test.</a:t>
            </a:r>
          </a:p>
        </p:txBody>
      </p:sp>
    </p:spTree>
    <p:extLst>
      <p:ext uri="{BB962C8B-B14F-4D97-AF65-F5344CB8AC3E}">
        <p14:creationId xmlns:p14="http://schemas.microsoft.com/office/powerpoint/2010/main" val="49144901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AGGREGATION RULE</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Sentence labels become review scores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30</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20" name=""/>
          <p:cNvGraphicFramePr/>
          <p:nvPr/>
        </p:nvGraphicFramePr>
        <p:xfrm>
          <a:off xmlns:a="http://schemas.openxmlformats.org/drawingml/2006/main" x="895350" y="2000250"/>
          <a:ext xmlns:a="http://schemas.openxmlformats.org/drawingml/2006/main" cx="4191000" cy="2552700"/>
        </p:xfrm>
        <a:graphic xmlns:a="http://schemas.openxmlformats.org/drawingml/2006/main">
          <a:graphicData uri="http://schemas.openxmlformats.org/drawingml/2006/table">
            <a:tbl>
              <a:tblPr/>
              <a:tblGrid>
                <a:gridCol w="2619375"/>
                <a:gridCol w="1571625"/>
              </a:tblGrid>
              <a:tr h="510540">
                <a:tc>
                  <a:txBody>
                    <a:bodyPr/>
                    <a:lstStyle/>
                    <a:p>
                      <a:r>
                        <a:rPr sz="1875" b="1">
                          <a:solidFill>
                            <a:srgbClr val="E30613"/>
                          </a:solidFill>
                          <a:latin typeface="Arial"/>
                          <a:ea typeface="Arial"/>
                          <a:cs typeface="Arial"/>
                        </a:rPr>
                        <a:t>Sentence state</a:t>
                      </a:r>
                    </a:p>
                  </a:txBody>
                  <a:tcPr marL="76200" marR="76200" marT="38100" marB="38100">
                    <a:solidFill>
                      <a:srgbClr val="FFF0F2"/>
                    </a:solidFill>
                  </a:tcPr>
                </a:tc>
                <a:tc>
                  <a:txBody>
                    <a:bodyPr/>
                    <a:lstStyle/>
                    <a:p>
                      <a:r>
                        <a:rPr sz="1875" b="1">
                          <a:solidFill>
                            <a:srgbClr val="E30613"/>
                          </a:solidFill>
                          <a:latin typeface="Arial"/>
                          <a:ea typeface="Arial"/>
                          <a:cs typeface="Arial"/>
                        </a:rPr>
                        <a:t>Value</a:t>
                      </a:r>
                    </a:p>
                  </a:txBody>
                  <a:tcPr marL="76200" marR="76200" marT="38100" marB="38100">
                    <a:solidFill>
                      <a:srgbClr val="FFF0F2"/>
                    </a:solidFill>
                  </a:tcPr>
                </a:tc>
              </a:tr>
              <a:tr h="510540">
                <a:tc>
                  <a:txBody>
                    <a:bodyPr/>
                    <a:lstStyle/>
                    <a:p>
                      <a:r>
                        <a:rPr sz="1950" b="0">
                          <a:solidFill>
                            <a:srgbClr val="111111"/>
                          </a:solidFill>
                          <a:latin typeface="Arial"/>
                          <a:ea typeface="Arial"/>
                          <a:cs typeface="Arial"/>
                        </a:rPr>
                        <a:t>Positive</a:t>
                      </a:r>
                    </a:p>
                  </a:txBody>
                  <a:tcPr marL="76200" marR="76200" marT="38100" marB="38100">
                    <a:solidFill>
                      <a:srgbClr val="FFFFFF"/>
                    </a:solidFill>
                  </a:tcPr>
                </a:tc>
                <a:tc>
                  <a:txBody>
                    <a:bodyPr/>
                    <a:lstStyle/>
                    <a:p>
                      <a:r>
                        <a:rPr sz="1950" b="0">
                          <a:solidFill>
                            <a:srgbClr val="111111"/>
                          </a:solidFill>
                          <a:latin typeface="Arial"/>
                          <a:ea typeface="Arial"/>
                          <a:cs typeface="Arial"/>
                        </a:rPr>
                        <a:t>+1</a:t>
                      </a:r>
                    </a:p>
                  </a:txBody>
                  <a:tcPr marL="76200" marR="76200" marT="38100" marB="38100">
                    <a:solidFill>
                      <a:srgbClr val="FFFFFF"/>
                    </a:solidFill>
                  </a:tcPr>
                </a:tc>
              </a:tr>
              <a:tr h="510540">
                <a:tc>
                  <a:txBody>
                    <a:bodyPr/>
                    <a:lstStyle/>
                    <a:p>
                      <a:r>
                        <a:rPr sz="1950" b="0">
                          <a:solidFill>
                            <a:srgbClr val="111111"/>
                          </a:solidFill>
                          <a:latin typeface="Arial"/>
                          <a:ea typeface="Arial"/>
                          <a:cs typeface="Arial"/>
                        </a:rPr>
                        <a:t>Negative</a:t>
                      </a:r>
                    </a:p>
                  </a:txBody>
                  <a:tcPr marL="76200" marR="76200" marT="38100" marB="38100">
                    <a:solidFill>
                      <a:srgbClr val="F4F5F7"/>
                    </a:solidFill>
                  </a:tcPr>
                </a:tc>
                <a:tc>
                  <a:txBody>
                    <a:bodyPr/>
                    <a:lstStyle/>
                    <a:p>
                      <a:r>
                        <a:rPr sz="1950" b="0">
                          <a:solidFill>
                            <a:srgbClr val="111111"/>
                          </a:solidFill>
                          <a:latin typeface="Arial"/>
                          <a:ea typeface="Arial"/>
                          <a:cs typeface="Arial"/>
                        </a:rPr>
                        <a:t>−1</a:t>
                      </a:r>
                    </a:p>
                  </a:txBody>
                  <a:tcPr marL="76200" marR="76200" marT="38100" marB="38100">
                    <a:solidFill>
                      <a:srgbClr val="F4F5F7"/>
                    </a:solidFill>
                  </a:tcPr>
                </a:tc>
              </a:tr>
              <a:tr h="510540">
                <a:tc>
                  <a:txBody>
                    <a:bodyPr/>
                    <a:lstStyle/>
                    <a:p>
                      <a:r>
                        <a:rPr sz="1950" b="0">
                          <a:solidFill>
                            <a:srgbClr val="111111"/>
                          </a:solidFill>
                          <a:latin typeface="Arial"/>
                          <a:ea typeface="Arial"/>
                          <a:cs typeface="Arial"/>
                        </a:rPr>
                        <a:t>Neutral or mixed</a:t>
                      </a:r>
                    </a:p>
                  </a:txBody>
                  <a:tcPr marL="76200" marR="76200" marT="38100" marB="38100">
                    <a:solidFill>
                      <a:srgbClr val="FFFFFF"/>
                    </a:solidFill>
                  </a:tcPr>
                </a:tc>
                <a:tc>
                  <a:txBody>
                    <a:bodyPr/>
                    <a:lstStyle/>
                    <a:p>
                      <a:r>
                        <a:rPr sz="1950" b="0">
                          <a:solidFill>
                            <a:srgbClr val="111111"/>
                          </a:solidFill>
                          <a:latin typeface="Arial"/>
                          <a:ea typeface="Arial"/>
                          <a:cs typeface="Arial"/>
                        </a:rPr>
                        <a:t>0</a:t>
                      </a:r>
                    </a:p>
                  </a:txBody>
                  <a:tcPr marL="76200" marR="76200" marT="38100" marB="38100">
                    <a:solidFill>
                      <a:srgbClr val="FFFFFF"/>
                    </a:solidFill>
                  </a:tcPr>
                </a:tc>
              </a:tr>
              <a:tr h="510540">
                <a:tc>
                  <a:txBody>
                    <a:bodyPr/>
                    <a:lstStyle/>
                    <a:p>
                      <a:r>
                        <a:rPr sz="1950" b="0">
                          <a:solidFill>
                            <a:srgbClr val="111111"/>
                          </a:solidFill>
                          <a:latin typeface="Arial"/>
                          <a:ea typeface="Arial"/>
                          <a:cs typeface="Arial"/>
                        </a:rPr>
                        <a:t>Absent</a:t>
                      </a:r>
                    </a:p>
                  </a:txBody>
                  <a:tcPr marL="76200" marR="76200" marT="38100" marB="38100">
                    <a:solidFill>
                      <a:srgbClr val="F4F5F7"/>
                    </a:solidFill>
                  </a:tcPr>
                </a:tc>
                <a:tc>
                  <a:txBody>
                    <a:bodyPr/>
                    <a:lstStyle/>
                    <a:p>
                      <a:r>
                        <a:rPr sz="1950" b="0">
                          <a:solidFill>
                            <a:srgbClr val="111111"/>
                          </a:solidFill>
                          <a:latin typeface="Arial"/>
                          <a:ea typeface="Arial"/>
                          <a:cs typeface="Arial"/>
                        </a:rPr>
                        <a:t>Skip</a:t>
                      </a:r>
                    </a:p>
                  </a:txBody>
                  <a:tcPr marL="76200" marR="76200" marT="38100" marB="38100">
                    <a:solidFill>
                      <a:srgbClr val="F4F5F7"/>
                    </a:solidFill>
                  </a:tcPr>
                </a:tc>
              </a:tr>
            </a:tbl>
          </a:graphicData>
        </a:graphic>
      </p:graphicFrame>
      <p:sp>
        <p:nvSpPr>
          <p:cNvPr id="8" name="Project text 5">
            <a:extLst xmlns:a="http://schemas.openxmlformats.org/drawingml/2006/main">
              <a:ext uri="{FF2B5EF4-FFF2-40B4-BE49-F238E27FC236}">
                <a16:creationId xmlns:a16="http://schemas.microsoft.com/office/drawing/2014/main" id="{B008C501-1269-4B00-A4CB-EC9657F8DCB4}"/>
              </a:ext>
            </a:extLst>
          </p:cNvPr>
          <p:cNvSpPr>
            <a:spLocks xmlns:a="http://schemas.openxmlformats.org/drawingml/2006/main" noGrp="1"/>
          </p:cNvSpPr>
          <p:nvPr/>
        </p:nvSpPr>
        <p:spPr>
          <a:xfrm xmlns:a="http://schemas.openxmlformats.org/drawingml/2006/main">
            <a:off x="5857875" y="2511361"/>
            <a:ext cx="219075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550" b="0">
                <a:solidFill>
                  <a:srgbClr val="E30613"/>
                </a:solidFill>
                <a:latin typeface="Cambria Math"/>
                <a:ea typeface="Cambria Math"/>
                <a:cs typeface="Cambria Math"/>
              </a:defRPr>
            </a:pPr>
            <a:r>
              <a:rPr sz="2550" b="0">
                <a:solidFill>
                  <a:srgbClr val="E30613"/>
                </a:solidFill>
                <a:latin typeface="Cambria Math"/>
                <a:ea typeface="Cambria Math"/>
                <a:cs typeface="Cambria Math"/>
              </a:rPr>
              <a:t>Sₐ = 100 ×</a:t>
            </a:r>
          </a:p>
        </p:txBody>
      </p:sp>
      <p:sp>
        <p:nvSpPr>
          <p:cNvPr id="9" name="Project text 6">
            <a:extLst xmlns:a="http://schemas.openxmlformats.org/drawingml/2006/main">
              <a:ext uri="{FF2B5EF4-FFF2-40B4-BE49-F238E27FC236}">
                <a16:creationId xmlns:a16="http://schemas.microsoft.com/office/drawing/2014/main" id="{C3EEFD67-BA80-4D36-B5DE-A8CB682572BB}"/>
              </a:ext>
            </a:extLst>
          </p:cNvPr>
          <p:cNvSpPr>
            <a:spLocks xmlns:a="http://schemas.openxmlformats.org/drawingml/2006/main" noGrp="1"/>
          </p:cNvSpPr>
          <p:nvPr/>
        </p:nvSpPr>
        <p:spPr>
          <a:xfrm xmlns:a="http://schemas.openxmlformats.org/drawingml/2006/main">
            <a:off x="8124825" y="2295525"/>
            <a:ext cx="1463573" cy="385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167" b="0">
                <a:solidFill>
                  <a:srgbClr val="E30613"/>
                </a:solidFill>
                <a:latin typeface="Cambria Math"/>
                <a:ea typeface="Cambria Math"/>
                <a:cs typeface="Cambria Math"/>
              </a:defRPr>
            </a:pPr>
            <a:r>
              <a:rPr sz="2167" b="0">
                <a:solidFill>
                  <a:srgbClr val="E30613"/>
                </a:solidFill>
                <a:latin typeface="Cambria Math"/>
                <a:ea typeface="Cambria Math"/>
                <a:cs typeface="Cambria Math"/>
              </a:rPr>
              <a:t>Σᵢ∈Mₐ sᵢₐ</a:t>
            </a:r>
          </a:p>
        </p:txBody>
      </p:sp>
      <p:sp>
        <p:nvSpPr>
          <p:cNvPr id="10" name="">
            <a:extLst xmlns:a="http://schemas.openxmlformats.org/drawingml/2006/main">
              <a:ext uri="{FF2B5EF4-FFF2-40B4-BE49-F238E27FC236}">
                <a16:creationId xmlns:a16="http://schemas.microsoft.com/office/drawing/2014/main" id="{16589D6A-9C73-4535-99C2-3D94F89EE214}"/>
              </a:ext>
            </a:extLst>
          </p:cNvPr>
          <p:cNvSpPr>
            <a:spLocks xmlns:a="http://schemas.openxmlformats.org/drawingml/2006/main" noGrp="1"/>
          </p:cNvSpPr>
          <p:nvPr/>
        </p:nvSpPr>
        <p:spPr>
          <a:xfrm xmlns:a="http://schemas.openxmlformats.org/drawingml/2006/main">
            <a:off x="8077200" y="2728532"/>
            <a:ext cx="1558823" cy="14288"/>
          </a:xfrm>
          <a:prstGeom xmlns:a="http://schemas.openxmlformats.org/drawingml/2006/main" prst="rect">
            <a:avLst/>
          </a:prstGeom>
          <a:solidFill xmlns:a="http://schemas.openxmlformats.org/drawingml/2006/main">
            <a:srgbClr val="E30613"/>
          </a:solidFill>
          <a:ln xmlns:a="http://schemas.openxmlformats.org/drawingml/2006/main" w="0">
            <a:solidFill>
              <a:srgbClr val="E30613"/>
            </a:solidFill>
          </a:ln>
        </p:spPr>
      </p:sp>
      <p:sp>
        <p:nvSpPr>
          <p:cNvPr id="11" name="Project text 8">
            <a:extLst xmlns:a="http://schemas.openxmlformats.org/drawingml/2006/main">
              <a:ext uri="{FF2B5EF4-FFF2-40B4-BE49-F238E27FC236}">
                <a16:creationId xmlns:a16="http://schemas.microsoft.com/office/drawing/2014/main" id="{79487E04-CEFE-48A0-BB67-482BA64751FB}"/>
              </a:ext>
            </a:extLst>
          </p:cNvPr>
          <p:cNvSpPr>
            <a:spLocks xmlns:a="http://schemas.openxmlformats.org/drawingml/2006/main" noGrp="1"/>
          </p:cNvSpPr>
          <p:nvPr/>
        </p:nvSpPr>
        <p:spPr>
          <a:xfrm xmlns:a="http://schemas.openxmlformats.org/drawingml/2006/main">
            <a:off x="8664359" y="2795207"/>
            <a:ext cx="384505" cy="385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167" b="0">
                <a:solidFill>
                  <a:srgbClr val="E30613"/>
                </a:solidFill>
                <a:latin typeface="Cambria Math"/>
                <a:ea typeface="Cambria Math"/>
                <a:cs typeface="Cambria Math"/>
              </a:defRPr>
            </a:pPr>
            <a:r>
              <a:rPr sz="2167" b="0">
                <a:solidFill>
                  <a:srgbClr val="E30613"/>
                </a:solidFill>
                <a:latin typeface="Cambria Math"/>
                <a:ea typeface="Cambria Math"/>
                <a:cs typeface="Cambria Math"/>
              </a:rPr>
              <a:t>nₐ</a:t>
            </a:r>
          </a:p>
        </p:txBody>
      </p:sp>
      <p:sp>
        <p:nvSpPr>
          <p:cNvPr id="12" name="Project text 9">
            <a:extLst xmlns:a="http://schemas.openxmlformats.org/drawingml/2006/main">
              <a:ext uri="{FF2B5EF4-FFF2-40B4-BE49-F238E27FC236}">
                <a16:creationId xmlns:a16="http://schemas.microsoft.com/office/drawing/2014/main" id="{79A1ED4B-18A4-448E-846D-39E46468B08C}"/>
              </a:ext>
            </a:extLst>
          </p:cNvPr>
          <p:cNvSpPr>
            <a:spLocks xmlns:a="http://schemas.openxmlformats.org/drawingml/2006/main" noGrp="1"/>
          </p:cNvSpPr>
          <p:nvPr/>
        </p:nvSpPr>
        <p:spPr>
          <a:xfrm xmlns:a="http://schemas.openxmlformats.org/drawingml/2006/main">
            <a:off x="5857875" y="3733800"/>
            <a:ext cx="5429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Mₐ = sentences mentioning aspect a</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nₐ = number of those sentences</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sᵢₐ = sentence contribution</a:t>
            </a:r>
          </a:p>
        </p:txBody>
      </p:sp>
      <p:sp>
        <p:nvSpPr>
          <p:cNvPr id="13" name="Project text 10">
            <a:extLst xmlns:a="http://schemas.openxmlformats.org/drawingml/2006/main">
              <a:ext uri="{FF2B5EF4-FFF2-40B4-BE49-F238E27FC236}">
                <a16:creationId xmlns:a16="http://schemas.microsoft.com/office/drawing/2014/main" id="{1B506FC2-A092-4265-BD20-7EB051FC51F6}"/>
              </a:ext>
            </a:extLst>
          </p:cNvPr>
          <p:cNvSpPr>
            <a:spLocks xmlns:a="http://schemas.openxmlformats.org/drawingml/2006/main" noGrp="1"/>
          </p:cNvSpPr>
          <p:nvPr/>
        </p:nvSpPr>
        <p:spPr>
          <a:xfrm xmlns:a="http://schemas.openxmlformats.org/drawingml/2006/main">
            <a:off x="895350" y="524827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2861FF"/>
                </a:solidFill>
                <a:latin typeface="Arial"/>
                <a:ea typeface="Arial"/>
                <a:cs typeface="Arial"/>
              </a:defRPr>
            </a:pPr>
            <a:r>
              <a:rPr sz="2175" b="1">
                <a:solidFill>
                  <a:srgbClr val="2861FF"/>
                </a:solidFill>
                <a:latin typeface="Arial"/>
                <a:ea typeface="Arial"/>
                <a:cs typeface="Arial"/>
              </a:rPr>
              <a:t>Range: −100 to +100. If nₐ = 0, show “Not mentioned”.</a:t>
            </a:r>
          </a:p>
        </p:txBody>
      </p:sp>
      <p:sp>
        <p:nvSpPr>
          <p:cNvPr id="14" name="Project text 11">
            <a:extLst xmlns:a="http://schemas.openxmlformats.org/drawingml/2006/main">
              <a:ext uri="{FF2B5EF4-FFF2-40B4-BE49-F238E27FC236}">
                <a16:creationId xmlns:a16="http://schemas.microsoft.com/office/drawing/2014/main" id="{9E8C3899-7E68-4E89-B7BE-74DCD568368E}"/>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This score summarizes predicted sentiment. It is not model confidence.</a:t>
            </a:r>
          </a:p>
        </p:txBody>
      </p:sp>
    </p:spTree>
    <p:extLst>
      <p:ext uri="{BB962C8B-B14F-4D97-AF65-F5344CB8AC3E}">
        <p14:creationId xmlns:p14="http://schemas.microsoft.com/office/powerpoint/2010/main" val="49144901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REVIEW-LEVEL AGGREGATION</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A worked example: service</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31</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9" name=""/>
          <p:cNvGraphicFramePr/>
          <p:nvPr/>
        </p:nvGraphicFramePr>
        <p:xfrm>
          <a:off xmlns:a="http://schemas.openxmlformats.org/drawingml/2006/main" x="895350" y="2095500"/>
          <a:ext xmlns:a="http://schemas.openxmlformats.org/drawingml/2006/main" cx="10382250" cy="2000250"/>
        </p:xfrm>
        <a:graphic xmlns:a="http://schemas.openxmlformats.org/drawingml/2006/main">
          <a:graphicData uri="http://schemas.openxmlformats.org/drawingml/2006/table">
            <a:tbl>
              <a:tblPr/>
              <a:tblGrid>
                <a:gridCol w="6381750"/>
                <a:gridCol w="2333625"/>
                <a:gridCol w="1666875"/>
              </a:tblGrid>
              <a:tr h="500063">
                <a:tc>
                  <a:txBody>
                    <a:bodyPr/>
                    <a:lstStyle/>
                    <a:p>
                      <a:r>
                        <a:rPr sz="1875" b="1">
                          <a:solidFill>
                            <a:srgbClr val="E30613"/>
                          </a:solidFill>
                          <a:latin typeface="Arial"/>
                          <a:ea typeface="Arial"/>
                          <a:cs typeface="Arial"/>
                        </a:rPr>
                        <a:t>Sentence</a:t>
                      </a:r>
                    </a:p>
                  </a:txBody>
                  <a:tcPr marL="76200" marR="76200" marT="38100" marB="38100">
                    <a:solidFill>
                      <a:srgbClr val="FFF0F2"/>
                    </a:solidFill>
                  </a:tcPr>
                </a:tc>
                <a:tc>
                  <a:txBody>
                    <a:bodyPr/>
                    <a:lstStyle/>
                    <a:p>
                      <a:r>
                        <a:rPr sz="1875" b="1">
                          <a:solidFill>
                            <a:srgbClr val="E30613"/>
                          </a:solidFill>
                          <a:latin typeface="Arial"/>
                          <a:ea typeface="Arial"/>
                          <a:cs typeface="Arial"/>
                        </a:rPr>
                        <a:t>Service state</a:t>
                      </a:r>
                    </a:p>
                  </a:txBody>
                  <a:tcPr marL="76200" marR="76200" marT="38100" marB="38100">
                    <a:solidFill>
                      <a:srgbClr val="FFF0F2"/>
                    </a:solidFill>
                  </a:tcPr>
                </a:tc>
                <a:tc>
                  <a:txBody>
                    <a:bodyPr/>
                    <a:lstStyle/>
                    <a:p>
                      <a:r>
                        <a:rPr sz="1875" b="1">
                          <a:solidFill>
                            <a:srgbClr val="E30613"/>
                          </a:solidFill>
                          <a:latin typeface="Arial"/>
                          <a:ea typeface="Arial"/>
                          <a:cs typeface="Arial"/>
                        </a:rPr>
                        <a:t>Contribution</a:t>
                      </a:r>
                    </a:p>
                  </a:txBody>
                  <a:tcPr marL="76200" marR="76200" marT="38100" marB="38100">
                    <a:solidFill>
                      <a:srgbClr val="FFF0F2"/>
                    </a:solidFill>
                  </a:tcPr>
                </a:tc>
              </a:tr>
              <a:tr h="500063">
                <a:tc>
                  <a:txBody>
                    <a:bodyPr/>
                    <a:lstStyle/>
                    <a:p>
                      <a:r>
                        <a:rPr sz="1950" b="0">
                          <a:solidFill>
                            <a:srgbClr val="111111"/>
                          </a:solidFill>
                          <a:latin typeface="Arial"/>
                          <a:ea typeface="Noto Sans CJK SC"/>
                          <a:cs typeface="Noto Sans CJK SC"/>
                        </a:rPr>
                        <a:t>前台态度不好。</a:t>
                      </a:r>
                    </a:p>
                  </a:txBody>
                  <a:tcPr marL="76200" marR="76200" marT="38100" marB="38100">
                    <a:solidFill>
                      <a:srgbClr val="FFFFFF"/>
                    </a:solidFill>
                  </a:tcPr>
                </a:tc>
                <a:tc>
                  <a:txBody>
                    <a:bodyPr/>
                    <a:lstStyle/>
                    <a:p>
                      <a:r>
                        <a:rPr sz="1950" b="0">
                          <a:solidFill>
                            <a:srgbClr val="111111"/>
                          </a:solidFill>
                          <a:latin typeface="Arial"/>
                          <a:ea typeface="Arial"/>
                          <a:cs typeface="Arial"/>
                        </a:rPr>
                        <a:t>Negative</a:t>
                      </a:r>
                    </a:p>
                  </a:txBody>
                  <a:tcPr marL="76200" marR="76200" marT="38100" marB="38100">
                    <a:solidFill>
                      <a:srgbClr val="FFFFFF"/>
                    </a:solidFill>
                  </a:tcPr>
                </a:tc>
                <a:tc>
                  <a:txBody>
                    <a:bodyPr/>
                    <a:lstStyle/>
                    <a:p>
                      <a:r>
                        <a:rPr sz="1950" b="0">
                          <a:solidFill>
                            <a:srgbClr val="111111"/>
                          </a:solidFill>
                          <a:latin typeface="Arial"/>
                          <a:ea typeface="Arial"/>
                          <a:cs typeface="Arial"/>
                        </a:rPr>
                        <a:t>−1</a:t>
                      </a:r>
                    </a:p>
                  </a:txBody>
                  <a:tcPr marL="76200" marR="76200" marT="38100" marB="38100">
                    <a:solidFill>
                      <a:srgbClr val="FFFFFF"/>
                    </a:solidFill>
                  </a:tcPr>
                </a:tc>
              </a:tr>
              <a:tr h="500063">
                <a:tc>
                  <a:txBody>
                    <a:bodyPr/>
                    <a:lstStyle/>
                    <a:p>
                      <a:r>
                        <a:rPr sz="1950" b="0">
                          <a:solidFill>
                            <a:srgbClr val="111111"/>
                          </a:solidFill>
                          <a:latin typeface="Arial"/>
                          <a:ea typeface="Noto Sans CJK SC"/>
                          <a:cs typeface="Noto Sans CJK SC"/>
                        </a:rPr>
                        <a:t>第二天服务员主动帮我换房，服务很好。</a:t>
                      </a:r>
                    </a:p>
                  </a:txBody>
                  <a:tcPr marL="76200" marR="76200" marT="38100" marB="38100">
                    <a:solidFill>
                      <a:srgbClr val="F4F5F7"/>
                    </a:solidFill>
                  </a:tcPr>
                </a:tc>
                <a:tc>
                  <a:txBody>
                    <a:bodyPr/>
                    <a:lstStyle/>
                    <a:p>
                      <a:r>
                        <a:rPr sz="1950" b="0">
                          <a:solidFill>
                            <a:srgbClr val="111111"/>
                          </a:solidFill>
                          <a:latin typeface="Arial"/>
                          <a:ea typeface="Arial"/>
                          <a:cs typeface="Arial"/>
                        </a:rPr>
                        <a:t>Positive</a:t>
                      </a:r>
                    </a:p>
                  </a:txBody>
                  <a:tcPr marL="76200" marR="76200" marT="38100" marB="38100">
                    <a:solidFill>
                      <a:srgbClr val="F4F5F7"/>
                    </a:solidFill>
                  </a:tcPr>
                </a:tc>
                <a:tc>
                  <a:txBody>
                    <a:bodyPr/>
                    <a:lstStyle/>
                    <a:p>
                      <a:r>
                        <a:rPr sz="1950" b="0">
                          <a:solidFill>
                            <a:srgbClr val="111111"/>
                          </a:solidFill>
                          <a:latin typeface="Arial"/>
                          <a:ea typeface="Arial"/>
                          <a:cs typeface="Arial"/>
                        </a:rPr>
                        <a:t>+1</a:t>
                      </a:r>
                    </a:p>
                  </a:txBody>
                  <a:tcPr marL="76200" marR="76200" marT="38100" marB="38100">
                    <a:solidFill>
                      <a:srgbClr val="F4F5F7"/>
                    </a:solidFill>
                  </a:tcPr>
                </a:tc>
              </a:tr>
              <a:tr h="500063">
                <a:tc>
                  <a:txBody>
                    <a:bodyPr/>
                    <a:lstStyle/>
                    <a:p>
                      <a:r>
                        <a:rPr sz="1950" b="0">
                          <a:solidFill>
                            <a:srgbClr val="111111"/>
                          </a:solidFill>
                          <a:latin typeface="Arial"/>
                          <a:ea typeface="Noto Sans CJK SC"/>
                          <a:cs typeface="Noto Sans CJK SC"/>
                        </a:rPr>
                        <a:t>退房办理得很快。</a:t>
                      </a:r>
                    </a:p>
                  </a:txBody>
                  <a:tcPr marL="76200" marR="76200" marT="38100" marB="38100">
                    <a:solidFill>
                      <a:srgbClr val="FFFFFF"/>
                    </a:solidFill>
                  </a:tcPr>
                </a:tc>
                <a:tc>
                  <a:txBody>
                    <a:bodyPr/>
                    <a:lstStyle/>
                    <a:p>
                      <a:r>
                        <a:rPr sz="1950" b="0">
                          <a:solidFill>
                            <a:srgbClr val="111111"/>
                          </a:solidFill>
                          <a:latin typeface="Arial"/>
                          <a:ea typeface="Arial"/>
                          <a:cs typeface="Arial"/>
                        </a:rPr>
                        <a:t>Positive</a:t>
                      </a:r>
                    </a:p>
                  </a:txBody>
                  <a:tcPr marL="76200" marR="76200" marT="38100" marB="38100">
                    <a:solidFill>
                      <a:srgbClr val="FFFFFF"/>
                    </a:solidFill>
                  </a:tcPr>
                </a:tc>
                <a:tc>
                  <a:txBody>
                    <a:bodyPr/>
                    <a:lstStyle/>
                    <a:p>
                      <a:r>
                        <a:rPr sz="1950" b="0">
                          <a:solidFill>
                            <a:srgbClr val="111111"/>
                          </a:solidFill>
                          <a:latin typeface="Arial"/>
                          <a:ea typeface="Arial"/>
                          <a:cs typeface="Arial"/>
                        </a:rPr>
                        <a:t>+1</a:t>
                      </a:r>
                    </a:p>
                  </a:txBody>
                  <a:tcPr marL="76200" marR="76200" marT="38100" marB="38100">
                    <a:solidFill>
                      <a:srgbClr val="FFFFFF"/>
                    </a:solidFill>
                  </a:tcPr>
                </a:tc>
              </a:tr>
            </a:tbl>
          </a:graphicData>
        </a:graphic>
      </p:graphicFrame>
      <p:sp>
        <p:nvSpPr>
          <p:cNvPr id="8" name="Project text 5">
            <a:extLst xmlns:a="http://schemas.openxmlformats.org/drawingml/2006/main">
              <a:ext uri="{FF2B5EF4-FFF2-40B4-BE49-F238E27FC236}">
                <a16:creationId xmlns:a16="http://schemas.microsoft.com/office/drawing/2014/main" id="{C8CB0BFD-420D-42BC-A1F1-48D41CBAB9B8}"/>
              </a:ext>
            </a:extLst>
          </p:cNvPr>
          <p:cNvSpPr>
            <a:spLocks xmlns:a="http://schemas.openxmlformats.org/drawingml/2006/main" noGrp="1"/>
          </p:cNvSpPr>
          <p:nvPr/>
        </p:nvSpPr>
        <p:spPr>
          <a:xfrm xmlns:a="http://schemas.openxmlformats.org/drawingml/2006/main">
            <a:off x="895350" y="4730687"/>
            <a:ext cx="347662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550" b="0">
                <a:solidFill>
                  <a:srgbClr val="E30613"/>
                </a:solidFill>
                <a:latin typeface="Cambria Math"/>
                <a:ea typeface="Cambria Math"/>
                <a:cs typeface="Cambria Math"/>
              </a:defRPr>
            </a:pPr>
            <a:r>
              <a:rPr sz="2550" b="0">
                <a:solidFill>
                  <a:srgbClr val="E30613"/>
                </a:solidFill>
                <a:latin typeface="Cambria Math"/>
                <a:ea typeface="Cambria Math"/>
                <a:cs typeface="Cambria Math"/>
              </a:rPr>
              <a:t>Service score = 100 ×</a:t>
            </a:r>
          </a:p>
        </p:txBody>
      </p:sp>
      <p:sp>
        <p:nvSpPr>
          <p:cNvPr id="9" name="Project text 6">
            <a:extLst xmlns:a="http://schemas.openxmlformats.org/drawingml/2006/main">
              <a:ext uri="{FF2B5EF4-FFF2-40B4-BE49-F238E27FC236}">
                <a16:creationId xmlns:a16="http://schemas.microsoft.com/office/drawing/2014/main" id="{BC8175D6-645F-4EAC-B9D9-8D155130A4F5}"/>
              </a:ext>
            </a:extLst>
          </p:cNvPr>
          <p:cNvSpPr>
            <a:spLocks xmlns:a="http://schemas.openxmlformats.org/drawingml/2006/main" noGrp="1"/>
          </p:cNvSpPr>
          <p:nvPr/>
        </p:nvSpPr>
        <p:spPr>
          <a:xfrm xmlns:a="http://schemas.openxmlformats.org/drawingml/2006/main">
            <a:off x="4448175" y="4514850"/>
            <a:ext cx="1617726" cy="385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167" b="0">
                <a:solidFill>
                  <a:srgbClr val="E30613"/>
                </a:solidFill>
                <a:latin typeface="Cambria Math"/>
                <a:ea typeface="Cambria Math"/>
                <a:cs typeface="Cambria Math"/>
              </a:defRPr>
            </a:pPr>
            <a:r>
              <a:rPr sz="2167" b="0">
                <a:solidFill>
                  <a:srgbClr val="E30613"/>
                </a:solidFill>
                <a:latin typeface="Cambria Math"/>
                <a:ea typeface="Cambria Math"/>
                <a:cs typeface="Cambria Math"/>
              </a:rPr>
              <a:t>−1 + 1 + 1</a:t>
            </a:r>
          </a:p>
        </p:txBody>
      </p:sp>
      <p:sp>
        <p:nvSpPr>
          <p:cNvPr id="10" name="">
            <a:extLst xmlns:a="http://schemas.openxmlformats.org/drawingml/2006/main">
              <a:ext uri="{FF2B5EF4-FFF2-40B4-BE49-F238E27FC236}">
                <a16:creationId xmlns:a16="http://schemas.microsoft.com/office/drawing/2014/main" id="{19F2AEC9-F333-4007-A21E-307749A3C8E2}"/>
              </a:ext>
            </a:extLst>
          </p:cNvPr>
          <p:cNvSpPr>
            <a:spLocks xmlns:a="http://schemas.openxmlformats.org/drawingml/2006/main" noGrp="1"/>
          </p:cNvSpPr>
          <p:nvPr/>
        </p:nvSpPr>
        <p:spPr>
          <a:xfrm xmlns:a="http://schemas.openxmlformats.org/drawingml/2006/main">
            <a:off x="4400550" y="4947857"/>
            <a:ext cx="1712976" cy="14288"/>
          </a:xfrm>
          <a:prstGeom xmlns:a="http://schemas.openxmlformats.org/drawingml/2006/main" prst="rect">
            <a:avLst/>
          </a:prstGeom>
          <a:solidFill xmlns:a="http://schemas.openxmlformats.org/drawingml/2006/main">
            <a:srgbClr val="E30613"/>
          </a:solidFill>
          <a:ln xmlns:a="http://schemas.openxmlformats.org/drawingml/2006/main" w="0">
            <a:solidFill>
              <a:srgbClr val="E30613"/>
            </a:solidFill>
          </a:ln>
        </p:spPr>
      </p:sp>
      <p:sp>
        <p:nvSpPr>
          <p:cNvPr id="11" name="Project text 8">
            <a:extLst xmlns:a="http://schemas.openxmlformats.org/drawingml/2006/main">
              <a:ext uri="{FF2B5EF4-FFF2-40B4-BE49-F238E27FC236}">
                <a16:creationId xmlns:a16="http://schemas.microsoft.com/office/drawing/2014/main" id="{E6C86BB7-6291-47FE-A2DF-CC7E9E2D5898}"/>
              </a:ext>
            </a:extLst>
          </p:cNvPr>
          <p:cNvSpPr>
            <a:spLocks xmlns:a="http://schemas.openxmlformats.org/drawingml/2006/main" noGrp="1"/>
          </p:cNvSpPr>
          <p:nvPr/>
        </p:nvSpPr>
        <p:spPr>
          <a:xfrm xmlns:a="http://schemas.openxmlformats.org/drawingml/2006/main">
            <a:off x="5141862" y="5014532"/>
            <a:ext cx="230353" cy="3853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167" b="0">
                <a:solidFill>
                  <a:srgbClr val="E30613"/>
                </a:solidFill>
                <a:latin typeface="Cambria Math"/>
                <a:ea typeface="Cambria Math"/>
                <a:cs typeface="Cambria Math"/>
              </a:defRPr>
            </a:pPr>
            <a:r>
              <a:rPr sz="2167" b="0">
                <a:solidFill>
                  <a:srgbClr val="E30613"/>
                </a:solidFill>
                <a:latin typeface="Cambria Math"/>
                <a:ea typeface="Cambria Math"/>
                <a:cs typeface="Cambria Math"/>
              </a:rPr>
              <a:t>3</a:t>
            </a:r>
          </a:p>
        </p:txBody>
      </p:sp>
      <p:sp>
        <p:nvSpPr>
          <p:cNvPr id="12" name="Project text 9">
            <a:extLst xmlns:a="http://schemas.openxmlformats.org/drawingml/2006/main">
              <a:ext uri="{FF2B5EF4-FFF2-40B4-BE49-F238E27FC236}">
                <a16:creationId xmlns:a16="http://schemas.microsoft.com/office/drawing/2014/main" id="{545AF4D5-DD99-42B0-BBFF-244F2692CA61}"/>
              </a:ext>
            </a:extLst>
          </p:cNvPr>
          <p:cNvSpPr>
            <a:spLocks xmlns:a="http://schemas.openxmlformats.org/drawingml/2006/main" noGrp="1"/>
          </p:cNvSpPr>
          <p:nvPr/>
        </p:nvSpPr>
        <p:spPr>
          <a:xfrm xmlns:a="http://schemas.openxmlformats.org/drawingml/2006/main">
            <a:off x="6142101" y="4730687"/>
            <a:ext cx="219075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550" b="0">
                <a:solidFill>
                  <a:srgbClr val="E30613"/>
                </a:solidFill>
                <a:latin typeface="Cambria Math"/>
                <a:ea typeface="Cambria Math"/>
                <a:cs typeface="Cambria Math"/>
              </a:defRPr>
            </a:pPr>
            <a:r>
              <a:rPr sz="2550" b="0">
                <a:solidFill>
                  <a:srgbClr val="E30613"/>
                </a:solidFill>
                <a:latin typeface="Cambria Math"/>
                <a:ea typeface="Cambria Math"/>
                <a:cs typeface="Cambria Math"/>
              </a:rPr>
              <a:t> = +33.3</a:t>
            </a:r>
          </a:p>
        </p:txBody>
      </p:sp>
      <p:sp>
        <p:nvSpPr>
          <p:cNvPr id="13" name="Project text 10">
            <a:extLst xmlns:a="http://schemas.openxmlformats.org/drawingml/2006/main">
              <a:ext uri="{FF2B5EF4-FFF2-40B4-BE49-F238E27FC236}">
                <a16:creationId xmlns:a16="http://schemas.microsoft.com/office/drawing/2014/main" id="{157BA2C2-52AB-424E-BC2B-FB09C1578827}"/>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Display “3 mentions: 2 positive, 1 negative” next to the bar.</a:t>
            </a:r>
          </a:p>
        </p:txBody>
      </p:sp>
    </p:spTree>
    <p:extLst>
      <p:ext uri="{BB962C8B-B14F-4D97-AF65-F5344CB8AC3E}">
        <p14:creationId xmlns:p14="http://schemas.microsoft.com/office/powerpoint/2010/main" val="49144901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ILLUSTRATIVE RESULT</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What the website should show</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32</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
            <a:extLst xmlns:a="http://schemas.openxmlformats.org/drawingml/2006/main">
              <a:ext uri="{FF2B5EF4-FFF2-40B4-BE49-F238E27FC236}">
                <a16:creationId xmlns:a16="http://schemas.microsoft.com/office/drawing/2014/main" id="{8394E19E-5226-4F90-9873-E77F38E5CFAF}"/>
              </a:ext>
            </a:extLst>
          </p:cNvPr>
          <p:cNvSpPr>
            <a:spLocks xmlns:a="http://schemas.openxmlformats.org/drawingml/2006/main" noGrp="1"/>
          </p:cNvSpPr>
          <p:nvPr/>
        </p:nvSpPr>
        <p:spPr>
          <a:xfrm xmlns:a="http://schemas.openxmlformats.org/drawingml/2006/main">
            <a:off x="895350" y="1809750"/>
            <a:ext cx="10382250" cy="390525"/>
          </a:xfrm>
          <a:prstGeom xmlns:a="http://schemas.openxmlformats.org/drawingml/2006/main" prst="rect">
            <a:avLst/>
          </a:prstGeom>
          <a:solidFill xmlns:a="http://schemas.openxmlformats.org/drawingml/2006/main">
            <a:srgbClr val="F0F2F5"/>
          </a:solidFill>
          <a:ln xmlns:a="http://schemas.openxmlformats.org/drawingml/2006/main" w="9525">
            <a:solidFill>
              <a:srgbClr val="C8CED6"/>
            </a:solidFill>
          </a:ln>
        </p:spPr>
      </p:sp>
      <p:sp>
        <p:nvSpPr>
          <p:cNvPr id="8" name="Project text 6">
            <a:extLst xmlns:a="http://schemas.openxmlformats.org/drawingml/2006/main">
              <a:ext uri="{FF2B5EF4-FFF2-40B4-BE49-F238E27FC236}">
                <a16:creationId xmlns:a16="http://schemas.microsoft.com/office/drawing/2014/main" id="{0309751E-FEFE-4E5E-A851-EDB6789C9831}"/>
              </a:ext>
            </a:extLst>
          </p:cNvPr>
          <p:cNvSpPr>
            <a:spLocks xmlns:a="http://schemas.openxmlformats.org/drawingml/2006/main" noGrp="1"/>
          </p:cNvSpPr>
          <p:nvPr/>
        </p:nvSpPr>
        <p:spPr>
          <a:xfrm xmlns:a="http://schemas.openxmlformats.org/drawingml/2006/main">
            <a:off x="1057275" y="1895475"/>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111111"/>
                </a:solidFill>
                <a:latin typeface="Arial"/>
                <a:ea typeface="Arial"/>
                <a:cs typeface="Arial"/>
              </a:defRPr>
            </a:pPr>
            <a:r>
              <a:rPr sz="1725" b="1">
                <a:solidFill>
                  <a:srgbClr val="111111"/>
                </a:solidFill>
                <a:latin typeface="Arial"/>
                <a:ea typeface="Arial"/>
                <a:cs typeface="Arial"/>
              </a:rPr>
              <a:t>Hotel Review Analyzer</a:t>
            </a:r>
          </a:p>
        </p:txBody>
      </p:sp>
      <p:sp>
        <p:nvSpPr>
          <p:cNvPr id="9" name="Project text 7">
            <a:extLst xmlns:a="http://schemas.openxmlformats.org/drawingml/2006/main">
              <a:ext uri="{FF2B5EF4-FFF2-40B4-BE49-F238E27FC236}">
                <a16:creationId xmlns:a16="http://schemas.microsoft.com/office/drawing/2014/main" id="{2614CF81-D7BD-4A77-909F-50F96559AB3C}"/>
              </a:ext>
            </a:extLst>
          </p:cNvPr>
          <p:cNvSpPr>
            <a:spLocks xmlns:a="http://schemas.openxmlformats.org/drawingml/2006/main" noGrp="1"/>
          </p:cNvSpPr>
          <p:nvPr/>
        </p:nvSpPr>
        <p:spPr>
          <a:xfrm xmlns:a="http://schemas.openxmlformats.org/drawingml/2006/main">
            <a:off x="7696200" y="1933575"/>
            <a:ext cx="33432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46B73"/>
                </a:solidFill>
                <a:latin typeface="Arial"/>
                <a:ea typeface="Arial"/>
                <a:cs typeface="Arial"/>
              </a:defRPr>
            </a:pPr>
            <a:r>
              <a:rPr sz="1350" b="0">
                <a:solidFill>
                  <a:srgbClr val="646B73"/>
                </a:solidFill>
                <a:latin typeface="Arial"/>
                <a:ea typeface="Arial"/>
                <a:cs typeface="Arial"/>
              </a:rPr>
              <a:t>Signed in: student01     Log out</a:t>
            </a:r>
          </a:p>
        </p:txBody>
      </p:sp>
      <p:sp>
        <p:nvSpPr>
          <p:cNvPr id="10" name="Project text 8">
            <a:extLst xmlns:a="http://schemas.openxmlformats.org/drawingml/2006/main">
              <a:ext uri="{FF2B5EF4-FFF2-40B4-BE49-F238E27FC236}">
                <a16:creationId xmlns:a16="http://schemas.microsoft.com/office/drawing/2014/main" id="{DD2D95ED-669E-4467-8B3A-B92EB95CA66A}"/>
              </a:ext>
            </a:extLst>
          </p:cNvPr>
          <p:cNvSpPr>
            <a:spLocks xmlns:a="http://schemas.openxmlformats.org/drawingml/2006/main" noGrp="1"/>
          </p:cNvSpPr>
          <p:nvPr/>
        </p:nvSpPr>
        <p:spPr>
          <a:xfrm xmlns:a="http://schemas.openxmlformats.org/drawingml/2006/main">
            <a:off x="1057275" y="2400300"/>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11111"/>
                </a:solidFill>
                <a:latin typeface="Arial"/>
                <a:ea typeface="Arial"/>
                <a:cs typeface="Arial"/>
              </a:defRPr>
            </a:pPr>
            <a:r>
              <a:rPr sz="1800" b="1">
                <a:solidFill>
                  <a:srgbClr val="111111"/>
                </a:solidFill>
                <a:latin typeface="Arial"/>
                <a:ea typeface="Arial"/>
                <a:cs typeface="Arial"/>
              </a:rPr>
              <a:t>Paste a review</a:t>
            </a:r>
          </a:p>
        </p:txBody>
      </p:sp>
      <p:sp>
        <p:nvSpPr>
          <p:cNvPr id="11" name="">
            <a:extLst xmlns:a="http://schemas.openxmlformats.org/drawingml/2006/main">
              <a:ext uri="{FF2B5EF4-FFF2-40B4-BE49-F238E27FC236}">
                <a16:creationId xmlns:a16="http://schemas.microsoft.com/office/drawing/2014/main" id="{EDECB299-4E84-4F45-BA47-F9668E1C48F8}"/>
              </a:ext>
            </a:extLst>
          </p:cNvPr>
          <p:cNvSpPr>
            <a:spLocks xmlns:a="http://schemas.openxmlformats.org/drawingml/2006/main" noGrp="1"/>
          </p:cNvSpPr>
          <p:nvPr/>
        </p:nvSpPr>
        <p:spPr>
          <a:xfrm xmlns:a="http://schemas.openxmlformats.org/drawingml/2006/main">
            <a:off x="1057275" y="2828925"/>
            <a:ext cx="3667125" cy="2066925"/>
          </a:xfrm>
          <a:prstGeom xmlns:a="http://schemas.openxmlformats.org/drawingml/2006/main" prst="rect">
            <a:avLst/>
          </a:prstGeom>
          <a:solidFill xmlns:a="http://schemas.openxmlformats.org/drawingml/2006/main">
            <a:srgbClr val="FFFFFF"/>
          </a:solidFill>
          <a:ln xmlns:a="http://schemas.openxmlformats.org/drawingml/2006/main" w="9525">
            <a:solidFill>
              <a:srgbClr val="B5BCC6"/>
            </a:solidFill>
          </a:ln>
        </p:spPr>
      </p:sp>
      <p:sp>
        <p:nvSpPr>
          <p:cNvPr id="12" name="Project text 10">
            <a:extLst xmlns:a="http://schemas.openxmlformats.org/drawingml/2006/main">
              <a:ext uri="{FF2B5EF4-FFF2-40B4-BE49-F238E27FC236}">
                <a16:creationId xmlns:a16="http://schemas.microsoft.com/office/drawing/2014/main" id="{CA0414FC-336B-4ADD-8CA5-0BFD28586322}"/>
              </a:ext>
            </a:extLst>
          </p:cNvPr>
          <p:cNvSpPr>
            <a:spLocks xmlns:a="http://schemas.openxmlformats.org/drawingml/2006/main" noGrp="1"/>
          </p:cNvSpPr>
          <p:nvPr/>
        </p:nvSpPr>
        <p:spPr>
          <a:xfrm xmlns:a="http://schemas.openxmlformats.org/drawingml/2006/main">
            <a:off x="1200150" y="2952750"/>
            <a:ext cx="334327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11111"/>
                </a:solidFill>
                <a:latin typeface="Arial"/>
                <a:ea typeface="Noto Sans CJK SC"/>
                <a:cs typeface="Noto Sans CJK SC"/>
              </a:defRPr>
            </a:pPr>
            <a:r>
              <a:rPr sz="1575" b="0">
                <a:solidFill>
                  <a:srgbClr val="111111"/>
                </a:solidFill>
                <a:latin typeface="Arial"/>
                <a:ea typeface="Noto Sans CJK SC"/>
                <a:cs typeface="Noto Sans CJK SC"/>
              </a:rPr>
              <a:t>房间很干净，床也很舒服。</a:t>
            </a:r>
          </a:p>
          <a:p xmlns:a="http://schemas.openxmlformats.org/drawingml/2006/main">
            <a:pPr>
              <a:defRPr sz="1575" b="0">
                <a:solidFill>
                  <a:srgbClr val="111111"/>
                </a:solidFill>
                <a:latin typeface="Arial"/>
                <a:ea typeface="Noto Sans CJK SC"/>
                <a:cs typeface="Noto Sans CJK SC"/>
              </a:defRPr>
            </a:pPr>
            <a:r>
              <a:rPr sz="1575" b="0">
                <a:solidFill>
                  <a:srgbClr val="111111"/>
                </a:solidFill>
                <a:latin typeface="Arial"/>
                <a:ea typeface="Noto Sans CJK SC"/>
                <a:cs typeface="Noto Sans CJK SC"/>
              </a:rPr>
              <a:t>但是晚上隔音不好。</a:t>
            </a:r>
          </a:p>
          <a:p xmlns:a="http://schemas.openxmlformats.org/drawingml/2006/main">
            <a:pPr>
              <a:defRPr sz="1575" b="0">
                <a:solidFill>
                  <a:srgbClr val="111111"/>
                </a:solidFill>
                <a:latin typeface="Arial"/>
                <a:ea typeface="Noto Sans CJK SC"/>
                <a:cs typeface="Noto Sans CJK SC"/>
              </a:defRPr>
            </a:pPr>
            <a:r>
              <a:rPr sz="1575" b="0">
                <a:solidFill>
                  <a:srgbClr val="111111"/>
                </a:solidFill>
                <a:latin typeface="Arial"/>
                <a:ea typeface="Noto Sans CJK SC"/>
                <a:cs typeface="Noto Sans CJK SC"/>
              </a:rPr>
              <a:t>空调也不好用。</a:t>
            </a:r>
          </a:p>
          <a:p xmlns:a="http://schemas.openxmlformats.org/drawingml/2006/main">
            <a:pPr>
              <a:defRPr sz="1575" b="0">
                <a:solidFill>
                  <a:srgbClr val="111111"/>
                </a:solidFill>
                <a:latin typeface="Arial"/>
                <a:ea typeface="Noto Sans CJK SC"/>
                <a:cs typeface="Noto Sans CJK SC"/>
              </a:defRPr>
            </a:pPr>
            <a:r>
              <a:rPr sz="1575" b="0">
                <a:solidFill>
                  <a:srgbClr val="111111"/>
                </a:solidFill>
                <a:latin typeface="Arial"/>
                <a:ea typeface="Noto Sans CJK SC"/>
                <a:cs typeface="Noto Sans CJK SC"/>
              </a:rPr>
              <a:t>前台态度不好。</a:t>
            </a:r>
          </a:p>
          <a:p xmlns:a="http://schemas.openxmlformats.org/drawingml/2006/main">
            <a:pPr>
              <a:defRPr sz="1575" b="0">
                <a:solidFill>
                  <a:srgbClr val="111111"/>
                </a:solidFill>
                <a:latin typeface="Arial"/>
                <a:ea typeface="Noto Sans CJK SC"/>
                <a:cs typeface="Noto Sans CJK SC"/>
              </a:defRPr>
            </a:pPr>
            <a:r>
              <a:rPr sz="1575" b="0">
                <a:solidFill>
                  <a:srgbClr val="111111"/>
                </a:solidFill>
                <a:latin typeface="Arial"/>
                <a:ea typeface="Noto Sans CJK SC"/>
                <a:cs typeface="Noto Sans CJK SC"/>
              </a:rPr>
              <a:t>第二天服务员主动帮我换房，服务很好。</a:t>
            </a:r>
          </a:p>
          <a:p xmlns:a="http://schemas.openxmlformats.org/drawingml/2006/main">
            <a:pPr>
              <a:defRPr sz="1575" b="0">
                <a:solidFill>
                  <a:srgbClr val="111111"/>
                </a:solidFill>
                <a:latin typeface="Arial"/>
                <a:ea typeface="Noto Sans CJK SC"/>
                <a:cs typeface="Noto Sans CJK SC"/>
              </a:defRPr>
            </a:pPr>
            <a:r>
              <a:rPr sz="1575" b="0">
                <a:solidFill>
                  <a:srgbClr val="111111"/>
                </a:solidFill>
                <a:latin typeface="Arial"/>
                <a:ea typeface="Noto Sans CJK SC"/>
                <a:cs typeface="Noto Sans CJK SC"/>
              </a:rPr>
              <a:t>退房办理得很快。</a:t>
            </a:r>
          </a:p>
          <a:p xmlns:a="http://schemas.openxmlformats.org/drawingml/2006/main">
            <a:pPr>
              <a:defRPr sz="1575" b="0">
                <a:solidFill>
                  <a:srgbClr val="111111"/>
                </a:solidFill>
                <a:latin typeface="Arial"/>
                <a:ea typeface="Noto Sans CJK SC"/>
                <a:cs typeface="Noto Sans CJK SC"/>
              </a:defRPr>
            </a:pPr>
            <a:r>
              <a:rPr sz="1575" b="0">
                <a:solidFill>
                  <a:srgbClr val="111111"/>
                </a:solidFill>
                <a:latin typeface="Arial"/>
                <a:ea typeface="Noto Sans CJK SC"/>
                <a:cs typeface="Noto Sans CJK SC"/>
              </a:rPr>
              <a:t>去地铁站很方便。</a:t>
            </a:r>
          </a:p>
        </p:txBody>
      </p:sp>
      <p:sp>
        <p:nvSpPr>
          <p:cNvPr id="13" name="">
            <a:extLst xmlns:a="http://schemas.openxmlformats.org/drawingml/2006/main">
              <a:ext uri="{FF2B5EF4-FFF2-40B4-BE49-F238E27FC236}">
                <a16:creationId xmlns:a16="http://schemas.microsoft.com/office/drawing/2014/main" id="{31F8E5AC-885D-4A1D-B6A2-63B6086C5CB3}"/>
              </a:ext>
            </a:extLst>
          </p:cNvPr>
          <p:cNvSpPr>
            <a:spLocks xmlns:a="http://schemas.openxmlformats.org/drawingml/2006/main" noGrp="1"/>
          </p:cNvSpPr>
          <p:nvPr/>
        </p:nvSpPr>
        <p:spPr>
          <a:xfrm xmlns:a="http://schemas.openxmlformats.org/drawingml/2006/main">
            <a:off x="1057275" y="5057775"/>
            <a:ext cx="1619250" cy="371475"/>
          </a:xfrm>
          <a:prstGeom xmlns:a="http://schemas.openxmlformats.org/drawingml/2006/main" prst="rect">
            <a:avLst/>
          </a:prstGeom>
          <a:solidFill xmlns:a="http://schemas.openxmlformats.org/drawingml/2006/main">
            <a:srgbClr val="2861FF"/>
          </a:solidFill>
          <a:ln xmlns:a="http://schemas.openxmlformats.org/drawingml/2006/main" w="9525">
            <a:solidFill>
              <a:srgbClr val="2861FF"/>
            </a:solidFill>
          </a:ln>
        </p:spPr>
      </p:sp>
      <p:sp>
        <p:nvSpPr>
          <p:cNvPr id="14" name="Project text 12">
            <a:extLst xmlns:a="http://schemas.openxmlformats.org/drawingml/2006/main">
              <a:ext uri="{FF2B5EF4-FFF2-40B4-BE49-F238E27FC236}">
                <a16:creationId xmlns:a16="http://schemas.microsoft.com/office/drawing/2014/main" id="{240772D7-7A93-4B61-BE95-E75E62E67852}"/>
              </a:ext>
            </a:extLst>
          </p:cNvPr>
          <p:cNvSpPr>
            <a:spLocks xmlns:a="http://schemas.openxmlformats.org/drawingml/2006/main" noGrp="1"/>
          </p:cNvSpPr>
          <p:nvPr/>
        </p:nvSpPr>
        <p:spPr>
          <a:xfrm xmlns:a="http://schemas.openxmlformats.org/drawingml/2006/main">
            <a:off x="1190625" y="51435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Analyze review</a:t>
            </a:r>
          </a:p>
        </p:txBody>
      </p:sp>
      <p:sp>
        <p:nvSpPr>
          <p:cNvPr id="15" name="Project text 13">
            <a:extLst xmlns:a="http://schemas.openxmlformats.org/drawingml/2006/main">
              <a:ext uri="{FF2B5EF4-FFF2-40B4-BE49-F238E27FC236}">
                <a16:creationId xmlns:a16="http://schemas.microsoft.com/office/drawing/2014/main" id="{23D5342A-2DA7-443D-8235-4E3A11BD9F4A}"/>
              </a:ext>
            </a:extLst>
          </p:cNvPr>
          <p:cNvSpPr>
            <a:spLocks xmlns:a="http://schemas.openxmlformats.org/drawingml/2006/main" noGrp="1"/>
          </p:cNvSpPr>
          <p:nvPr/>
        </p:nvSpPr>
        <p:spPr>
          <a:xfrm xmlns:a="http://schemas.openxmlformats.org/drawingml/2006/main">
            <a:off x="5095875" y="2362200"/>
            <a:ext cx="595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1111"/>
                </a:solidFill>
                <a:latin typeface="Arial"/>
                <a:ea typeface="Arial"/>
                <a:cs typeface="Arial"/>
              </a:defRPr>
            </a:pPr>
            <a:r>
              <a:rPr sz="1875" b="1">
                <a:solidFill>
                  <a:srgbClr val="111111"/>
                </a:solidFill>
                <a:latin typeface="Arial"/>
                <a:ea typeface="Arial"/>
                <a:cs typeface="Arial"/>
              </a:rPr>
              <a:t>Review sentiment scores</a:t>
            </a:r>
          </a:p>
        </p:txBody>
      </p:sp>
      <p:graphicFrame>
        <p:nvGraphicFramePr>
          <p:cNvPr id="33" name="Chart"/>
          <p:cNvGraphicFramePr/>
          <p:nvPr/>
        </p:nvGraphicFramePr>
        <p:xfrm>
          <a:off xmlns:a="http://schemas.openxmlformats.org/drawingml/2006/main" x="5010150" y="2752725"/>
          <a:ext xmlns:a="http://schemas.openxmlformats.org/drawingml/2006/main" cx="6105525" cy="2619375"/>
        </p:xfrm>
        <a:graphic xmlns:a="http://schemas.openxmlformats.org/drawingml/2006/main">
          <a:graphicData uri="http://schemas.openxmlformats.org/drawingml/2006/chart">
            <c:chart xmlns:r="http://schemas.openxmlformats.org/officeDocument/2006/relationships" xmlns:c="http://schemas.openxmlformats.org/drawingml/2006/chart" r:id="Rb4ab6116063348fd"/>
          </a:graphicData>
        </a:graphic>
      </p:graphicFrame>
      <p:sp>
        <p:nvSpPr>
          <p:cNvPr id="17" name="Project text 14">
            <a:extLst xmlns:a="http://schemas.openxmlformats.org/drawingml/2006/main">
              <a:ext uri="{FF2B5EF4-FFF2-40B4-BE49-F238E27FC236}">
                <a16:creationId xmlns:a16="http://schemas.microsoft.com/office/drawing/2014/main" id="{5D9878F6-5E07-4ACC-A45B-79317B5FFC0F}"/>
              </a:ext>
            </a:extLst>
          </p:cNvPr>
          <p:cNvSpPr>
            <a:spLocks xmlns:a="http://schemas.openxmlformats.org/drawingml/2006/main" noGrp="1"/>
          </p:cNvSpPr>
          <p:nvPr/>
        </p:nvSpPr>
        <p:spPr>
          <a:xfrm xmlns:a="http://schemas.openxmlformats.org/drawingml/2006/main">
            <a:off x="5200650" y="5476875"/>
            <a:ext cx="590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46B73"/>
                </a:solidFill>
                <a:latin typeface="Arial"/>
                <a:ea typeface="Arial"/>
                <a:cs typeface="Arial"/>
              </a:defRPr>
            </a:pPr>
            <a:r>
              <a:rPr sz="1500" b="0">
                <a:solidFill>
                  <a:srgbClr val="646B73"/>
                </a:solidFill>
                <a:latin typeface="Arial"/>
                <a:ea typeface="Arial"/>
                <a:cs typeface="Arial"/>
              </a:rPr>
              <a:t>Food: Not mentioned     Value: Not mentioned</a:t>
            </a:r>
          </a:p>
        </p:txBody>
      </p:sp>
      <p:sp>
        <p:nvSpPr>
          <p:cNvPr id="18" name="Project text 15">
            <a:extLst xmlns:a="http://schemas.openxmlformats.org/drawingml/2006/main">
              <a:ext uri="{FF2B5EF4-FFF2-40B4-BE49-F238E27FC236}">
                <a16:creationId xmlns:a16="http://schemas.microsoft.com/office/drawing/2014/main" id="{EF4280D3-3C0D-41ED-9771-6B32326689F3}"/>
              </a:ext>
            </a:extLst>
          </p:cNvPr>
          <p:cNvSpPr>
            <a:spLocks xmlns:a="http://schemas.openxmlformats.org/drawingml/2006/main" noGrp="1"/>
          </p:cNvSpPr>
          <p:nvPr/>
        </p:nvSpPr>
        <p:spPr>
          <a:xfrm xmlns:a="http://schemas.openxmlformats.org/drawingml/2006/main">
            <a:off x="1057275" y="5867400"/>
            <a:ext cx="10020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2861FF"/>
                </a:solidFill>
                <a:latin typeface="Arial"/>
                <a:ea typeface="Arial"/>
                <a:cs typeface="Arial"/>
              </a:defRPr>
            </a:pPr>
            <a:r>
              <a:rPr sz="1500" b="1">
                <a:solidFill>
                  <a:srgbClr val="2861FF"/>
                </a:solidFill>
                <a:latin typeface="Arial"/>
                <a:ea typeface="Arial"/>
                <a:cs typeface="Arial"/>
              </a:rPr>
              <a:t>Service: 3 mentions, 2 positive and 1 negative. Click to view the sentences.</a:t>
            </a:r>
          </a:p>
        </p:txBody>
      </p:sp>
    </p:spTree>
    <p:extLst>
      <p:ext uri="{BB962C8B-B14F-4D97-AF65-F5344CB8AC3E}">
        <p14:creationId xmlns:p14="http://schemas.microsoft.com/office/powerpoint/2010/main" val="49144901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INTERPRETING THE CHART</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Zero and missing scores mean different things</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33</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4" name=""/>
          <p:cNvGraphicFramePr/>
          <p:nvPr/>
        </p:nvGraphicFramePr>
        <p:xfrm>
          <a:off xmlns:a="http://schemas.openxmlformats.org/drawingml/2006/main" x="895350" y="2133600"/>
          <a:ext xmlns:a="http://schemas.openxmlformats.org/drawingml/2006/main" cx="10382250" cy="2762250"/>
        </p:xfrm>
        <a:graphic xmlns:a="http://schemas.openxmlformats.org/drawingml/2006/main">
          <a:graphicData uri="http://schemas.openxmlformats.org/drawingml/2006/table">
            <a:tbl>
              <a:tblPr/>
              <a:tblGrid>
                <a:gridCol w="4333875"/>
                <a:gridCol w="2047875"/>
                <a:gridCol w="4000500"/>
              </a:tblGrid>
              <a:tr h="552450">
                <a:tc>
                  <a:txBody>
                    <a:bodyPr/>
                    <a:lstStyle/>
                    <a:p>
                      <a:r>
                        <a:rPr sz="1800" b="1">
                          <a:solidFill>
                            <a:srgbClr val="E30613"/>
                          </a:solidFill>
                          <a:latin typeface="Arial"/>
                          <a:ea typeface="Arial"/>
                          <a:cs typeface="Arial"/>
                        </a:rPr>
                        <a:t>Evidence for one aspect</a:t>
                      </a:r>
                    </a:p>
                  </a:txBody>
                  <a:tcPr marL="76200" marR="76200" marT="38100" marB="38100">
                    <a:solidFill>
                      <a:srgbClr val="FFF0F2"/>
                    </a:solidFill>
                  </a:tcPr>
                </a:tc>
                <a:tc>
                  <a:txBody>
                    <a:bodyPr/>
                    <a:lstStyle/>
                    <a:p>
                      <a:r>
                        <a:rPr sz="1800" b="1">
                          <a:solidFill>
                            <a:srgbClr val="E30613"/>
                          </a:solidFill>
                          <a:latin typeface="Arial"/>
                          <a:ea typeface="Arial"/>
                          <a:cs typeface="Arial"/>
                        </a:rPr>
                        <a:t>Score</a:t>
                      </a:r>
                    </a:p>
                  </a:txBody>
                  <a:tcPr marL="76200" marR="76200" marT="38100" marB="38100">
                    <a:solidFill>
                      <a:srgbClr val="FFF0F2"/>
                    </a:solidFill>
                  </a:tcPr>
                </a:tc>
                <a:tc>
                  <a:txBody>
                    <a:bodyPr/>
                    <a:lstStyle/>
                    <a:p>
                      <a:r>
                        <a:rPr sz="1800" b="1">
                          <a:solidFill>
                            <a:srgbClr val="E30613"/>
                          </a:solidFill>
                          <a:latin typeface="Arial"/>
                          <a:ea typeface="Arial"/>
                          <a:cs typeface="Arial"/>
                        </a:rPr>
                        <a:t>What the user should see</a:t>
                      </a:r>
                    </a:p>
                  </a:txBody>
                  <a:tcPr marL="76200" marR="76200" marT="38100" marB="38100">
                    <a:solidFill>
                      <a:srgbClr val="FFF0F2"/>
                    </a:solidFill>
                  </a:tcPr>
                </a:tc>
              </a:tr>
              <a:tr h="552450">
                <a:tc>
                  <a:txBody>
                    <a:bodyPr/>
                    <a:lstStyle/>
                    <a:p>
                      <a:r>
                        <a:rPr sz="1875" b="0">
                          <a:solidFill>
                            <a:srgbClr val="111111"/>
                          </a:solidFill>
                          <a:latin typeface="Arial"/>
                          <a:ea typeface="Arial"/>
                          <a:cs typeface="Arial"/>
                        </a:rPr>
                        <a:t>No sentence mentions it</a:t>
                      </a:r>
                    </a:p>
                  </a:txBody>
                  <a:tcPr marL="76200" marR="76200" marT="38100" marB="38100">
                    <a:solidFill>
                      <a:srgbClr val="FFFFFF"/>
                    </a:solidFill>
                  </a:tcPr>
                </a:tc>
                <a:tc>
                  <a:txBody>
                    <a:bodyPr/>
                    <a:lstStyle/>
                    <a:p>
                      <a:r>
                        <a:rPr sz="1875" b="0">
                          <a:solidFill>
                            <a:srgbClr val="111111"/>
                          </a:solidFill>
                          <a:latin typeface="Arial"/>
                          <a:ea typeface="Arial"/>
                          <a:cs typeface="Arial"/>
                        </a:rPr>
                        <a:t>Not mentioned</a:t>
                      </a:r>
                    </a:p>
                  </a:txBody>
                  <a:tcPr marL="76200" marR="76200" marT="38100" marB="38100">
                    <a:solidFill>
                      <a:srgbClr val="FFFFFF"/>
                    </a:solidFill>
                  </a:tcPr>
                </a:tc>
                <a:tc>
                  <a:txBody>
                    <a:bodyPr/>
                    <a:lstStyle/>
                    <a:p>
                      <a:r>
                        <a:rPr sz="1875" b="0">
                          <a:solidFill>
                            <a:srgbClr val="111111"/>
                          </a:solidFill>
                          <a:latin typeface="Arial"/>
                          <a:ea typeface="Arial"/>
                          <a:cs typeface="Arial"/>
                        </a:rPr>
                        <a:t>No bar and zero mentions</a:t>
                      </a:r>
                    </a:p>
                  </a:txBody>
                  <a:tcPr marL="76200" marR="76200" marT="38100" marB="38100">
                    <a:solidFill>
                      <a:srgbClr val="FFFFFF"/>
                    </a:solidFill>
                  </a:tcPr>
                </a:tc>
              </a:tr>
              <a:tr h="552450">
                <a:tc>
                  <a:txBody>
                    <a:bodyPr/>
                    <a:lstStyle/>
                    <a:p>
                      <a:r>
                        <a:rPr sz="1875" b="0">
                          <a:solidFill>
                            <a:srgbClr val="111111"/>
                          </a:solidFill>
                          <a:latin typeface="Arial"/>
                          <a:ea typeface="Arial"/>
                          <a:cs typeface="Arial"/>
                        </a:rPr>
                        <a:t>One neutral sentence</a:t>
                      </a:r>
                    </a:p>
                  </a:txBody>
                  <a:tcPr marL="76200" marR="76200" marT="38100" marB="38100">
                    <a:solidFill>
                      <a:srgbClr val="F4F5F7"/>
                    </a:solidFill>
                  </a:tcPr>
                </a:tc>
                <a:tc>
                  <a:txBody>
                    <a:bodyPr/>
                    <a:lstStyle/>
                    <a:p>
                      <a:r>
                        <a:rPr sz="1875" b="0">
                          <a:solidFill>
                            <a:srgbClr val="111111"/>
                          </a:solidFill>
                          <a:latin typeface="Arial"/>
                          <a:ea typeface="Arial"/>
                          <a:cs typeface="Arial"/>
                        </a:rPr>
                        <a:t>0</a:t>
                      </a:r>
                    </a:p>
                  </a:txBody>
                  <a:tcPr marL="76200" marR="76200" marT="38100" marB="38100">
                    <a:solidFill>
                      <a:srgbClr val="F4F5F7"/>
                    </a:solidFill>
                  </a:tcPr>
                </a:tc>
                <a:tc>
                  <a:txBody>
                    <a:bodyPr/>
                    <a:lstStyle/>
                    <a:p>
                      <a:r>
                        <a:rPr sz="1875" b="0">
                          <a:solidFill>
                            <a:srgbClr val="111111"/>
                          </a:solidFill>
                          <a:latin typeface="Arial"/>
                          <a:ea typeface="Arial"/>
                          <a:cs typeface="Arial"/>
                        </a:rPr>
                        <a:t>1 neutral mention</a:t>
                      </a:r>
                    </a:p>
                  </a:txBody>
                  <a:tcPr marL="76200" marR="76200" marT="38100" marB="38100">
                    <a:solidFill>
                      <a:srgbClr val="F4F5F7"/>
                    </a:solidFill>
                  </a:tcPr>
                </a:tc>
              </a:tr>
              <a:tr h="552450">
                <a:tc>
                  <a:txBody>
                    <a:bodyPr/>
                    <a:lstStyle/>
                    <a:p>
                      <a:r>
                        <a:rPr sz="1875" b="0">
                          <a:solidFill>
                            <a:srgbClr val="111111"/>
                          </a:solidFill>
                          <a:latin typeface="Arial"/>
                          <a:ea typeface="Arial"/>
                          <a:cs typeface="Arial"/>
                        </a:rPr>
                        <a:t>One mixed sentence</a:t>
                      </a:r>
                    </a:p>
                  </a:txBody>
                  <a:tcPr marL="76200" marR="76200" marT="38100" marB="38100">
                    <a:solidFill>
                      <a:srgbClr val="FFFFFF"/>
                    </a:solidFill>
                  </a:tcPr>
                </a:tc>
                <a:tc>
                  <a:txBody>
                    <a:bodyPr/>
                    <a:lstStyle/>
                    <a:p>
                      <a:r>
                        <a:rPr sz="1875" b="0">
                          <a:solidFill>
                            <a:srgbClr val="111111"/>
                          </a:solidFill>
                          <a:latin typeface="Arial"/>
                          <a:ea typeface="Arial"/>
                          <a:cs typeface="Arial"/>
                        </a:rPr>
                        <a:t>0</a:t>
                      </a:r>
                    </a:p>
                  </a:txBody>
                  <a:tcPr marL="76200" marR="76200" marT="38100" marB="38100">
                    <a:solidFill>
                      <a:srgbClr val="FFFFFF"/>
                    </a:solidFill>
                  </a:tcPr>
                </a:tc>
                <a:tc>
                  <a:txBody>
                    <a:bodyPr/>
                    <a:lstStyle/>
                    <a:p>
                      <a:r>
                        <a:rPr sz="1875" b="0">
                          <a:solidFill>
                            <a:srgbClr val="111111"/>
                          </a:solidFill>
                          <a:latin typeface="Arial"/>
                          <a:ea typeface="Arial"/>
                          <a:cs typeface="Arial"/>
                        </a:rPr>
                        <a:t>1 mixed mention</a:t>
                      </a:r>
                    </a:p>
                  </a:txBody>
                  <a:tcPr marL="76200" marR="76200" marT="38100" marB="38100">
                    <a:solidFill>
                      <a:srgbClr val="FFFFFF"/>
                    </a:solidFill>
                  </a:tcPr>
                </a:tc>
              </a:tr>
              <a:tr h="552450">
                <a:tc>
                  <a:txBody>
                    <a:bodyPr/>
                    <a:lstStyle/>
                    <a:p>
                      <a:r>
                        <a:rPr sz="1875" b="0">
                          <a:solidFill>
                            <a:srgbClr val="111111"/>
                          </a:solidFill>
                          <a:latin typeface="Arial"/>
                          <a:ea typeface="Arial"/>
                          <a:cs typeface="Arial"/>
                        </a:rPr>
                        <a:t>One positive and one negative</a:t>
                      </a:r>
                    </a:p>
                  </a:txBody>
                  <a:tcPr marL="76200" marR="76200" marT="38100" marB="38100">
                    <a:solidFill>
                      <a:srgbClr val="F4F5F7"/>
                    </a:solidFill>
                  </a:tcPr>
                </a:tc>
                <a:tc>
                  <a:txBody>
                    <a:bodyPr/>
                    <a:lstStyle/>
                    <a:p>
                      <a:r>
                        <a:rPr sz="1875" b="0">
                          <a:solidFill>
                            <a:srgbClr val="111111"/>
                          </a:solidFill>
                          <a:latin typeface="Arial"/>
                          <a:ea typeface="Arial"/>
                          <a:cs typeface="Arial"/>
                        </a:rPr>
                        <a:t>0</a:t>
                      </a:r>
                    </a:p>
                  </a:txBody>
                  <a:tcPr marL="76200" marR="76200" marT="38100" marB="38100">
                    <a:solidFill>
                      <a:srgbClr val="F4F5F7"/>
                    </a:solidFill>
                  </a:tcPr>
                </a:tc>
                <a:tc>
                  <a:txBody>
                    <a:bodyPr/>
                    <a:lstStyle/>
                    <a:p>
                      <a:r>
                        <a:rPr sz="1875" b="0">
                          <a:solidFill>
                            <a:srgbClr val="111111"/>
                          </a:solidFill>
                          <a:latin typeface="Arial"/>
                          <a:ea typeface="Arial"/>
                          <a:cs typeface="Arial"/>
                        </a:rPr>
                        <a:t>2 mentions with opposing views</a:t>
                      </a:r>
                    </a:p>
                  </a:txBody>
                  <a:tcPr marL="76200" marR="76200" marT="38100" marB="38100">
                    <a:solidFill>
                      <a:srgbClr val="F4F5F7"/>
                    </a:solidFill>
                  </a:tcPr>
                </a:tc>
              </a:tr>
            </a:tbl>
          </a:graphicData>
        </a:graphic>
      </p:graphicFrame>
      <p:sp>
        <p:nvSpPr>
          <p:cNvPr id="8" name="Project text 5">
            <a:extLst xmlns:a="http://schemas.openxmlformats.org/drawingml/2006/main">
              <a:ext uri="{FF2B5EF4-FFF2-40B4-BE49-F238E27FC236}">
                <a16:creationId xmlns:a16="http://schemas.microsoft.com/office/drawing/2014/main" id="{BB95BC19-D11C-4191-B5EE-7AD4E336D7F9}"/>
              </a:ext>
            </a:extLst>
          </p:cNvPr>
          <p:cNvSpPr>
            <a:spLocks xmlns:a="http://schemas.openxmlformats.org/drawingml/2006/main" noGrp="1"/>
          </p:cNvSpPr>
          <p:nvPr/>
        </p:nvSpPr>
        <p:spPr>
          <a:xfrm xmlns:a="http://schemas.openxmlformats.org/drawingml/2006/main">
            <a:off x="895350" y="52673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2861FF"/>
                </a:solidFill>
                <a:latin typeface="Arial"/>
                <a:ea typeface="Arial"/>
                <a:cs typeface="Arial"/>
              </a:defRPr>
            </a:pPr>
            <a:r>
              <a:rPr sz="2175" b="1">
                <a:solidFill>
                  <a:srgbClr val="2861FF"/>
                </a:solidFill>
                <a:latin typeface="Arial"/>
                <a:ea typeface="Arial"/>
                <a:cs typeface="Arial"/>
              </a:rPr>
              <a:t>Show state counts and evidence, so the same average does not hide different stories.</a:t>
            </a:r>
          </a:p>
        </p:txBody>
      </p:sp>
    </p:spTree>
    <p:extLst>
      <p:ext uri="{BB962C8B-B14F-4D97-AF65-F5344CB8AC3E}">
        <p14:creationId xmlns:p14="http://schemas.microsoft.com/office/powerpoint/2010/main" val="49144901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INFERENCE</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The same processing at training and deployment</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34</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4" name=""/>
          <p:cNvGraphicFramePr/>
          <p:nvPr/>
        </p:nvGraphicFramePr>
        <p:xfrm>
          <a:off xmlns:a="http://schemas.openxmlformats.org/drawingml/2006/main" x="895350" y="1943100"/>
          <a:ext xmlns:a="http://schemas.openxmlformats.org/drawingml/2006/main" cx="10382250" cy="3200400"/>
        </p:xfrm>
        <a:graphic xmlns:a="http://schemas.openxmlformats.org/drawingml/2006/main">
          <a:graphicData uri="http://schemas.openxmlformats.org/drawingml/2006/table">
            <a:tbl>
              <a:tblPr/>
              <a:tblGrid>
                <a:gridCol w="2809875"/>
                <a:gridCol w="7572375"/>
              </a:tblGrid>
              <a:tr h="457200">
                <a:tc>
                  <a:txBody>
                    <a:bodyPr/>
                    <a:lstStyle/>
                    <a:p>
                      <a:r>
                        <a:rPr sz="1725" b="1">
                          <a:solidFill>
                            <a:srgbClr val="E30613"/>
                          </a:solidFill>
                          <a:latin typeface="Arial"/>
                          <a:ea typeface="Arial"/>
                          <a:cs typeface="Arial"/>
                        </a:rPr>
                        <a:t>Stage</a:t>
                      </a:r>
                    </a:p>
                  </a:txBody>
                  <a:tcPr marL="76200" marR="76200" marT="38100" marB="38100">
                    <a:solidFill>
                      <a:srgbClr val="FFF0F2"/>
                    </a:solidFill>
                  </a:tcPr>
                </a:tc>
                <a:tc>
                  <a:txBody>
                    <a:bodyPr/>
                    <a:lstStyle/>
                    <a:p>
                      <a:r>
                        <a:rPr sz="1725" b="1">
                          <a:solidFill>
                            <a:srgbClr val="E30613"/>
                          </a:solidFill>
                          <a:latin typeface="Arial"/>
                          <a:ea typeface="Arial"/>
                          <a:cs typeface="Arial"/>
                        </a:rPr>
                        <a:t>Required behavior</a:t>
                      </a:r>
                    </a:p>
                  </a:txBody>
                  <a:tcPr marL="76200" marR="76200" marT="38100" marB="38100">
                    <a:solidFill>
                      <a:srgbClr val="FFF0F2"/>
                    </a:solidFill>
                  </a:tcPr>
                </a:tc>
              </a:tr>
              <a:tr h="457200">
                <a:tc>
                  <a:txBody>
                    <a:bodyPr/>
                    <a:lstStyle/>
                    <a:p>
                      <a:r>
                        <a:rPr sz="1800" b="0">
                          <a:solidFill>
                            <a:srgbClr val="111111"/>
                          </a:solidFill>
                          <a:latin typeface="Arial"/>
                          <a:ea typeface="Arial"/>
                          <a:cs typeface="Arial"/>
                        </a:rPr>
                        <a:t>Sentence splitting</a:t>
                      </a:r>
                    </a:p>
                  </a:txBody>
                  <a:tcPr marL="76200" marR="76200" marT="38100" marB="38100">
                    <a:solidFill>
                      <a:srgbClr val="FFFFFF"/>
                    </a:solidFill>
                  </a:tcPr>
                </a:tc>
                <a:tc>
                  <a:txBody>
                    <a:bodyPr/>
                    <a:lstStyle/>
                    <a:p>
                      <a:r>
                        <a:rPr sz="1800" b="0">
                          <a:solidFill>
                            <a:srgbClr val="111111"/>
                          </a:solidFill>
                          <a:latin typeface="Arial"/>
                          <a:ea typeface="Arial"/>
                          <a:cs typeface="Arial"/>
                        </a:rPr>
                        <a:t>Use a consistent rule and preserve sentence order</a:t>
                      </a:r>
                    </a:p>
                  </a:txBody>
                  <a:tcPr marL="76200" marR="76200" marT="38100" marB="38100">
                    <a:solidFill>
                      <a:srgbClr val="FFFFFF"/>
                    </a:solidFill>
                  </a:tcPr>
                </a:tc>
              </a:tr>
              <a:tr h="457200">
                <a:tc>
                  <a:txBody>
                    <a:bodyPr/>
                    <a:lstStyle/>
                    <a:p>
                      <a:r>
                        <a:rPr sz="1800" b="0">
                          <a:solidFill>
                            <a:srgbClr val="111111"/>
                          </a:solidFill>
                          <a:latin typeface="Arial"/>
                          <a:ea typeface="Arial"/>
                          <a:cs typeface="Arial"/>
                        </a:rPr>
                        <a:t>Embedding</a:t>
                      </a:r>
                    </a:p>
                  </a:txBody>
                  <a:tcPr marL="76200" marR="76200" marT="38100" marB="38100">
                    <a:solidFill>
                      <a:srgbClr val="F4F5F7"/>
                    </a:solidFill>
                  </a:tcPr>
                </a:tc>
                <a:tc>
                  <a:txBody>
                    <a:bodyPr/>
                    <a:lstStyle/>
                    <a:p>
                      <a:r>
                        <a:rPr sz="1800" b="0">
                          <a:solidFill>
                            <a:srgbClr val="111111"/>
                          </a:solidFill>
                          <a:latin typeface="Arial"/>
                          <a:ea typeface="Arial"/>
                          <a:cs typeface="Arial"/>
                        </a:rPr>
                        <a:t>qwen3.7-text-embedding, dimensions = 256</a:t>
                      </a:r>
                    </a:p>
                  </a:txBody>
                  <a:tcPr marL="76200" marR="76200" marT="38100" marB="38100">
                    <a:solidFill>
                      <a:srgbClr val="F4F5F7"/>
                    </a:solidFill>
                  </a:tcPr>
                </a:tc>
              </a:tr>
              <a:tr h="457200">
                <a:tc>
                  <a:txBody>
                    <a:bodyPr/>
                    <a:lstStyle/>
                    <a:p>
                      <a:r>
                        <a:rPr sz="1800" b="0">
                          <a:solidFill>
                            <a:srgbClr val="111111"/>
                          </a:solidFill>
                          <a:latin typeface="Arial"/>
                          <a:ea typeface="Arial"/>
                          <a:cs typeface="Arial"/>
                        </a:rPr>
                        <a:t>MLP</a:t>
                      </a:r>
                    </a:p>
                  </a:txBody>
                  <a:tcPr marL="76200" marR="76200" marT="38100" marB="38100">
                    <a:solidFill>
                      <a:srgbClr val="FFFFFF"/>
                    </a:solidFill>
                  </a:tcPr>
                </a:tc>
                <a:tc>
                  <a:txBody>
                    <a:bodyPr/>
                    <a:lstStyle/>
                    <a:p>
                      <a:r>
                        <a:rPr sz="1800" b="0">
                          <a:solidFill>
                            <a:srgbClr val="111111"/>
                          </a:solidFill>
                          <a:latin typeface="Arial"/>
                          <a:ea typeface="Arial"/>
                          <a:cs typeface="Arial"/>
                        </a:rPr>
                        <a:t>Load the chosen checkpoint and label order</a:t>
                      </a:r>
                    </a:p>
                  </a:txBody>
                  <a:tcPr marL="76200" marR="76200" marT="38100" marB="38100">
                    <a:solidFill>
                      <a:srgbClr val="FFFFFF"/>
                    </a:solidFill>
                  </a:tcPr>
                </a:tc>
              </a:tr>
              <a:tr h="457200">
                <a:tc>
                  <a:txBody>
                    <a:bodyPr/>
                    <a:lstStyle/>
                    <a:p>
                      <a:r>
                        <a:rPr sz="1800" b="0">
                          <a:solidFill>
                            <a:srgbClr val="111111"/>
                          </a:solidFill>
                          <a:latin typeface="Arial"/>
                          <a:ea typeface="Arial"/>
                          <a:cs typeface="Arial"/>
                        </a:rPr>
                        <a:t>Prediction</a:t>
                      </a:r>
                    </a:p>
                  </a:txBody>
                  <a:tcPr marL="76200" marR="76200" marT="38100" marB="38100">
                    <a:solidFill>
                      <a:srgbClr val="F4F5F7"/>
                    </a:solidFill>
                  </a:tcPr>
                </a:tc>
                <a:tc>
                  <a:txBody>
                    <a:bodyPr/>
                    <a:lstStyle/>
                    <a:p>
                      <a:r>
                        <a:rPr sz="1800" b="0">
                          <a:solidFill>
                            <a:srgbClr val="111111"/>
                          </a:solidFill>
                          <a:latin typeface="Arial"/>
                          <a:ea typeface="Arial"/>
                          <a:cs typeface="Arial"/>
                        </a:rPr>
                        <a:t>Choose one of five states for every aspect</a:t>
                      </a:r>
                    </a:p>
                  </a:txBody>
                  <a:tcPr marL="76200" marR="76200" marT="38100" marB="38100">
                    <a:solidFill>
                      <a:srgbClr val="F4F5F7"/>
                    </a:solidFill>
                  </a:tcPr>
                </a:tc>
              </a:tr>
              <a:tr h="457200">
                <a:tc>
                  <a:txBody>
                    <a:bodyPr/>
                    <a:lstStyle/>
                    <a:p>
                      <a:r>
                        <a:rPr sz="1800" b="0">
                          <a:solidFill>
                            <a:srgbClr val="111111"/>
                          </a:solidFill>
                          <a:latin typeface="Arial"/>
                          <a:ea typeface="Arial"/>
                          <a:cs typeface="Arial"/>
                        </a:rPr>
                        <a:t>Aggregation</a:t>
                      </a:r>
                    </a:p>
                  </a:txBody>
                  <a:tcPr marL="76200" marR="76200" marT="38100" marB="38100">
                    <a:solidFill>
                      <a:srgbClr val="FFFFFF"/>
                    </a:solidFill>
                  </a:tcPr>
                </a:tc>
                <a:tc>
                  <a:txBody>
                    <a:bodyPr/>
                    <a:lstStyle/>
                    <a:p>
                      <a:r>
                        <a:rPr sz="1800" b="0">
                          <a:solidFill>
                            <a:srgbClr val="111111"/>
                          </a:solidFill>
                          <a:latin typeface="Arial"/>
                          <a:ea typeface="Arial"/>
                          <a:cs typeface="Arial"/>
                        </a:rPr>
                        <a:t>Average only sentences mentioning that aspect</a:t>
                      </a:r>
                    </a:p>
                  </a:txBody>
                  <a:tcPr marL="76200" marR="76200" marT="38100" marB="38100">
                    <a:solidFill>
                      <a:srgbClr val="FFFFFF"/>
                    </a:solidFill>
                  </a:tcPr>
                </a:tc>
              </a:tr>
              <a:tr h="457200">
                <a:tc>
                  <a:txBody>
                    <a:bodyPr/>
                    <a:lstStyle/>
                    <a:p>
                      <a:r>
                        <a:rPr sz="1800" b="0">
                          <a:solidFill>
                            <a:srgbClr val="111111"/>
                          </a:solidFill>
                          <a:latin typeface="Arial"/>
                          <a:ea typeface="Arial"/>
                          <a:cs typeface="Arial"/>
                        </a:rPr>
                        <a:t>Display</a:t>
                      </a:r>
                    </a:p>
                  </a:txBody>
                  <a:tcPr marL="76200" marR="76200" marT="38100" marB="38100">
                    <a:solidFill>
                      <a:srgbClr val="F4F5F7"/>
                    </a:solidFill>
                  </a:tcPr>
                </a:tc>
                <a:tc>
                  <a:txBody>
                    <a:bodyPr/>
                    <a:lstStyle/>
                    <a:p>
                      <a:r>
                        <a:rPr sz="1800" b="0">
                          <a:solidFill>
                            <a:srgbClr val="111111"/>
                          </a:solidFill>
                          <a:latin typeface="Arial"/>
                          <a:ea typeface="Arial"/>
                          <a:cs typeface="Arial"/>
                        </a:rPr>
                        <a:t>Show scores, counts and supporting text</a:t>
                      </a:r>
                    </a:p>
                  </a:txBody>
                  <a:tcPr marL="76200" marR="76200" marT="38100" marB="38100">
                    <a:solidFill>
                      <a:srgbClr val="F4F5F7"/>
                    </a:solidFill>
                  </a:tcPr>
                </a:tc>
              </a:tr>
            </a:tbl>
          </a:graphicData>
        </a:graphic>
      </p:graphicFrame>
      <p:sp>
        <p:nvSpPr>
          <p:cNvPr id="8" name="Project text 5">
            <a:extLst xmlns:a="http://schemas.openxmlformats.org/drawingml/2006/main">
              <a:ext uri="{FF2B5EF4-FFF2-40B4-BE49-F238E27FC236}">
                <a16:creationId xmlns:a16="http://schemas.microsoft.com/office/drawing/2014/main" id="{23BADDE2-9F49-40D0-B399-D7C9609BE90B}"/>
              </a:ext>
            </a:extLst>
          </p:cNvPr>
          <p:cNvSpPr>
            <a:spLocks xmlns:a="http://schemas.openxmlformats.org/drawingml/2006/main" noGrp="1"/>
          </p:cNvSpPr>
          <p:nvPr/>
        </p:nvSpPr>
        <p:spPr>
          <a:xfrm xmlns:a="http://schemas.openxmlformats.org/drawingml/2006/main">
            <a:off x="895350" y="540067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2861FF"/>
                </a:solidFill>
                <a:latin typeface="Arial"/>
                <a:ea typeface="Arial"/>
                <a:cs typeface="Arial"/>
              </a:defRPr>
            </a:pPr>
            <a:r>
              <a:rPr sz="1875" b="1">
                <a:solidFill>
                  <a:srgbClr val="2861FF"/>
                </a:solidFill>
                <a:latin typeface="Arial"/>
                <a:ea typeface="Arial"/>
                <a:cs typeface="Arial"/>
              </a:rPr>
              <a:t>Keep API keys in the backend. Use model.eval() during inference.</a:t>
            </a:r>
          </a:p>
        </p:txBody>
      </p:sp>
    </p:spTree>
    <p:extLst>
      <p:ext uri="{BB962C8B-B14F-4D97-AF65-F5344CB8AC3E}">
        <p14:creationId xmlns:p14="http://schemas.microsoft.com/office/powerpoint/2010/main" val="49144901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DELIVERABLES</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Two-week milestones and final submission</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35</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14" name=""/>
          <p:cNvGraphicFramePr/>
          <p:nvPr/>
        </p:nvGraphicFramePr>
        <p:xfrm>
          <a:off xmlns:a="http://schemas.openxmlformats.org/drawingml/2006/main" x="895350" y="1971675"/>
          <a:ext xmlns:a="http://schemas.openxmlformats.org/drawingml/2006/main" cx="10382250" cy="3076575"/>
        </p:xfrm>
        <a:graphic xmlns:a="http://schemas.openxmlformats.org/drawingml/2006/main">
          <a:graphicData uri="http://schemas.openxmlformats.org/drawingml/2006/table">
            <a:tbl>
              <a:tblPr/>
              <a:tblGrid>
                <a:gridCol w="3762375"/>
                <a:gridCol w="6619875"/>
              </a:tblGrid>
              <a:tr h="512763">
                <a:tc>
                  <a:txBody>
                    <a:bodyPr/>
                    <a:lstStyle/>
                    <a:p>
                      <a:r>
                        <a:rPr sz="1725" b="1">
                          <a:solidFill>
                            <a:srgbClr val="E30613"/>
                          </a:solidFill>
                          <a:latin typeface="Arial"/>
                          <a:ea typeface="Arial"/>
                          <a:cs typeface="Arial"/>
                        </a:rPr>
                        <a:t>Milestone</a:t>
                      </a:r>
                    </a:p>
                  </a:txBody>
                  <a:tcPr marL="76200" marR="76200" marT="38100" marB="38100">
                    <a:solidFill>
                      <a:srgbClr val="FFF0F2"/>
                    </a:solidFill>
                  </a:tcPr>
                </a:tc>
                <a:tc>
                  <a:txBody>
                    <a:bodyPr/>
                    <a:lstStyle/>
                    <a:p>
                      <a:r>
                        <a:rPr sz="1725" b="1">
                          <a:solidFill>
                            <a:srgbClr val="E30613"/>
                          </a:solidFill>
                          <a:latin typeface="Arial"/>
                          <a:ea typeface="Arial"/>
                          <a:cs typeface="Arial"/>
                        </a:rPr>
                        <a:t>Deliverable</a:t>
                      </a:r>
                    </a:p>
                  </a:txBody>
                  <a:tcPr marL="76200" marR="76200" marT="38100" marB="38100">
                    <a:solidFill>
                      <a:srgbClr val="FFF0F2"/>
                    </a:solidFill>
                  </a:tcPr>
                </a:tc>
              </a:tr>
              <a:tr h="512763">
                <a:tc>
                  <a:txBody>
                    <a:bodyPr/>
                    <a:lstStyle/>
                    <a:p>
                      <a:r>
                        <a:rPr sz="1800" b="0">
                          <a:solidFill>
                            <a:srgbClr val="111111"/>
                          </a:solidFill>
                          <a:latin typeface="Arial"/>
                          <a:ea typeface="Arial"/>
                          <a:cs typeface="Arial"/>
                        </a:rPr>
                        <a:t>Week 1: data and annotation</a:t>
                      </a:r>
                    </a:p>
                  </a:txBody>
                  <a:tcPr marL="76200" marR="76200" marT="38100" marB="38100">
                    <a:solidFill>
                      <a:srgbClr val="FFFFFF"/>
                    </a:solidFill>
                  </a:tcPr>
                </a:tc>
                <a:tc>
                  <a:txBody>
                    <a:bodyPr/>
                    <a:lstStyle/>
                    <a:p>
                      <a:r>
                        <a:rPr sz="1800" b="0">
                          <a:solidFill>
                            <a:srgbClr val="111111"/>
                          </a:solidFill>
                          <a:latin typeface="Arial"/>
                          <a:ea typeface="Arial"/>
                          <a:cs typeface="Arial"/>
                        </a:rPr>
                        <a:t>Working annotation tool, agreed rules and reviewed labels</a:t>
                      </a:r>
                    </a:p>
                  </a:txBody>
                  <a:tcPr marL="76200" marR="76200" marT="38100" marB="38100">
                    <a:solidFill>
                      <a:srgbClr val="FFFFFF"/>
                    </a:solidFill>
                  </a:tcPr>
                </a:tc>
              </a:tr>
              <a:tr h="512763">
                <a:tc>
                  <a:txBody>
                    <a:bodyPr/>
                    <a:lstStyle/>
                    <a:p>
                      <a:r>
                        <a:rPr sz="1800" b="0">
                          <a:solidFill>
                            <a:srgbClr val="111111"/>
                          </a:solidFill>
                          <a:latin typeface="Arial"/>
                          <a:ea typeface="Arial"/>
                          <a:cs typeface="Arial"/>
                        </a:rPr>
                        <a:t>Week 1: first pipeline</a:t>
                      </a:r>
                    </a:p>
                  </a:txBody>
                  <a:tcPr marL="76200" marR="76200" marT="38100" marB="38100">
                    <a:solidFill>
                      <a:srgbClr val="F4F5F7"/>
                    </a:solidFill>
                  </a:tcPr>
                </a:tc>
                <a:tc>
                  <a:txBody>
                    <a:bodyPr/>
                    <a:lstStyle/>
                    <a:p>
                      <a:r>
                        <a:rPr sz="1800" b="0">
                          <a:solidFill>
                            <a:srgbClr val="111111"/>
                          </a:solidFill>
                          <a:latin typeface="Arial"/>
                          <a:ea typeface="Arial"/>
                          <a:cs typeface="Arial"/>
                        </a:rPr>
                        <a:t>Small reviewed dataset → MLP → website predictions</a:t>
                      </a:r>
                    </a:p>
                  </a:txBody>
                  <a:tcPr marL="76200" marR="76200" marT="38100" marB="38100">
                    <a:solidFill>
                      <a:srgbClr val="F4F5F7"/>
                    </a:solidFill>
                  </a:tcPr>
                </a:tc>
              </a:tr>
              <a:tr h="512763">
                <a:tc>
                  <a:txBody>
                    <a:bodyPr/>
                    <a:lstStyle/>
                    <a:p>
                      <a:r>
                        <a:rPr sz="1800" b="0">
                          <a:solidFill>
                            <a:srgbClr val="111111"/>
                          </a:solidFill>
                          <a:latin typeface="Arial"/>
                          <a:ea typeface="Arial"/>
                          <a:cs typeface="Arial"/>
                        </a:rPr>
                        <a:t>Week 2: experiments</a:t>
                      </a:r>
                    </a:p>
                  </a:txBody>
                  <a:tcPr marL="76200" marR="76200" marT="38100" marB="38100">
                    <a:solidFill>
                      <a:srgbClr val="FFFFFF"/>
                    </a:solidFill>
                  </a:tcPr>
                </a:tc>
                <a:tc>
                  <a:txBody>
                    <a:bodyPr/>
                    <a:lstStyle/>
                    <a:p>
                      <a:r>
                        <a:rPr sz="1800" b="0">
                          <a:solidFill>
                            <a:srgbClr val="111111"/>
                          </a:solidFill>
                          <a:latin typeface="Arial"/>
                          <a:ea typeface="Arial"/>
                          <a:cs typeface="Arial"/>
                        </a:rPr>
                        <a:t>At least 3 MLP configurations and an error analysis</a:t>
                      </a:r>
                    </a:p>
                  </a:txBody>
                  <a:tcPr marL="76200" marR="76200" marT="38100" marB="38100">
                    <a:solidFill>
                      <a:srgbClr val="FFFFFF"/>
                    </a:solidFill>
                  </a:tcPr>
                </a:tc>
              </a:tr>
              <a:tr h="512763">
                <a:tc>
                  <a:txBody>
                    <a:bodyPr/>
                    <a:lstStyle/>
                    <a:p>
                      <a:r>
                        <a:rPr sz="1800" b="0">
                          <a:solidFill>
                            <a:srgbClr val="111111"/>
                          </a:solidFill>
                          <a:latin typeface="Arial"/>
                          <a:ea typeface="Arial"/>
                          <a:cs typeface="Arial"/>
                        </a:rPr>
                        <a:t>Week 2: deployment</a:t>
                      </a:r>
                    </a:p>
                  </a:txBody>
                  <a:tcPr marL="76200" marR="76200" marT="38100" marB="38100">
                    <a:solidFill>
                      <a:srgbClr val="F4F5F7"/>
                    </a:solidFill>
                  </a:tcPr>
                </a:tc>
                <a:tc>
                  <a:txBody>
                    <a:bodyPr/>
                    <a:lstStyle/>
                    <a:p>
                      <a:r>
                        <a:rPr sz="1800" b="0">
                          <a:solidFill>
                            <a:srgbClr val="111111"/>
                          </a:solidFill>
                          <a:latin typeface="Arial"/>
                          <a:ea typeface="Arial"/>
                          <a:cs typeface="Arial"/>
                        </a:rPr>
                        <a:t>Working login, review analysis and evidence display</a:t>
                      </a:r>
                    </a:p>
                  </a:txBody>
                  <a:tcPr marL="76200" marR="76200" marT="38100" marB="38100">
                    <a:solidFill>
                      <a:srgbClr val="F4F5F7"/>
                    </a:solidFill>
                  </a:tcPr>
                </a:tc>
              </a:tr>
              <a:tr h="512763">
                <a:tc>
                  <a:txBody>
                    <a:bodyPr/>
                    <a:lstStyle/>
                    <a:p>
                      <a:r>
                        <a:rPr sz="1800" b="0">
                          <a:solidFill>
                            <a:srgbClr val="111111"/>
                          </a:solidFill>
                          <a:latin typeface="Arial"/>
                          <a:ea typeface="Arial"/>
                          <a:cs typeface="Arial"/>
                        </a:rPr>
                        <a:t>Final submission</a:t>
                      </a:r>
                    </a:p>
                  </a:txBody>
                  <a:tcPr marL="76200" marR="76200" marT="38100" marB="38100">
                    <a:solidFill>
                      <a:srgbClr val="FFFFFF"/>
                    </a:solidFill>
                  </a:tcPr>
                </a:tc>
                <a:tc>
                  <a:txBody>
                    <a:bodyPr/>
                    <a:lstStyle/>
                    <a:p>
                      <a:r>
                        <a:rPr sz="1800" b="0">
                          <a:solidFill>
                            <a:srgbClr val="111111"/>
                          </a:solidFill>
                          <a:latin typeface="Arial"/>
                          <a:ea typeface="Arial"/>
                          <a:cs typeface="Arial"/>
                        </a:rPr>
                        <a:t>Website URL, test account, code, labels and experiment report</a:t>
                      </a:r>
                    </a:p>
                  </a:txBody>
                  <a:tcPr marL="76200" marR="76200" marT="38100" marB="38100">
                    <a:solidFill>
                      <a:srgbClr val="FFFFFF"/>
                    </a:solidFill>
                  </a:tcPr>
                </a:tc>
              </a:tr>
            </a:tbl>
          </a:graphicData>
        </a:graphic>
      </p:graphicFrame>
      <p:sp>
        <p:nvSpPr>
          <p:cNvPr id="8" name="Project text 5">
            <a:extLst xmlns:a="http://schemas.openxmlformats.org/drawingml/2006/main">
              <a:ext uri="{FF2B5EF4-FFF2-40B4-BE49-F238E27FC236}">
                <a16:creationId xmlns:a16="http://schemas.microsoft.com/office/drawing/2014/main" id="{B17BC5FB-5391-4C00-AE57-D8A09C5DE421}"/>
              </a:ext>
            </a:extLst>
          </p:cNvPr>
          <p:cNvSpPr>
            <a:spLocks xmlns:a="http://schemas.openxmlformats.org/drawingml/2006/main" noGrp="1"/>
          </p:cNvSpPr>
          <p:nvPr/>
        </p:nvSpPr>
        <p:spPr>
          <a:xfrm xmlns:a="http://schemas.openxmlformats.org/drawingml/2006/main">
            <a:off x="895350" y="5353050"/>
            <a:ext cx="1038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861FF"/>
                </a:solidFill>
                <a:latin typeface="Arial"/>
                <a:ea typeface="Arial"/>
                <a:cs typeface="Arial"/>
              </a:defRPr>
            </a:pPr>
            <a:r>
              <a:rPr sz="2100" b="1">
                <a:solidFill>
                  <a:srgbClr val="2861FF"/>
                </a:solidFill>
                <a:latin typeface="Arial"/>
                <a:ea typeface="Arial"/>
                <a:cs typeface="Arial"/>
              </a:rPr>
              <a:t>Each student explains one design choice, one failure and one improvement.</a:t>
            </a:r>
          </a:p>
        </p:txBody>
      </p:sp>
    </p:spTree>
    <p:extLst>
      <p:ext uri="{BB962C8B-B14F-4D97-AF65-F5344CB8AC3E}">
        <p14:creationId xmlns:p14="http://schemas.microsoft.com/office/powerpoint/2010/main" val="491449012"/>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651EB2-02DD-4DC2-B11C-268161373FBA}"/>
              </a:ext>
            </a:extLst>
          </p:cNvPr>
          <p:cNvSpPr>
            <a:spLocks xmlns:a="http://schemas.openxmlformats.org/drawingml/2006/main" noGrp="1"/>
          </p:cNvSpPr>
          <p:nvPr/>
        </p:nvSpPr>
        <p:spPr>
          <a:xfrm xmlns:a="http://schemas.openxmlformats.org/drawingml/2006/main">
            <a:off x="658368" y="438912"/>
            <a:ext cx="10698480" cy="27432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1000" b="1">
                <a:solidFill>
                  <a:srgbClr val="E30613"/>
                </a:solidFill>
                <a:latin typeface="Arial"/>
                <a:ea typeface="Arial"/>
                <a:cs typeface="Arial"/>
              </a:rPr>
              <a:t>FIRST PROJECT CLASS</a:t>
            </a:r>
          </a:p>
        </p:txBody>
      </p:sp>
      <p:sp>
        <p:nvSpPr>
          <p:cNvPr id="3" name="TextBox 2">
            <a:extLst xmlns:a="http://schemas.openxmlformats.org/drawingml/2006/main">
              <a:ext uri="{FF2B5EF4-FFF2-40B4-BE49-F238E27FC236}">
                <a16:creationId xmlns:a16="http://schemas.microsoft.com/office/drawing/2014/main" id="{004E8D98-1E3C-4003-A538-541F7810AA1C}"/>
              </a:ext>
            </a:extLst>
          </p:cNvPr>
          <p:cNvSpPr>
            <a:spLocks xmlns:a="http://schemas.openxmlformats.org/drawingml/2006/main" noGrp="1"/>
          </p:cNvSpPr>
          <p:nvPr/>
        </p:nvSpPr>
        <p:spPr>
          <a:xfrm xmlns:a="http://schemas.openxmlformats.org/drawingml/2006/main">
            <a:off x="621792" y="786384"/>
            <a:ext cx="10789920" cy="65836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noAutofit/>
          </a:bodyPr>
          <a:lstStyle xmlns:a="http://schemas.openxmlformats.org/drawingml/2006/main"/>
          <a:p xmlns:a="http://schemas.openxmlformats.org/drawingml/2006/main">
            <a:pPr algn="l">
              <a:spcBef>
                <a:spcPts val="0"/>
              </a:spcBef>
              <a:spcAft>
                <a:spcPts val="0"/>
              </a:spcAft>
              <a:buNone/>
              <a:defRPr sz="2700" b="1">
                <a:solidFill>
                  <a:srgbClr val="111111"/>
                </a:solidFill>
                <a:latin typeface="Arial"/>
                <a:ea typeface="Arial"/>
                <a:cs typeface="Arial"/>
              </a:defRPr>
            </a:pPr>
            <a:r>
              <a:rPr sz="2700" b="1">
                <a:solidFill>
                  <a:srgbClr val="111111"/>
                </a:solidFill>
                <a:latin typeface="Arial"/>
                <a:ea typeface="Arial"/>
                <a:cs typeface="Arial"/>
              </a:rPr>
              <a:t>Tomorrow’s minimum goal</a:t>
            </a:r>
          </a:p>
        </p:txBody>
      </p:sp>
      <p:sp>
        <p:nvSpPr>
          <p:cNvPr id="4" name="Connector 3">
            <a:extLst xmlns:a="http://schemas.openxmlformats.org/drawingml/2006/main">
              <a:ext uri="{FF2B5EF4-FFF2-40B4-BE49-F238E27FC236}">
                <a16:creationId xmlns:a16="http://schemas.microsoft.com/office/drawing/2014/main" id="{5FA4FECF-3B14-45CB-8C99-29BBAD00D7A6}"/>
              </a:ext>
            </a:extLst>
          </p:cNvPr>
          <p:cNvSpPr>
            <a:spLocks xmlns:a="http://schemas.openxmlformats.org/drawingml/2006/main" noGrp="1"/>
          </p:cNvSpPr>
          <p:nvPr/>
        </p:nvSpPr>
        <p:spPr>
          <a:xfrm xmlns:a="http://schemas.openxmlformats.org/drawingml/2006/main">
            <a:off x="658368" y="1554480"/>
            <a:ext cx="10881360" cy="0"/>
          </a:xfrm>
          <a:prstGeom xmlns:a="http://schemas.openxmlformats.org/drawingml/2006/main" prst="line">
            <a:avLst/>
          </a:prstGeom>
          <a:ln xmlns:a="http://schemas.openxmlformats.org/drawingml/2006/main" w="12700">
            <a:solidFill>
              <a:srgbClr val="E3061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B30EDF2F-F312-48DC-B434-B7CE0CFB4651}"/>
              </a:ext>
            </a:extLst>
          </p:cNvPr>
          <p:cNvSpPr>
            <a:spLocks xmlns:a="http://schemas.openxmlformats.org/drawingml/2006/main" noGrp="1"/>
          </p:cNvSpPr>
          <p:nvPr/>
        </p:nvSpPr>
        <p:spPr>
          <a:xfrm xmlns:a="http://schemas.openxmlformats.org/drawingml/2006/main">
            <a:off x="475488" y="6327648"/>
            <a:ext cx="502920" cy="22860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spcBef>
                <a:spcPts val="0"/>
              </a:spcBef>
              <a:spcAft>
                <a:spcPts val="0"/>
              </a:spcAft>
              <a:buNone/>
            </a:pPr>
            <a:r>
              <a:rPr sz="850" b="1">
                <a:solidFill>
                  <a:srgbClr val="5F6368"/>
                </a:solidFill>
                <a:latin typeface="Arial"/>
                <a:ea typeface="Arial"/>
                <a:cs typeface="Arial"/>
              </a:rPr>
              <a:t>36</a:t>
            </a:r>
          </a:p>
        </p:txBody>
      </p:sp>
      <p:sp>
        <p:nvSpPr>
          <p:cNvPr id="6" name="Connector 5">
            <a:extLst xmlns:a="http://schemas.openxmlformats.org/drawingml/2006/main">
              <a:ext uri="{FF2B5EF4-FFF2-40B4-BE49-F238E27FC236}">
                <a16:creationId xmlns:a16="http://schemas.microsoft.com/office/drawing/2014/main" id="{42345B34-6233-4231-AE74-1C1F2698B6F5}"/>
              </a:ext>
            </a:extLst>
          </p:cNvPr>
          <p:cNvSpPr>
            <a:spLocks xmlns:a="http://schemas.openxmlformats.org/drawingml/2006/main" noGrp="1"/>
          </p:cNvSpPr>
          <p:nvPr/>
        </p:nvSpPr>
        <p:spPr>
          <a:xfrm xmlns:a="http://schemas.openxmlformats.org/drawingml/2006/main">
            <a:off x="987552" y="6455664"/>
            <a:ext cx="8046720" cy="0"/>
          </a:xfrm>
          <a:prstGeom xmlns:a="http://schemas.openxmlformats.org/drawingml/2006/main" prst="line">
            <a:avLst/>
          </a:prstGeom>
          <a:ln xmlns:a="http://schemas.openxmlformats.org/drawingml/2006/main" w="6350">
            <a:solidFill>
              <a:srgbClr val="D9DC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
            <a:extLst xmlns:a="http://schemas.openxmlformats.org/drawingml/2006/main">
              <a:ext uri="{FF2B5EF4-FFF2-40B4-BE49-F238E27FC236}">
                <a16:creationId xmlns:a16="http://schemas.microsoft.com/office/drawing/2014/main" id="{556FB86D-9203-48B4-8A70-48B3B9DD6817}"/>
              </a:ext>
            </a:extLst>
          </p:cNvPr>
          <p:cNvSpPr>
            <a:spLocks xmlns:a="http://schemas.openxmlformats.org/drawingml/2006/main" noGrp="1"/>
          </p:cNvSpPr>
          <p:nvPr/>
        </p:nvSpPr>
        <p:spPr>
          <a:xfrm xmlns:a="http://schemas.openxmlformats.org/drawingml/2006/main">
            <a:off x="895350" y="1990725"/>
            <a:ext cx="3143250" cy="1609725"/>
          </a:xfrm>
          <a:prstGeom xmlns:a="http://schemas.openxmlformats.org/drawingml/2006/main" prst="rect">
            <a:avLst/>
          </a:prstGeom>
          <a:solidFill xmlns:a="http://schemas.openxmlformats.org/drawingml/2006/main">
            <a:srgbClr val="EDF2FF"/>
          </a:solidFill>
          <a:ln xmlns:a="http://schemas.openxmlformats.org/drawingml/2006/main" w="9525">
            <a:solidFill>
              <a:srgbClr val="C8CED6"/>
            </a:solidFill>
          </a:ln>
        </p:spPr>
      </p:sp>
      <p:sp>
        <p:nvSpPr>
          <p:cNvPr id="8" name="Project text 6">
            <a:extLst xmlns:a="http://schemas.openxmlformats.org/drawingml/2006/main">
              <a:ext uri="{FF2B5EF4-FFF2-40B4-BE49-F238E27FC236}">
                <a16:creationId xmlns:a16="http://schemas.microsoft.com/office/drawing/2014/main" id="{0A272F2B-1A2B-4B75-A668-BAE055674940}"/>
              </a:ext>
            </a:extLst>
          </p:cNvPr>
          <p:cNvSpPr>
            <a:spLocks xmlns:a="http://schemas.openxmlformats.org/drawingml/2006/main" noGrp="1"/>
          </p:cNvSpPr>
          <p:nvPr/>
        </p:nvSpPr>
        <p:spPr>
          <a:xfrm xmlns:a="http://schemas.openxmlformats.org/drawingml/2006/main">
            <a:off x="1057275" y="217170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861FF"/>
                </a:solidFill>
                <a:latin typeface="Arial"/>
                <a:ea typeface="Arial"/>
                <a:cs typeface="Arial"/>
              </a:defRPr>
            </a:pPr>
            <a:r>
              <a:rPr sz="1950" b="1">
                <a:solidFill>
                  <a:srgbClr val="2861FF"/>
                </a:solidFill>
                <a:latin typeface="Arial"/>
                <a:ea typeface="Arial"/>
                <a:cs typeface="Arial"/>
              </a:rPr>
              <a:t>Small labeled dataset</a:t>
            </a:r>
          </a:p>
        </p:txBody>
      </p:sp>
      <p:sp>
        <p:nvSpPr>
          <p:cNvPr id="9" name="Project text 7">
            <a:extLst xmlns:a="http://schemas.openxmlformats.org/drawingml/2006/main">
              <a:ext uri="{FF2B5EF4-FFF2-40B4-BE49-F238E27FC236}">
                <a16:creationId xmlns:a16="http://schemas.microsoft.com/office/drawing/2014/main" id="{44A51263-B335-41A9-A5B2-1AA81176A932}"/>
              </a:ext>
            </a:extLst>
          </p:cNvPr>
          <p:cNvSpPr>
            <a:spLocks xmlns:a="http://schemas.openxmlformats.org/drawingml/2006/main" noGrp="1"/>
          </p:cNvSpPr>
          <p:nvPr/>
        </p:nvSpPr>
        <p:spPr>
          <a:xfrm xmlns:a="http://schemas.openxmlformats.org/drawingml/2006/main">
            <a:off x="1057275" y="27432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Review 20–50 sentences.</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Use the agreed 8 aspects.</a:t>
            </a:r>
          </a:p>
        </p:txBody>
      </p:sp>
      <p:sp>
        <p:nvSpPr>
          <p:cNvPr id="10" name="Project text 8">
            <a:extLst xmlns:a="http://schemas.openxmlformats.org/drawingml/2006/main">
              <a:ext uri="{FF2B5EF4-FFF2-40B4-BE49-F238E27FC236}">
                <a16:creationId xmlns:a16="http://schemas.microsoft.com/office/drawing/2014/main" id="{C2420D5E-9D79-43E0-8107-1CD0829C1E11}"/>
              </a:ext>
            </a:extLst>
          </p:cNvPr>
          <p:cNvSpPr>
            <a:spLocks xmlns:a="http://schemas.openxmlformats.org/drawingml/2006/main" noGrp="1"/>
          </p:cNvSpPr>
          <p:nvPr/>
        </p:nvSpPr>
        <p:spPr>
          <a:xfrm xmlns:a="http://schemas.openxmlformats.org/drawingml/2006/main">
            <a:off x="4143375" y="25336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646B73"/>
                </a:solidFill>
                <a:latin typeface="Arial"/>
                <a:ea typeface="Arial"/>
                <a:cs typeface="Arial"/>
              </a:defRPr>
            </a:pPr>
            <a:r>
              <a:rPr sz="2250" b="0">
                <a:solidFill>
                  <a:srgbClr val="646B73"/>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7D041454-77D0-4FBF-844C-85D29AE560FD}"/>
              </a:ext>
            </a:extLst>
          </p:cNvPr>
          <p:cNvSpPr>
            <a:spLocks xmlns:a="http://schemas.openxmlformats.org/drawingml/2006/main" noGrp="1"/>
          </p:cNvSpPr>
          <p:nvPr/>
        </p:nvSpPr>
        <p:spPr>
          <a:xfrm xmlns:a="http://schemas.openxmlformats.org/drawingml/2006/main">
            <a:off x="4467225" y="1990725"/>
            <a:ext cx="3143250" cy="1609725"/>
          </a:xfrm>
          <a:prstGeom xmlns:a="http://schemas.openxmlformats.org/drawingml/2006/main" prst="rect">
            <a:avLst/>
          </a:prstGeom>
          <a:solidFill xmlns:a="http://schemas.openxmlformats.org/drawingml/2006/main">
            <a:srgbClr val="EDF2FF"/>
          </a:solidFill>
          <a:ln xmlns:a="http://schemas.openxmlformats.org/drawingml/2006/main" w="9525">
            <a:solidFill>
              <a:srgbClr val="C8CED6"/>
            </a:solidFill>
          </a:ln>
        </p:spPr>
      </p:sp>
      <p:sp>
        <p:nvSpPr>
          <p:cNvPr id="12" name="Project text 10">
            <a:extLst xmlns:a="http://schemas.openxmlformats.org/drawingml/2006/main">
              <a:ext uri="{FF2B5EF4-FFF2-40B4-BE49-F238E27FC236}">
                <a16:creationId xmlns:a16="http://schemas.microsoft.com/office/drawing/2014/main" id="{637AB5DF-F9FF-4FDE-A4D6-A529679B17C0}"/>
              </a:ext>
            </a:extLst>
          </p:cNvPr>
          <p:cNvSpPr>
            <a:spLocks xmlns:a="http://schemas.openxmlformats.org/drawingml/2006/main" noGrp="1"/>
          </p:cNvSpPr>
          <p:nvPr/>
        </p:nvSpPr>
        <p:spPr>
          <a:xfrm xmlns:a="http://schemas.openxmlformats.org/drawingml/2006/main">
            <a:off x="4629150" y="217170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861FF"/>
                </a:solidFill>
                <a:latin typeface="Arial"/>
                <a:ea typeface="Arial"/>
                <a:cs typeface="Arial"/>
              </a:defRPr>
            </a:pPr>
            <a:r>
              <a:rPr sz="1950" b="1">
                <a:solidFill>
                  <a:srgbClr val="2861FF"/>
                </a:solidFill>
                <a:latin typeface="Arial"/>
                <a:ea typeface="Arial"/>
                <a:cs typeface="Arial"/>
              </a:rPr>
              <a:t>An MLP</a:t>
            </a:r>
          </a:p>
        </p:txBody>
      </p:sp>
      <p:sp>
        <p:nvSpPr>
          <p:cNvPr id="13" name="Project text 11">
            <a:extLst xmlns:a="http://schemas.openxmlformats.org/drawingml/2006/main">
              <a:ext uri="{FF2B5EF4-FFF2-40B4-BE49-F238E27FC236}">
                <a16:creationId xmlns:a16="http://schemas.microsoft.com/office/drawing/2014/main" id="{84E73AB6-C2CD-4A14-8C61-0328E34873BE}"/>
              </a:ext>
            </a:extLst>
          </p:cNvPr>
          <p:cNvSpPr>
            <a:spLocks xmlns:a="http://schemas.openxmlformats.org/drawingml/2006/main" noGrp="1"/>
          </p:cNvSpPr>
          <p:nvPr/>
        </p:nvSpPr>
        <p:spPr>
          <a:xfrm xmlns:a="http://schemas.openxmlformats.org/drawingml/2006/main">
            <a:off x="4629150" y="27432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Load saved embeddings.</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Train one small model.</a:t>
            </a:r>
          </a:p>
        </p:txBody>
      </p:sp>
      <p:sp>
        <p:nvSpPr>
          <p:cNvPr id="14" name="Project text 12">
            <a:extLst xmlns:a="http://schemas.openxmlformats.org/drawingml/2006/main">
              <a:ext uri="{FF2B5EF4-FFF2-40B4-BE49-F238E27FC236}">
                <a16:creationId xmlns:a16="http://schemas.microsoft.com/office/drawing/2014/main" id="{05BB7D07-9D73-4991-9515-ABAD9CE91A41}"/>
              </a:ext>
            </a:extLst>
          </p:cNvPr>
          <p:cNvSpPr>
            <a:spLocks xmlns:a="http://schemas.openxmlformats.org/drawingml/2006/main" noGrp="1"/>
          </p:cNvSpPr>
          <p:nvPr/>
        </p:nvSpPr>
        <p:spPr>
          <a:xfrm xmlns:a="http://schemas.openxmlformats.org/drawingml/2006/main">
            <a:off x="7715250" y="25336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646B73"/>
                </a:solidFill>
                <a:latin typeface="Arial"/>
                <a:ea typeface="Arial"/>
                <a:cs typeface="Arial"/>
              </a:defRPr>
            </a:pPr>
            <a:r>
              <a:rPr sz="2250" b="0">
                <a:solidFill>
                  <a:srgbClr val="646B73"/>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0E3F3F53-B815-48FA-8F3D-9939F723D64D}"/>
              </a:ext>
            </a:extLst>
          </p:cNvPr>
          <p:cNvSpPr>
            <a:spLocks xmlns:a="http://schemas.openxmlformats.org/drawingml/2006/main" noGrp="1"/>
          </p:cNvSpPr>
          <p:nvPr/>
        </p:nvSpPr>
        <p:spPr>
          <a:xfrm xmlns:a="http://schemas.openxmlformats.org/drawingml/2006/main">
            <a:off x="8039100" y="1990725"/>
            <a:ext cx="3143250" cy="1609725"/>
          </a:xfrm>
          <a:prstGeom xmlns:a="http://schemas.openxmlformats.org/drawingml/2006/main" prst="rect">
            <a:avLst/>
          </a:prstGeom>
          <a:solidFill xmlns:a="http://schemas.openxmlformats.org/drawingml/2006/main">
            <a:srgbClr val="FFF0F2"/>
          </a:solidFill>
          <a:ln xmlns:a="http://schemas.openxmlformats.org/drawingml/2006/main" w="9525">
            <a:solidFill>
              <a:srgbClr val="C8CED6"/>
            </a:solidFill>
          </a:ln>
        </p:spPr>
      </p:sp>
      <p:sp>
        <p:nvSpPr>
          <p:cNvPr id="16" name="Project text 14">
            <a:extLst xmlns:a="http://schemas.openxmlformats.org/drawingml/2006/main">
              <a:ext uri="{FF2B5EF4-FFF2-40B4-BE49-F238E27FC236}">
                <a16:creationId xmlns:a16="http://schemas.microsoft.com/office/drawing/2014/main" id="{CAF4CF5C-9A95-449A-B74D-B336B4CC8414}"/>
              </a:ext>
            </a:extLst>
          </p:cNvPr>
          <p:cNvSpPr>
            <a:spLocks xmlns:a="http://schemas.openxmlformats.org/drawingml/2006/main" noGrp="1"/>
          </p:cNvSpPr>
          <p:nvPr/>
        </p:nvSpPr>
        <p:spPr>
          <a:xfrm xmlns:a="http://schemas.openxmlformats.org/drawingml/2006/main">
            <a:off x="8201025" y="217170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E30613"/>
                </a:solidFill>
                <a:latin typeface="Arial"/>
                <a:ea typeface="Arial"/>
                <a:cs typeface="Arial"/>
              </a:defRPr>
            </a:pPr>
            <a:r>
              <a:rPr sz="1950" b="1">
                <a:solidFill>
                  <a:srgbClr val="E30613"/>
                </a:solidFill>
                <a:latin typeface="Arial"/>
                <a:ea typeface="Arial"/>
                <a:cs typeface="Arial"/>
              </a:rPr>
              <a:t>Website predictions</a:t>
            </a:r>
          </a:p>
        </p:txBody>
      </p:sp>
      <p:sp>
        <p:nvSpPr>
          <p:cNvPr id="17" name="Project text 15">
            <a:extLst xmlns:a="http://schemas.openxmlformats.org/drawingml/2006/main">
              <a:ext uri="{FF2B5EF4-FFF2-40B4-BE49-F238E27FC236}">
                <a16:creationId xmlns:a16="http://schemas.microsoft.com/office/drawing/2014/main" id="{648DA599-E9ED-4781-AD4F-0C0BC3BF19DD}"/>
              </a:ext>
            </a:extLst>
          </p:cNvPr>
          <p:cNvSpPr>
            <a:spLocks xmlns:a="http://schemas.openxmlformats.org/drawingml/2006/main" noGrp="1"/>
          </p:cNvSpPr>
          <p:nvPr/>
        </p:nvSpPr>
        <p:spPr>
          <a:xfrm xmlns:a="http://schemas.openxmlformats.org/drawingml/2006/main">
            <a:off x="8201025" y="27432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Paste a new sentence.</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Show your MLP’s outputs.</a:t>
            </a:r>
          </a:p>
        </p:txBody>
      </p:sp>
      <p:graphicFrame>
        <p:nvGraphicFramePr>
          <p:cNvPr id="36" name=""/>
          <p:cNvGraphicFramePr/>
          <p:nvPr/>
        </p:nvGraphicFramePr>
        <p:xfrm>
          <a:off xmlns:a="http://schemas.openxmlformats.org/drawingml/2006/main" x="895350" y="3810000"/>
          <a:ext xmlns:a="http://schemas.openxmlformats.org/drawingml/2006/main" cx="10382250" cy="1714500"/>
        </p:xfrm>
        <a:graphic xmlns:a="http://schemas.openxmlformats.org/drawingml/2006/main">
          <a:graphicData uri="http://schemas.openxmlformats.org/drawingml/2006/table">
            <a:tbl>
              <a:tblPr/>
              <a:tblGrid>
                <a:gridCol w="2190750"/>
                <a:gridCol w="8191500"/>
              </a:tblGrid>
              <a:tr h="285750">
                <a:tc>
                  <a:txBody>
                    <a:bodyPr/>
                    <a:lstStyle/>
                    <a:p>
                      <a:r>
                        <a:rPr sz="1350" b="1">
                          <a:solidFill>
                            <a:srgbClr val="E30613"/>
                          </a:solidFill>
                          <a:latin typeface="Arial"/>
                          <a:ea typeface="Arial"/>
                          <a:cs typeface="Arial"/>
                        </a:rPr>
                        <a:t>Time</a:t>
                      </a:r>
                    </a:p>
                  </a:txBody>
                  <a:tcPr marL="76200" marR="76200" marT="38100" marB="38100">
                    <a:solidFill>
                      <a:srgbClr val="FFF0F2"/>
                    </a:solidFill>
                  </a:tcPr>
                </a:tc>
                <a:tc>
                  <a:txBody>
                    <a:bodyPr/>
                    <a:lstStyle/>
                    <a:p>
                      <a:r>
                        <a:rPr sz="1350" b="1">
                          <a:solidFill>
                            <a:srgbClr val="E30613"/>
                          </a:solidFill>
                          <a:latin typeface="Arial"/>
                          <a:ea typeface="Arial"/>
                          <a:cs typeface="Arial"/>
                        </a:rPr>
                        <a:t>Suggested focus</a:t>
                      </a:r>
                    </a:p>
                  </a:txBody>
                  <a:tcPr marL="76200" marR="76200" marT="38100" marB="38100">
                    <a:solidFill>
                      <a:srgbClr val="FFF0F2"/>
                    </a:solidFill>
                  </a:tcPr>
                </a:tc>
              </a:tr>
              <a:tr h="285750">
                <a:tc>
                  <a:txBody>
                    <a:bodyPr/>
                    <a:lstStyle/>
                    <a:p>
                      <a:r>
                        <a:rPr sz="1425" b="0">
                          <a:solidFill>
                            <a:srgbClr val="111111"/>
                          </a:solidFill>
                          <a:latin typeface="Arial"/>
                          <a:ea typeface="Arial"/>
                          <a:cs typeface="Arial"/>
                        </a:rPr>
                        <a:t>0–15 min</a:t>
                      </a:r>
                    </a:p>
                  </a:txBody>
                  <a:tcPr marL="76200" marR="76200" marT="38100" marB="38100">
                    <a:solidFill>
                      <a:srgbClr val="FFFFFF"/>
                    </a:solidFill>
                  </a:tcPr>
                </a:tc>
                <a:tc>
                  <a:txBody>
                    <a:bodyPr/>
                    <a:lstStyle/>
                    <a:p>
                      <a:r>
                        <a:rPr sz="1425" b="0">
                          <a:solidFill>
                            <a:srgbClr val="111111"/>
                          </a:solidFill>
                          <a:latin typeface="Arial"/>
                          <a:ea typeface="Arial"/>
                          <a:cs typeface="Arial"/>
                        </a:rPr>
                        <a:t>Inspect examples and agree on labels</a:t>
                      </a:r>
                    </a:p>
                  </a:txBody>
                  <a:tcPr marL="76200" marR="76200" marT="38100" marB="38100">
                    <a:solidFill>
                      <a:srgbClr val="FFFFFF"/>
                    </a:solidFill>
                  </a:tcPr>
                </a:tc>
              </a:tr>
              <a:tr h="285750">
                <a:tc>
                  <a:txBody>
                    <a:bodyPr/>
                    <a:lstStyle/>
                    <a:p>
                      <a:r>
                        <a:rPr sz="1425" b="0">
                          <a:solidFill>
                            <a:srgbClr val="111111"/>
                          </a:solidFill>
                          <a:latin typeface="Arial"/>
                          <a:ea typeface="Arial"/>
                          <a:cs typeface="Arial"/>
                        </a:rPr>
                        <a:t>15–35 min</a:t>
                      </a:r>
                    </a:p>
                  </a:txBody>
                  <a:tcPr marL="76200" marR="76200" marT="38100" marB="38100">
                    <a:solidFill>
                      <a:srgbClr val="F4F5F7"/>
                    </a:solidFill>
                  </a:tcPr>
                </a:tc>
                <a:tc>
                  <a:txBody>
                    <a:bodyPr/>
                    <a:lstStyle/>
                    <a:p>
                      <a:r>
                        <a:rPr sz="1425" b="0">
                          <a:solidFill>
                            <a:srgbClr val="111111"/>
                          </a:solidFill>
                          <a:latin typeface="Arial"/>
                          <a:ea typeface="Arial"/>
                          <a:cs typeface="Arial"/>
                        </a:rPr>
                        <a:t>Label a small batch and export it</a:t>
                      </a:r>
                    </a:p>
                  </a:txBody>
                  <a:tcPr marL="76200" marR="76200" marT="38100" marB="38100">
                    <a:solidFill>
                      <a:srgbClr val="F4F5F7"/>
                    </a:solidFill>
                  </a:tcPr>
                </a:tc>
              </a:tr>
              <a:tr h="285750">
                <a:tc>
                  <a:txBody>
                    <a:bodyPr/>
                    <a:lstStyle/>
                    <a:p>
                      <a:r>
                        <a:rPr sz="1425" b="0">
                          <a:solidFill>
                            <a:srgbClr val="111111"/>
                          </a:solidFill>
                          <a:latin typeface="Arial"/>
                          <a:ea typeface="Arial"/>
                          <a:cs typeface="Arial"/>
                        </a:rPr>
                        <a:t>35–60 min</a:t>
                      </a:r>
                    </a:p>
                  </a:txBody>
                  <a:tcPr marL="76200" marR="76200" marT="38100" marB="38100">
                    <a:solidFill>
                      <a:srgbClr val="FFFFFF"/>
                    </a:solidFill>
                  </a:tcPr>
                </a:tc>
                <a:tc>
                  <a:txBody>
                    <a:bodyPr/>
                    <a:lstStyle/>
                    <a:p>
                      <a:r>
                        <a:rPr sz="1425" b="0">
                          <a:solidFill>
                            <a:srgbClr val="111111"/>
                          </a:solidFill>
                          <a:latin typeface="Arial"/>
                          <a:ea typeface="Arial"/>
                          <a:cs typeface="Arial"/>
                        </a:rPr>
                        <a:t>Train an MLP using the provided embeddings</a:t>
                      </a:r>
                    </a:p>
                  </a:txBody>
                  <a:tcPr marL="76200" marR="76200" marT="38100" marB="38100">
                    <a:solidFill>
                      <a:srgbClr val="FFFFFF"/>
                    </a:solidFill>
                  </a:tcPr>
                </a:tc>
              </a:tr>
              <a:tr h="285750">
                <a:tc>
                  <a:txBody>
                    <a:bodyPr/>
                    <a:lstStyle/>
                    <a:p>
                      <a:r>
                        <a:rPr sz="1425" b="0">
                          <a:solidFill>
                            <a:srgbClr val="111111"/>
                          </a:solidFill>
                          <a:latin typeface="Arial"/>
                          <a:ea typeface="Arial"/>
                          <a:cs typeface="Arial"/>
                        </a:rPr>
                        <a:t>60–85 min</a:t>
                      </a:r>
                    </a:p>
                  </a:txBody>
                  <a:tcPr marL="76200" marR="76200" marT="38100" marB="38100">
                    <a:solidFill>
                      <a:srgbClr val="F4F5F7"/>
                    </a:solidFill>
                  </a:tcPr>
                </a:tc>
                <a:tc>
                  <a:txBody>
                    <a:bodyPr/>
                    <a:lstStyle/>
                    <a:p>
                      <a:r>
                        <a:rPr sz="1425" b="0">
                          <a:solidFill>
                            <a:srgbClr val="111111"/>
                          </a:solidFill>
                          <a:latin typeface="Arial"/>
                          <a:ea typeface="Arial"/>
                          <a:cs typeface="Arial"/>
                        </a:rPr>
                        <a:t>Connect the saved model to a simple prediction page</a:t>
                      </a:r>
                    </a:p>
                  </a:txBody>
                  <a:tcPr marL="76200" marR="76200" marT="38100" marB="38100">
                    <a:solidFill>
                      <a:srgbClr val="F4F5F7"/>
                    </a:solidFill>
                  </a:tcPr>
                </a:tc>
              </a:tr>
              <a:tr h="285750">
                <a:tc>
                  <a:txBody>
                    <a:bodyPr/>
                    <a:lstStyle/>
                    <a:p>
                      <a:r>
                        <a:rPr sz="1425" b="0">
                          <a:solidFill>
                            <a:srgbClr val="111111"/>
                          </a:solidFill>
                          <a:latin typeface="Arial"/>
                          <a:ea typeface="Arial"/>
                          <a:cs typeface="Arial"/>
                        </a:rPr>
                        <a:t>85–90 min</a:t>
                      </a:r>
                    </a:p>
                  </a:txBody>
                  <a:tcPr marL="76200" marR="76200" marT="38100" marB="38100">
                    <a:solidFill>
                      <a:srgbClr val="FFFFFF"/>
                    </a:solidFill>
                  </a:tcPr>
                </a:tc>
                <a:tc>
                  <a:txBody>
                    <a:bodyPr/>
                    <a:lstStyle/>
                    <a:p>
                      <a:r>
                        <a:rPr sz="1425" b="0">
                          <a:solidFill>
                            <a:srgbClr val="111111"/>
                          </a:solidFill>
                          <a:latin typeface="Arial"/>
                          <a:ea typeface="Arial"/>
                          <a:cs typeface="Arial"/>
                        </a:rPr>
                        <a:t>Paste new text and demonstrate the complete path</a:t>
                      </a:r>
                    </a:p>
                  </a:txBody>
                  <a:tcPr marL="76200" marR="76200" marT="38100" marB="38100">
                    <a:solidFill>
                      <a:srgbClr val="FFFFFF"/>
                    </a:solidFill>
                  </a:tcPr>
                </a:tc>
              </a:tr>
            </a:tbl>
          </a:graphicData>
        </a:graphic>
      </p:graphicFrame>
      <p:sp>
        <p:nvSpPr>
          <p:cNvPr id="19" name="Project text 16">
            <a:extLst xmlns:a="http://schemas.openxmlformats.org/drawingml/2006/main">
              <a:ext uri="{FF2B5EF4-FFF2-40B4-BE49-F238E27FC236}">
                <a16:creationId xmlns:a16="http://schemas.microsoft.com/office/drawing/2014/main" id="{8D6B293E-A0A1-480E-9AAF-6160B090A775}"/>
              </a:ext>
            </a:extLst>
          </p:cNvPr>
          <p:cNvSpPr>
            <a:spLocks xmlns:a="http://schemas.openxmlformats.org/drawingml/2006/main" noGrp="1"/>
          </p:cNvSpPr>
          <p:nvPr/>
        </p:nvSpPr>
        <p:spPr>
          <a:xfrm xmlns:a="http://schemas.openxmlformats.org/drawingml/2006/main">
            <a:off x="895350" y="57912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E30613"/>
                </a:solidFill>
                <a:latin typeface="Arial"/>
                <a:ea typeface="Arial"/>
                <a:cs typeface="Arial"/>
              </a:defRPr>
            </a:pPr>
            <a:r>
              <a:rPr sz="1650" b="1">
                <a:solidFill>
                  <a:srgbClr val="E30613"/>
                </a:solidFill>
                <a:latin typeface="Arial"/>
                <a:ea typeface="Arial"/>
                <a:cs typeface="Arial"/>
              </a:rPr>
              <a:t>First make the complete pipeline work. Expand labels and evaluate it over two weeks.</a:t>
            </a:r>
          </a:p>
        </p:txBody>
      </p:sp>
    </p:spTree>
    <p:extLst>
      <p:ext uri="{BB962C8B-B14F-4D97-AF65-F5344CB8AC3E}">
        <p14:creationId xmlns:p14="http://schemas.microsoft.com/office/powerpoint/2010/main" val="491449012"/>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2026-09-11T00:22:08.4490000Z</dcterms:created>
  <dcterms:modified xsi:type="dcterms:W3CDTF">2026-09-11T00:22:08.4490000Z</dcterms:modified>
</coreProperties>
</file>